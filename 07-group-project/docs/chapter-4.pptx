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</p:sldMasterIdLst>
  <p:notesMasterIdLst>
    <p:notesMasterId r:id="rId121"/>
  </p:notesMasterIdLst>
  <p:handoutMasterIdLst>
    <p:handoutMasterId r:id="rId122"/>
  </p:handoutMasterIdLst>
  <p:sldIdLst>
    <p:sldId id="410" r:id="rId2"/>
    <p:sldId id="271" r:id="rId3"/>
    <p:sldId id="273" r:id="rId4"/>
    <p:sldId id="274" r:id="rId5"/>
    <p:sldId id="282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4" r:id="rId26"/>
    <p:sldId id="305" r:id="rId27"/>
    <p:sldId id="306" r:id="rId28"/>
    <p:sldId id="307" r:id="rId29"/>
    <p:sldId id="308" r:id="rId30"/>
    <p:sldId id="303" r:id="rId31"/>
    <p:sldId id="309" r:id="rId32"/>
    <p:sldId id="310" r:id="rId33"/>
    <p:sldId id="311" r:id="rId34"/>
    <p:sldId id="312" r:id="rId35"/>
    <p:sldId id="411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4" r:id="rId65"/>
    <p:sldId id="341" r:id="rId66"/>
    <p:sldId id="342" r:id="rId67"/>
    <p:sldId id="343" r:id="rId68"/>
    <p:sldId id="412" r:id="rId69"/>
    <p:sldId id="413" r:id="rId70"/>
    <p:sldId id="414" r:id="rId71"/>
    <p:sldId id="428" r:id="rId72"/>
    <p:sldId id="415" r:id="rId73"/>
    <p:sldId id="416" r:id="rId74"/>
    <p:sldId id="417" r:id="rId75"/>
    <p:sldId id="418" r:id="rId76"/>
    <p:sldId id="419" r:id="rId77"/>
    <p:sldId id="420" r:id="rId78"/>
    <p:sldId id="421" r:id="rId79"/>
    <p:sldId id="422" r:id="rId80"/>
    <p:sldId id="423" r:id="rId81"/>
    <p:sldId id="424" r:id="rId82"/>
    <p:sldId id="425" r:id="rId83"/>
    <p:sldId id="426" r:id="rId84"/>
    <p:sldId id="427" r:id="rId85"/>
    <p:sldId id="360" r:id="rId86"/>
    <p:sldId id="361" r:id="rId87"/>
    <p:sldId id="364" r:id="rId88"/>
    <p:sldId id="365" r:id="rId89"/>
    <p:sldId id="366" r:id="rId90"/>
    <p:sldId id="367" r:id="rId91"/>
    <p:sldId id="368" r:id="rId92"/>
    <p:sldId id="369" r:id="rId93"/>
    <p:sldId id="370" r:id="rId94"/>
    <p:sldId id="384" r:id="rId95"/>
    <p:sldId id="385" r:id="rId96"/>
    <p:sldId id="386" r:id="rId97"/>
    <p:sldId id="387" r:id="rId98"/>
    <p:sldId id="389" r:id="rId99"/>
    <p:sldId id="390" r:id="rId100"/>
    <p:sldId id="391" r:id="rId101"/>
    <p:sldId id="392" r:id="rId102"/>
    <p:sldId id="393" r:id="rId103"/>
    <p:sldId id="394" r:id="rId104"/>
    <p:sldId id="395" r:id="rId105"/>
    <p:sldId id="396" r:id="rId106"/>
    <p:sldId id="397" r:id="rId107"/>
    <p:sldId id="398" r:id="rId108"/>
    <p:sldId id="399" r:id="rId109"/>
    <p:sldId id="402" r:id="rId110"/>
    <p:sldId id="403" r:id="rId111"/>
    <p:sldId id="404" r:id="rId112"/>
    <p:sldId id="429" r:id="rId113"/>
    <p:sldId id="430" r:id="rId114"/>
    <p:sldId id="431" r:id="rId115"/>
    <p:sldId id="432" r:id="rId116"/>
    <p:sldId id="433" r:id="rId117"/>
    <p:sldId id="434" r:id="rId118"/>
    <p:sldId id="435" r:id="rId119"/>
    <p:sldId id="436" r:id="rId120"/>
  </p:sldIdLst>
  <p:sldSz cx="9144000" cy="6858000" type="screen4x3"/>
  <p:notesSz cx="7099300" cy="10234613"/>
  <p:defaultTextStyle>
    <a:defPPr>
      <a:defRPr lang="en-AU"/>
    </a:defPPr>
    <a:lvl1pPr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7B38"/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93" autoAdjust="0"/>
  </p:normalViewPr>
  <p:slideViewPr>
    <p:cSldViewPr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56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fld id="{2DF278F6-0A5F-1B44-A131-99F6F28C49FB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fld id="{A8CEC16B-5ADE-7443-BFA1-6045207EE48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994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fld id="{A093E8C1-EE69-B042-978B-9E6730783F8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fld id="{EB0130AB-A7C7-8348-BB68-00443AE4EDD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97111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E46D0D3-4AF3-3E4D-9689-7A53815ED985}" type="datetime4">
              <a:rPr lang="en-US">
                <a:solidFill>
                  <a:prstClr val="black"/>
                </a:solidFill>
              </a:rPr>
              <a:pPr>
                <a:defRPr/>
              </a:pPr>
              <a:t>January 25, 2023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Chapter 1 — Computer Abstractions and Technology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A3462A-4BBF-5540-BCA8-C5ED5337C5C7}" type="slidenum">
              <a:rPr lang="en-US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AU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E470C8D1-4F18-E947-8104-EC8CCDF4AC25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8EB0FF-7116-7647-B2EC-EBA456F6EE73}" type="slidenum">
              <a:rPr lang="en-AU"/>
              <a:pPr>
                <a:defRPr/>
              </a:pPr>
              <a:t>2</a:t>
            </a:fld>
            <a:endParaRPr lang="en-AU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685337DD-122B-D340-B45D-7679F441931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681C80-E709-4F46-83EC-5BCC8A0ED9B2}" type="slidenum">
              <a:rPr lang="en-AU"/>
              <a:pPr>
                <a:defRPr/>
              </a:pPr>
              <a:t>3</a:t>
            </a:fld>
            <a:endParaRPr lang="en-AU"/>
          </a:p>
        </p:txBody>
      </p:sp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1C4C16B-6460-E34B-B8DE-7E12D13FEB4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F64FC8-F21C-0F4F-B214-CE0D0778FB43}" type="slidenum">
              <a:rPr lang="en-AU"/>
              <a:pPr>
                <a:defRPr/>
              </a:pPr>
              <a:t>4</a:t>
            </a:fld>
            <a:endParaRPr lang="en-AU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0AD532B-5942-964C-BD40-E063B2F8BB02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308C455-A3B4-3148-959A-1702C3F71EB4}" type="slidenum">
              <a:rPr lang="en-AU"/>
              <a:pPr>
                <a:defRPr/>
              </a:pPr>
              <a:t>5</a:t>
            </a:fld>
            <a:endParaRPr lang="en-AU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C3F4D4D-3CCA-9640-9CDB-F56827C51725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CF7FE9-CBE5-9B4E-B165-CDD1F98397C0}" type="slidenum">
              <a:rPr lang="en-AU"/>
              <a:pPr>
                <a:defRPr/>
              </a:pPr>
              <a:t>6</a:t>
            </a:fld>
            <a:endParaRPr lang="en-AU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021D990-BDE8-B54E-9446-5D5729C7DF17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355F85-8B76-9249-BE45-8C5A9C9727DB}" type="slidenum">
              <a:rPr lang="en-AU"/>
              <a:pPr>
                <a:defRPr/>
              </a:pPr>
              <a:t>7</a:t>
            </a:fld>
            <a:endParaRPr lang="en-AU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6874F88-0266-3A4D-B98C-16C1C9EB518D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0AF5D3C-4A1A-FF44-A508-A4871B861D54}" type="slidenum">
              <a:rPr lang="en-AU"/>
              <a:pPr>
                <a:defRPr/>
              </a:pPr>
              <a:t>8</a:t>
            </a:fld>
            <a:endParaRPr lang="en-AU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B823050-BD2C-AF45-914D-A9FAC652044B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760BFA-5132-6F47-9CDD-682C0A1FAD57}" type="slidenum">
              <a:rPr lang="en-AU"/>
              <a:pPr>
                <a:defRPr/>
              </a:pPr>
              <a:t>9</a:t>
            </a:fld>
            <a:endParaRPr lang="en-AU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21EEF31-0C16-014C-AAD2-5DC909C9F20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D30BDF-F944-2E45-9CBD-889DBA7CAE33}" type="slidenum">
              <a:rPr lang="en-AU"/>
              <a:pPr>
                <a:defRPr/>
              </a:pPr>
              <a:t>10</a:t>
            </a:fld>
            <a:endParaRPr lang="en-AU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D438EE6-15B7-5D41-9FC3-C3365150EB27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B209E5-93A1-6147-B12D-549A964F217E}" type="slidenum">
              <a:rPr lang="en-AU"/>
              <a:pPr>
                <a:defRPr/>
              </a:pPr>
              <a:t>11</a:t>
            </a:fld>
            <a:endParaRPr lang="en-AU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83BB3BD7-8E03-7C43-8C3F-563C72867B03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1E21739-4134-0041-8AEE-A50F6B57B0A0}" type="slidenum">
              <a:rPr lang="en-AU"/>
              <a:pPr>
                <a:defRPr/>
              </a:pPr>
              <a:t>12</a:t>
            </a:fld>
            <a:endParaRPr lang="en-AU"/>
          </a:p>
        </p:txBody>
      </p:sp>
      <p:sp>
        <p:nvSpPr>
          <p:cNvPr id="280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9ADA9E8-85F6-8F41-8DF7-89A405AE086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323A11-0E0D-A54D-8A3A-CF549FD0CECC}" type="slidenum">
              <a:rPr lang="en-AU"/>
              <a:pPr>
                <a:defRPr/>
              </a:pPr>
              <a:t>13</a:t>
            </a:fld>
            <a:endParaRPr lang="en-AU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49FDCA7-8FAA-8C4B-AFA5-49C8BE01DA23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F73131-BA91-3E41-9AE5-F8FE656BC66D}" type="slidenum">
              <a:rPr lang="en-AU"/>
              <a:pPr>
                <a:defRPr/>
              </a:pPr>
              <a:t>14</a:t>
            </a:fld>
            <a:endParaRPr lang="en-AU"/>
          </a:p>
        </p:txBody>
      </p:sp>
      <p:sp>
        <p:nvSpPr>
          <p:cNvPr id="28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F6DF167-4AB9-0647-9EF8-661395526AA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8A7237-8133-5D4B-AF8C-B5E4AF03F754}" type="slidenum">
              <a:rPr lang="en-AU"/>
              <a:pPr>
                <a:defRPr/>
              </a:pPr>
              <a:t>15</a:t>
            </a:fld>
            <a:endParaRPr lang="en-AU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12CB239-8188-5042-992A-35CC572E9BF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2B8EAF-6FE7-214C-B5CF-0E9EB2B0A33F}" type="slidenum">
              <a:rPr lang="en-AU"/>
              <a:pPr>
                <a:defRPr/>
              </a:pPr>
              <a:t>16</a:t>
            </a:fld>
            <a:endParaRPr lang="en-AU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A20058C-361A-F84E-8D59-F07C94ABD8B5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DB22DE-37B6-8847-9BCA-E46905AA0B5A}" type="slidenum">
              <a:rPr lang="en-AU"/>
              <a:pPr>
                <a:defRPr/>
              </a:pPr>
              <a:t>17</a:t>
            </a:fld>
            <a:endParaRPr lang="en-AU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E624516F-E159-EB4F-AE19-2C2EA1365CD1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86094F-5D9C-C54F-B742-C9556E174C95}" type="slidenum">
              <a:rPr lang="en-AU"/>
              <a:pPr>
                <a:defRPr/>
              </a:pPr>
              <a:t>18</a:t>
            </a:fld>
            <a:endParaRPr lang="en-AU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26B8891-C083-184F-A80B-49023643A65A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424F85-D8A3-2F42-834E-7B2CCEE37068}" type="slidenum">
              <a:rPr lang="en-AU"/>
              <a:pPr>
                <a:defRPr/>
              </a:pPr>
              <a:t>19</a:t>
            </a:fld>
            <a:endParaRPr lang="en-AU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D9BA2397-67D2-0747-97D9-28D0959D43F1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489866-801A-264A-8411-BB0C5F6DF8A4}" type="slidenum">
              <a:rPr lang="en-AU"/>
              <a:pPr>
                <a:defRPr/>
              </a:pPr>
              <a:t>20</a:t>
            </a:fld>
            <a:endParaRPr lang="en-AU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4C25DA0-7E7B-9446-A5C3-067D91850A72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8C4D00-51F0-904E-A768-CF54A1E50986}" type="slidenum">
              <a:rPr lang="en-AU"/>
              <a:pPr>
                <a:defRPr/>
              </a:pPr>
              <a:t>21</a:t>
            </a:fld>
            <a:endParaRPr lang="en-AU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34CE369-1550-AF49-894F-C2D025677EA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7AD9CC-FE31-9B42-A1F1-0EB7384D4700}" type="slidenum">
              <a:rPr lang="en-AU"/>
              <a:pPr>
                <a:defRPr/>
              </a:pPr>
              <a:t>22</a:t>
            </a:fld>
            <a:endParaRPr lang="en-AU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688790E3-F0DC-4D45-BA95-C44233BCF01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256214-9A42-1846-B9B1-ABB26D8CB7CA}" type="slidenum">
              <a:rPr lang="en-AU"/>
              <a:pPr>
                <a:defRPr/>
              </a:pPr>
              <a:t>23</a:t>
            </a:fld>
            <a:endParaRPr lang="en-AU"/>
          </a:p>
        </p:txBody>
      </p:sp>
      <p:sp>
        <p:nvSpPr>
          <p:cNvPr id="30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A71D0C93-DC29-FD49-86FA-502F284EB53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A8C27F-AECC-3440-9947-5BCB4E2BF63B}" type="slidenum">
              <a:rPr lang="en-AU"/>
              <a:pPr>
                <a:defRPr/>
              </a:pPr>
              <a:t>24</a:t>
            </a:fld>
            <a:endParaRPr lang="en-AU"/>
          </a:p>
        </p:txBody>
      </p:sp>
      <p:sp>
        <p:nvSpPr>
          <p:cNvPr id="305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1917237F-91D2-4449-84BF-D1E3D7F62500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C927CB-1579-5342-AF67-2CD9875FFDCA}" type="slidenum">
              <a:rPr lang="en-AU"/>
              <a:pPr>
                <a:defRPr/>
              </a:pPr>
              <a:t>25</a:t>
            </a:fld>
            <a:endParaRPr lang="en-AU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1567C4E0-34F4-9647-947F-35FBEC373467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17FD19-EF12-D24E-986A-920B953E6FAB}" type="slidenum">
              <a:rPr lang="en-AU"/>
              <a:pPr>
                <a:defRPr/>
              </a:pPr>
              <a:t>26</a:t>
            </a:fld>
            <a:endParaRPr lang="en-AU"/>
          </a:p>
        </p:txBody>
      </p:sp>
      <p:sp>
        <p:nvSpPr>
          <p:cNvPr id="313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871A65D-FE36-1344-A2BA-4F2773575B1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5B133F-F936-034C-BAC2-A71011B5760B}" type="slidenum">
              <a:rPr lang="en-AU"/>
              <a:pPr>
                <a:defRPr/>
              </a:pPr>
              <a:t>27</a:t>
            </a:fld>
            <a:endParaRPr lang="en-AU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95AD7EE-6151-C84E-AD3B-A2F1B99880FA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75515F-3ABF-2143-8D89-C83D5DA4C071}" type="slidenum">
              <a:rPr lang="en-AU"/>
              <a:pPr>
                <a:defRPr/>
              </a:pPr>
              <a:t>28</a:t>
            </a:fld>
            <a:endParaRPr lang="en-AU"/>
          </a:p>
        </p:txBody>
      </p:sp>
      <p:sp>
        <p:nvSpPr>
          <p:cNvPr id="31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A607B0E-1DA7-7A4B-9396-F36ADAA35204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578A9F-0A3A-CB4F-9CC6-9A40C1D3DCBB}" type="slidenum">
              <a:rPr lang="en-AU"/>
              <a:pPr>
                <a:defRPr/>
              </a:pPr>
              <a:t>29</a:t>
            </a:fld>
            <a:endParaRPr lang="en-AU"/>
          </a:p>
        </p:txBody>
      </p:sp>
      <p:sp>
        <p:nvSpPr>
          <p:cNvPr id="321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11F2217-AB86-CF47-895C-18AFFC49B835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622050-7650-8D43-A85E-EAD6E41C6729}" type="slidenum">
              <a:rPr lang="en-AU"/>
              <a:pPr>
                <a:defRPr/>
              </a:pPr>
              <a:t>30</a:t>
            </a:fld>
            <a:endParaRPr lang="en-AU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761CF96-728F-F749-B08A-3EE7742713D4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CB952F-65DC-F74B-B52C-04DC99882A99}" type="slidenum">
              <a:rPr lang="en-AU"/>
              <a:pPr>
                <a:defRPr/>
              </a:pPr>
              <a:t>31</a:t>
            </a:fld>
            <a:endParaRPr lang="en-AU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B24634B4-BF63-E540-BA48-A7BF6AD7B33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74FA78-A4D5-304F-8E13-D0305E16DE84}" type="slidenum">
              <a:rPr lang="en-AU"/>
              <a:pPr>
                <a:defRPr/>
              </a:pPr>
              <a:t>32</a:t>
            </a:fld>
            <a:endParaRPr lang="en-AU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7841D82-C9B9-DA42-8143-A36D52E32B24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EC4CDA-2358-7545-9D7C-5824B05DBCC1}" type="slidenum">
              <a:rPr lang="en-AU"/>
              <a:pPr>
                <a:defRPr/>
              </a:pPr>
              <a:t>33</a:t>
            </a:fld>
            <a:endParaRPr lang="en-AU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0C2CA27-5EF4-EF49-9D10-8914FAC64F8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376A3-8F26-8748-8A85-74B66734A6FD}" type="slidenum">
              <a:rPr lang="en-AU"/>
              <a:pPr>
                <a:defRPr/>
              </a:pPr>
              <a:t>34</a:t>
            </a:fld>
            <a:endParaRPr lang="en-AU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ED008F7-DCA1-F246-ACDF-7F19835C52C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3D4C2-6BA0-6145-9219-579151FC5B2B}" type="slidenum">
              <a:rPr lang="en-AU"/>
              <a:pPr>
                <a:defRPr/>
              </a:pPr>
              <a:t>35</a:t>
            </a:fld>
            <a:endParaRPr lang="en-AU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ED008F7-DCA1-F246-ACDF-7F19835C52C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B3D4C2-6BA0-6145-9219-579151FC5B2B}" type="slidenum">
              <a:rPr lang="en-AU"/>
              <a:pPr>
                <a:defRPr/>
              </a:pPr>
              <a:t>36</a:t>
            </a:fld>
            <a:endParaRPr lang="en-AU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1275777F-AF10-A140-9F43-C03EB2A505D2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EF015E-D82D-6B46-A23C-FE5EA6C769F3}" type="slidenum">
              <a:rPr lang="en-AU"/>
              <a:pPr>
                <a:defRPr/>
              </a:pPr>
              <a:t>37</a:t>
            </a:fld>
            <a:endParaRPr lang="en-AU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B20A18A-0BF3-CE4F-B36E-240FD725E54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ACFBB9-1571-8744-A495-D5FCA9D3B761}" type="slidenum">
              <a:rPr lang="en-AU"/>
              <a:pPr>
                <a:defRPr/>
              </a:pPr>
              <a:t>38</a:t>
            </a:fld>
            <a:endParaRPr lang="en-AU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B9D5DF9-5B67-2847-A351-026627909FE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E89AD0-246B-BA4D-AA34-6FAB3AF9D15D}" type="slidenum">
              <a:rPr lang="en-AU"/>
              <a:pPr>
                <a:defRPr/>
              </a:pPr>
              <a:t>39</a:t>
            </a:fld>
            <a:endParaRPr lang="en-AU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D0259B39-B18D-EB44-9C11-DB09BB1F8C4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A49E14-2B96-9C48-A34E-95B1FF69BAF5}" type="slidenum">
              <a:rPr lang="en-AU"/>
              <a:pPr>
                <a:defRPr/>
              </a:pPr>
              <a:t>40</a:t>
            </a:fld>
            <a:endParaRPr lang="en-AU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F4C2CB42-0A40-DF4D-8936-D7AA43CFFF7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E24888-DDED-6846-8309-873FD6B29B81}" type="slidenum">
              <a:rPr lang="en-AU"/>
              <a:pPr>
                <a:defRPr/>
              </a:pPr>
              <a:t>41</a:t>
            </a:fld>
            <a:endParaRPr lang="en-AU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D4D3497E-3A13-074B-869F-D90B0CD204E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DFD9D-7AF3-434E-83C7-F552EAFD85D7}" type="slidenum">
              <a:rPr lang="en-AU"/>
              <a:pPr>
                <a:defRPr/>
              </a:pPr>
              <a:t>42</a:t>
            </a:fld>
            <a:endParaRPr lang="en-AU"/>
          </a:p>
        </p:txBody>
      </p:sp>
      <p:sp>
        <p:nvSpPr>
          <p:cNvPr id="34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97A3C9D-386B-B246-8BD0-50C369372EA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DBF958-2964-4043-9CA8-557C015AD6D5}" type="slidenum">
              <a:rPr lang="en-AU"/>
              <a:pPr>
                <a:defRPr/>
              </a:pPr>
              <a:t>43</a:t>
            </a:fld>
            <a:endParaRPr lang="en-AU"/>
          </a:p>
        </p:txBody>
      </p:sp>
      <p:sp>
        <p:nvSpPr>
          <p:cNvPr id="34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ABCD282-0143-AE41-8254-79421B81006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88C10-983F-5A4D-B7DD-DA2B59A72AA0}" type="slidenum">
              <a:rPr lang="en-AU"/>
              <a:pPr>
                <a:defRPr/>
              </a:pPr>
              <a:t>44</a:t>
            </a:fld>
            <a:endParaRPr lang="en-AU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CDF75B0-3FD2-FA41-97CB-C91B3DCA823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8C221-CE55-194A-816F-9F039DDFA0A8}" type="slidenum">
              <a:rPr lang="en-AU"/>
              <a:pPr>
                <a:defRPr/>
              </a:pPr>
              <a:t>45</a:t>
            </a:fld>
            <a:endParaRPr lang="en-AU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F95CC93D-6287-454E-9EE1-6B8970DB9995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C47616-9B72-9B43-94E1-35299CF4C32B}" type="slidenum">
              <a:rPr lang="en-AU"/>
              <a:pPr>
                <a:defRPr/>
              </a:pPr>
              <a:t>46</a:t>
            </a:fld>
            <a:endParaRPr lang="en-AU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242974F-FDA0-B444-BFB2-FC81E48DD9D3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98800D-9167-3341-837A-214F6A460B80}" type="slidenum">
              <a:rPr lang="en-AU"/>
              <a:pPr>
                <a:defRPr/>
              </a:pPr>
              <a:t>47</a:t>
            </a:fld>
            <a:endParaRPr lang="en-AU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B01FE60-1424-1C4C-AB13-FCAB10AFA80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126F84-78EA-8346-9111-5B0373FE7F70}" type="slidenum">
              <a:rPr lang="en-AU"/>
              <a:pPr>
                <a:defRPr/>
              </a:pPr>
              <a:t>48</a:t>
            </a:fld>
            <a:endParaRPr lang="en-AU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B2F4AFDA-08C2-9F4B-A028-8049CDF8C2F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9A4BA1-3F2B-A74B-8701-38660FA3A4C3}" type="slidenum">
              <a:rPr lang="en-AU"/>
              <a:pPr>
                <a:defRPr/>
              </a:pPr>
              <a:t>49</a:t>
            </a:fld>
            <a:endParaRPr lang="en-AU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FC01D30-72F6-474D-B7DF-13FF6D9C7AE2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9B1515-D4CA-1E48-A30E-88E9AD3FE27F}" type="slidenum">
              <a:rPr lang="en-AU"/>
              <a:pPr>
                <a:defRPr/>
              </a:pPr>
              <a:t>50</a:t>
            </a:fld>
            <a:endParaRPr lang="en-AU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8887385-2CF9-F245-B7D4-1918FC174B9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8DEC26-8AB6-7345-8049-9F1A748FE9CF}" type="slidenum">
              <a:rPr lang="en-AU"/>
              <a:pPr>
                <a:defRPr/>
              </a:pPr>
              <a:t>51</a:t>
            </a:fld>
            <a:endParaRPr lang="en-AU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EA9FF6C-AE06-5F49-82D4-B35457B610E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80AA34-B42D-2344-8310-A716961854FF}" type="slidenum">
              <a:rPr lang="en-AU"/>
              <a:pPr>
                <a:defRPr/>
              </a:pPr>
              <a:t>52</a:t>
            </a:fld>
            <a:endParaRPr lang="en-AU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9261024-B5AD-A04E-8578-A0DFCC41CE41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DE9915-C794-7E41-8B21-198906F8053C}" type="slidenum">
              <a:rPr lang="en-AU"/>
              <a:pPr>
                <a:defRPr/>
              </a:pPr>
              <a:t>53</a:t>
            </a:fld>
            <a:endParaRPr lang="en-AU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151638E-197D-B640-82A3-3C8CA4CD38D5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C3BC73-3566-0E43-BAF2-F00036543891}" type="slidenum">
              <a:rPr lang="en-AU"/>
              <a:pPr>
                <a:defRPr/>
              </a:pPr>
              <a:t>54</a:t>
            </a:fld>
            <a:endParaRPr lang="en-AU"/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E5B8702D-5F31-314B-B464-B862EBECCC0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3A239B-9E74-9549-A1CD-7A91FBBA1F36}" type="slidenum">
              <a:rPr lang="en-AU"/>
              <a:pPr>
                <a:defRPr/>
              </a:pPr>
              <a:t>55</a:t>
            </a:fld>
            <a:endParaRPr lang="en-AU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A0384354-8D68-1E4C-AD04-5FD5CFB3B9DE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28E840-B389-C847-92BD-7FB1FA1F1540}" type="slidenum">
              <a:rPr lang="en-AU"/>
              <a:pPr>
                <a:defRPr/>
              </a:pPr>
              <a:t>56</a:t>
            </a:fld>
            <a:endParaRPr lang="en-AU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18CA66D-BC23-E742-892A-DFB16EA6BC2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AFDB86-DF97-8E46-BBBA-F5B5E8C8FB73}" type="slidenum">
              <a:rPr lang="en-AU"/>
              <a:pPr>
                <a:defRPr/>
              </a:pPr>
              <a:t>57</a:t>
            </a:fld>
            <a:endParaRPr lang="en-AU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ABD66C63-F8D3-5547-BA24-51055501078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9073E4-1C12-5941-ADBD-56331E437D95}" type="slidenum">
              <a:rPr lang="en-AU"/>
              <a:pPr>
                <a:defRPr/>
              </a:pPr>
              <a:t>58</a:t>
            </a:fld>
            <a:endParaRPr lang="en-AU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F93DF987-8A5B-DD48-88DD-0548EA4E766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4A2EEB-30AA-5B45-827E-006D2B2667A5}" type="slidenum">
              <a:rPr lang="en-AU"/>
              <a:pPr>
                <a:defRPr/>
              </a:pPr>
              <a:t>59</a:t>
            </a:fld>
            <a:endParaRPr lang="en-AU"/>
          </a:p>
        </p:txBody>
      </p:sp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1258FC74-D8A7-B444-9B71-53C9C32CB291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1EB7B3-820D-2D4F-AB56-76322059B5DA}" type="slidenum">
              <a:rPr lang="en-AU"/>
              <a:pPr>
                <a:defRPr/>
              </a:pPr>
              <a:t>60</a:t>
            </a:fld>
            <a:endParaRPr lang="en-AU"/>
          </a:p>
        </p:txBody>
      </p:sp>
      <p:sp>
        <p:nvSpPr>
          <p:cNvPr id="381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D32E4B93-4A18-3240-A961-D122C2BEE8D9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28CE10-5762-2F42-B667-648FA4A2A456}" type="slidenum">
              <a:rPr lang="en-AU"/>
              <a:pPr>
                <a:defRPr/>
              </a:pPr>
              <a:t>61</a:t>
            </a:fld>
            <a:endParaRPr lang="en-AU"/>
          </a:p>
        </p:txBody>
      </p:sp>
      <p:sp>
        <p:nvSpPr>
          <p:cNvPr id="38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1FB7427-9B67-8744-A0C6-4FCB31B9FECD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1A4EF1-711D-4E49-B33C-42927B3D344A}" type="slidenum">
              <a:rPr lang="en-AU"/>
              <a:pPr>
                <a:defRPr/>
              </a:pPr>
              <a:t>62</a:t>
            </a:fld>
            <a:endParaRPr lang="en-AU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7BFD4408-0F5E-254B-BC23-DC95B4AC212A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E5047A-8335-E04D-8E8A-39238E7EBCA3}" type="slidenum">
              <a:rPr lang="en-AU"/>
              <a:pPr>
                <a:defRPr/>
              </a:pPr>
              <a:t>63</a:t>
            </a:fld>
            <a:endParaRPr lang="en-AU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A5A63096-D62C-C247-8217-D4BCCF5E81DA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807604-C410-5547-9F41-6750671F2239}" type="slidenum">
              <a:rPr lang="en-AU"/>
              <a:pPr>
                <a:defRPr/>
              </a:pPr>
              <a:t>64</a:t>
            </a:fld>
            <a:endParaRPr lang="en-AU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CF00EE2-51F7-054B-9749-A8FC82513447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6AFB32-D22E-A145-B4ED-A297B65094D1}" type="slidenum">
              <a:rPr lang="en-AU"/>
              <a:pPr>
                <a:defRPr/>
              </a:pPr>
              <a:t>65</a:t>
            </a:fld>
            <a:endParaRPr lang="en-AU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7490901-8139-C94F-B968-35CAFD76F703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45EF82-6E95-EB48-A68B-321132060EE7}" type="slidenum">
              <a:rPr lang="en-AU"/>
              <a:pPr>
                <a:defRPr/>
              </a:pPr>
              <a:t>66</a:t>
            </a:fld>
            <a:endParaRPr lang="en-AU"/>
          </a:p>
        </p:txBody>
      </p:sp>
      <p:sp>
        <p:nvSpPr>
          <p:cNvPr id="392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D557D3F-695B-E044-AA7A-5073494AE758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9048E8-92C2-1A42-BA4A-58A898F9F981}" type="slidenum">
              <a:rPr lang="en-AU"/>
              <a:pPr>
                <a:defRPr/>
              </a:pPr>
              <a:t>67</a:t>
            </a:fld>
            <a:endParaRPr lang="en-AU"/>
          </a:p>
        </p:txBody>
      </p:sp>
      <p:sp>
        <p:nvSpPr>
          <p:cNvPr id="39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5FF1129-BE9E-9D4C-88E0-3F7D6A9B42FE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19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19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88998A2-C1B6-0945-8C51-48090454E564}" type="slidenum">
              <a:rPr lang="en-AU" altLang="en-US" sz="1300">
                <a:latin typeface="Times New Roman" charset="0"/>
              </a:rPr>
              <a:pPr/>
              <a:t>68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19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3505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73E4C8A1-5F33-A54C-A06A-C19FA9A97827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29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29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88D88BB-6EF1-3A44-8557-34A0A71A37ED}" type="slidenum">
              <a:rPr lang="en-AU" altLang="en-US" sz="1300">
                <a:latin typeface="Times New Roman" charset="0"/>
              </a:rPr>
              <a:pPr/>
              <a:t>69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29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33738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D094DEB-1625-5743-B8A1-3D5CAAE24DA6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40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40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1E56B2CA-4E51-7042-90B7-26D36374B108}" type="slidenum">
              <a:rPr lang="en-AU" altLang="en-US" sz="1300">
                <a:latin typeface="Times New Roman" charset="0"/>
              </a:rPr>
              <a:pPr/>
              <a:t>70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40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66147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4A89D17-8224-C647-8296-A30949D26534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50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50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5C8F71D2-70D6-3B4C-8EA6-636C0279229E}" type="slidenum">
              <a:rPr lang="en-AU" altLang="en-US" sz="1300">
                <a:latin typeface="Times New Roman" charset="0"/>
              </a:rPr>
              <a:pPr/>
              <a:t>72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50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611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305A6B4-E4C7-EA49-A2A2-957630C2296D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60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60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203BE18-0D56-5D4F-BD98-7B2F3A2AC6A4}" type="slidenum">
              <a:rPr lang="en-AU" altLang="en-US" sz="1300">
                <a:latin typeface="Times New Roman" charset="0"/>
              </a:rPr>
              <a:pPr/>
              <a:t>73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60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27851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D336A7A-770F-4140-A225-C389CB10AA43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70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70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4E47503-A3CC-194E-BB2A-2E17E42119C8}" type="slidenum">
              <a:rPr lang="en-AU" altLang="en-US" sz="1300">
                <a:latin typeface="Times New Roman" charset="0"/>
              </a:rPr>
              <a:pPr/>
              <a:t>74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70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80614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D88BB22F-26A7-6E4B-87D2-F3A3DCB3F265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81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81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41B6F5C-9224-7E48-AC30-D9B7FB1A62F0}" type="slidenum">
              <a:rPr lang="en-AU" altLang="en-US" sz="1300">
                <a:latin typeface="Times New Roman" charset="0"/>
              </a:rPr>
              <a:pPr/>
              <a:t>75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81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4997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52EA9CE-5852-C343-A11D-53F7BFDA85A3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91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191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3B773C8-F521-5C4A-9ED7-E2DAFC8D763C}" type="slidenum">
              <a:rPr lang="en-AU" altLang="en-US" sz="1300">
                <a:latin typeface="Times New Roman" charset="0"/>
              </a:rPr>
              <a:pPr/>
              <a:t>76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191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9692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DCD2F9EC-FE9E-484F-B117-8049F153D07C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01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01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044FDDC-C171-8241-A4B8-4ECA79447753}" type="slidenum">
              <a:rPr lang="en-AU" altLang="en-US" sz="1300">
                <a:latin typeface="Times New Roman" charset="0"/>
              </a:rPr>
              <a:pPr/>
              <a:t>77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01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4878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8CE3D66-38C7-9D42-A6A2-A415E060FB0E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11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11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5527F114-54DF-9041-A511-6A99A8259F54}" type="slidenum">
              <a:rPr lang="en-AU" altLang="en-US" sz="1300">
                <a:latin typeface="Times New Roman" charset="0"/>
              </a:rPr>
              <a:pPr/>
              <a:t>78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11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321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798A06D-C0E0-9845-85CA-04349E8C1638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22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22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849997F-75AA-BE4A-9164-BC37EF8DC615}" type="slidenum">
              <a:rPr lang="en-AU" altLang="en-US" sz="1300">
                <a:latin typeface="Times New Roman" charset="0"/>
              </a:rPr>
              <a:pPr/>
              <a:t>79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22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7738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82602FB-6E2F-B64B-A2F7-EA5FA2B853FA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32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32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EADBD0A-6E20-734A-8CBE-2A15DC635806}" type="slidenum">
              <a:rPr lang="en-AU" altLang="en-US" sz="1300">
                <a:latin typeface="Times New Roman" charset="0"/>
              </a:rPr>
              <a:pPr/>
              <a:t>80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32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29150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C6C7D97F-BD5A-E041-A91F-074CA53D920D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42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42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1A6E393-7337-CB4B-BCAB-1CF9222278A4}" type="slidenum">
              <a:rPr lang="en-AU" altLang="en-US" sz="1300">
                <a:latin typeface="Times New Roman" charset="0"/>
              </a:rPr>
              <a:pPr/>
              <a:t>81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42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73558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1734B40A-C086-6248-8F76-0642E149387D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52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52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80390676-B8FC-8344-8694-1E515E25E791}" type="slidenum">
              <a:rPr lang="en-AU" altLang="en-US" sz="1300">
                <a:latin typeface="Times New Roman" charset="0"/>
              </a:rPr>
              <a:pPr/>
              <a:t>82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52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15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9F7A360-74DA-4848-8E29-ADD7839F6BF9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63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63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31C86C1-E615-F648-8E1E-5E067CA47DC3}" type="slidenum">
              <a:rPr lang="en-AU" altLang="en-US" sz="1300">
                <a:latin typeface="Times New Roman" charset="0"/>
              </a:rPr>
              <a:pPr/>
              <a:t>83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63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46346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Morgan Kaufmann Publishers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838606B-632E-1E46-843C-565D31950F0A}" type="datetime3">
              <a:rPr lang="en-AU" altLang="en-US" sz="1300">
                <a:latin typeface="Times New Roman" charset="0"/>
              </a:rPr>
              <a:pPr/>
              <a:t>25 January, 2023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73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300">
                <a:latin typeface="Times New Roman" charset="0"/>
              </a:rPr>
              <a:t>Chapter 4 — The Processor</a:t>
            </a:r>
          </a:p>
        </p:txBody>
      </p:sp>
      <p:sp>
        <p:nvSpPr>
          <p:cNvPr id="2273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B3FEC048-6A44-8F43-947D-CD13265FEEEB}" type="slidenum">
              <a:rPr lang="en-AU" altLang="en-US" sz="1300">
                <a:latin typeface="Times New Roman" charset="0"/>
              </a:rPr>
              <a:pPr/>
              <a:t>84</a:t>
            </a:fld>
            <a:endParaRPr lang="en-AU" altLang="en-US" sz="1300">
              <a:latin typeface="Times New Roman" charset="0"/>
            </a:endParaRPr>
          </a:p>
        </p:txBody>
      </p:sp>
      <p:sp>
        <p:nvSpPr>
          <p:cNvPr id="2273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175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474C79A-D8C2-964C-8D4D-A297F89459E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215153-2CD8-8344-BB09-6C252A52CBCA}" type="slidenum">
              <a:rPr lang="en-AU"/>
              <a:pPr>
                <a:defRPr/>
              </a:pPr>
              <a:t>85</a:t>
            </a:fld>
            <a:endParaRPr lang="en-AU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BE75012-28F0-7F45-B5B3-4DC1F5C8F16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C93E34-4B50-7A46-B6BB-57C81F463876}" type="slidenum">
              <a:rPr lang="en-AU"/>
              <a:pPr>
                <a:defRPr/>
              </a:pPr>
              <a:t>86</a:t>
            </a:fld>
            <a:endParaRPr lang="en-AU"/>
          </a:p>
        </p:txBody>
      </p:sp>
      <p:sp>
        <p:nvSpPr>
          <p:cNvPr id="43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94CEA07C-1BB8-994B-A82E-32F1C9152D1A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669151-CDB1-BE4B-BC9F-E8747F8ADE92}" type="slidenum">
              <a:rPr lang="en-AU"/>
              <a:pPr>
                <a:defRPr/>
              </a:pPr>
              <a:t>87</a:t>
            </a:fld>
            <a:endParaRPr lang="en-AU"/>
          </a:p>
        </p:txBody>
      </p:sp>
      <p:sp>
        <p:nvSpPr>
          <p:cNvPr id="43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1698433-CF24-A848-9102-F5A037C94286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FE7BD4-C261-154A-8047-4C872283EEA6}" type="slidenum">
              <a:rPr lang="en-AU"/>
              <a:pPr>
                <a:defRPr/>
              </a:pPr>
              <a:t>88</a:t>
            </a:fld>
            <a:endParaRPr lang="en-AU"/>
          </a:p>
        </p:txBody>
      </p:sp>
      <p:sp>
        <p:nvSpPr>
          <p:cNvPr id="43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B46CF932-5019-0441-A747-5354639BAA6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32B80C-FDC4-844C-8730-FB16060DECAF}" type="slidenum">
              <a:rPr lang="en-AU"/>
              <a:pPr>
                <a:defRPr/>
              </a:pPr>
              <a:t>89</a:t>
            </a:fld>
            <a:endParaRPr lang="en-AU"/>
          </a:p>
        </p:txBody>
      </p:sp>
      <p:sp>
        <p:nvSpPr>
          <p:cNvPr id="44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F7448DCC-D510-5942-9F9E-25CE1C56B76F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6BB29E-88DC-374D-A64F-AC640C4FC19F}" type="slidenum">
              <a:rPr lang="en-AU"/>
              <a:pPr>
                <a:defRPr/>
              </a:pPr>
              <a:t>90</a:t>
            </a:fld>
            <a:endParaRPr lang="en-AU"/>
          </a:p>
        </p:txBody>
      </p:sp>
      <p:sp>
        <p:nvSpPr>
          <p:cNvPr id="44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0AEDFE71-523D-B14B-B882-8308DBF22C1D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5E8C23-70D5-3D46-B8A0-6BE0BE100999}" type="slidenum">
              <a:rPr lang="en-AU"/>
              <a:pPr>
                <a:defRPr/>
              </a:pPr>
              <a:t>91</a:t>
            </a:fld>
            <a:endParaRPr lang="en-AU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395766C5-B3B2-B74E-BF05-D8A59DC5ADA3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2E996E-7288-8149-B3C3-7DED1139CFAB}" type="slidenum">
              <a:rPr lang="en-AU"/>
              <a:pPr>
                <a:defRPr/>
              </a:pPr>
              <a:t>92</a:t>
            </a:fld>
            <a:endParaRPr lang="en-AU"/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E571B627-CEA6-FF44-84F0-F1794003D65C}" type="datetime3">
              <a:rPr lang="en-AU"/>
              <a:pPr>
                <a:defRPr/>
              </a:pPr>
              <a:t>25 January, 2023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329D78-4820-CC47-BB0B-9C161B3E0B1A}" type="slidenum">
              <a:rPr lang="en-AU"/>
              <a:pPr>
                <a:defRPr/>
              </a:pPr>
              <a:t>93</a:t>
            </a:fld>
            <a:endParaRPr lang="en-AU"/>
          </a:p>
        </p:txBody>
      </p:sp>
      <p:sp>
        <p:nvSpPr>
          <p:cNvPr id="449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CB320646-6563-4F75-B9D4-A2B7972110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3AAF20F9-51D1-4CCF-BE20-349CBC3569C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47446D-D718-4C3D-8317-57F68F569222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1908" name="Rectangle 6">
            <a:extLst>
              <a:ext uri="{FF2B5EF4-FFF2-40B4-BE49-F238E27FC236}">
                <a16:creationId xmlns:a16="http://schemas.microsoft.com/office/drawing/2014/main" id="{7EFCAB89-DBBC-4B4B-91C4-2319191356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1909" name="Rectangle 7">
            <a:extLst>
              <a:ext uri="{FF2B5EF4-FFF2-40B4-BE49-F238E27FC236}">
                <a16:creationId xmlns:a16="http://schemas.microsoft.com/office/drawing/2014/main" id="{5467A8A6-2354-477A-88E2-5ED578316A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C90102-A2CC-47D3-A063-EDA6453E6FB0}" type="slidenum">
              <a:rPr lang="en-AU" altLang="en-US" sz="1300">
                <a:latin typeface="Times New Roman" panose="02020603050405020304" pitchFamily="18" charset="0"/>
              </a:rPr>
              <a:pPr/>
              <a:t>94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1910" name="Rectangle 2">
            <a:extLst>
              <a:ext uri="{FF2B5EF4-FFF2-40B4-BE49-F238E27FC236}">
                <a16:creationId xmlns:a16="http://schemas.microsoft.com/office/drawing/2014/main" id="{7E9E21C5-977F-409C-ADD0-1FC17B36EE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11" name="Rectangle 3">
            <a:extLst>
              <a:ext uri="{FF2B5EF4-FFF2-40B4-BE49-F238E27FC236}">
                <a16:creationId xmlns:a16="http://schemas.microsoft.com/office/drawing/2014/main" id="{DAE507BE-EA14-4984-B164-562367661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66BE3BCE-45D5-4D23-8503-654DE95097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96361BF7-3236-4DAF-ADEE-D7B124BE5B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019DA4-B937-422E-A85E-31214CC54BAB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2932" name="Rectangle 6">
            <a:extLst>
              <a:ext uri="{FF2B5EF4-FFF2-40B4-BE49-F238E27FC236}">
                <a16:creationId xmlns:a16="http://schemas.microsoft.com/office/drawing/2014/main" id="{755EBC98-D303-4E97-BF99-57F4E48438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2933" name="Rectangle 7">
            <a:extLst>
              <a:ext uri="{FF2B5EF4-FFF2-40B4-BE49-F238E27FC236}">
                <a16:creationId xmlns:a16="http://schemas.microsoft.com/office/drawing/2014/main" id="{325CDCC9-19C4-4C0A-9077-38A95CFF6B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2A35A3-3085-4A75-98AD-043DF1CA105D}" type="slidenum">
              <a:rPr lang="en-AU" altLang="en-US" sz="1300">
                <a:latin typeface="Times New Roman" panose="02020603050405020304" pitchFamily="18" charset="0"/>
              </a:rPr>
              <a:pPr/>
              <a:t>95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2934" name="Rectangle 2">
            <a:extLst>
              <a:ext uri="{FF2B5EF4-FFF2-40B4-BE49-F238E27FC236}">
                <a16:creationId xmlns:a16="http://schemas.microsoft.com/office/drawing/2014/main" id="{058E6A77-D77F-4EF0-8561-46AFA28DB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5" name="Rectangle 3">
            <a:extLst>
              <a:ext uri="{FF2B5EF4-FFF2-40B4-BE49-F238E27FC236}">
                <a16:creationId xmlns:a16="http://schemas.microsoft.com/office/drawing/2014/main" id="{C621062F-629C-47BF-B18E-405853CAF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9E3CD858-F87C-446E-B839-EE2AB7D47F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80F930F5-7CC8-4A48-9F11-2791094434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951390-1EB2-4D56-986C-7B295A7717B6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3956" name="Rectangle 6">
            <a:extLst>
              <a:ext uri="{FF2B5EF4-FFF2-40B4-BE49-F238E27FC236}">
                <a16:creationId xmlns:a16="http://schemas.microsoft.com/office/drawing/2014/main" id="{7050FBCC-967C-4362-B10D-EF0136A9DD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3957" name="Rectangle 7">
            <a:extLst>
              <a:ext uri="{FF2B5EF4-FFF2-40B4-BE49-F238E27FC236}">
                <a16:creationId xmlns:a16="http://schemas.microsoft.com/office/drawing/2014/main" id="{641601FE-EC76-4A4C-A211-4C0C3B0003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F75976-CD49-4E1F-B9D2-F65B0C0552CC}" type="slidenum">
              <a:rPr lang="en-AU" altLang="en-US" sz="1300">
                <a:latin typeface="Times New Roman" panose="02020603050405020304" pitchFamily="18" charset="0"/>
              </a:rPr>
              <a:pPr/>
              <a:t>96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3958" name="Rectangle 2">
            <a:extLst>
              <a:ext uri="{FF2B5EF4-FFF2-40B4-BE49-F238E27FC236}">
                <a16:creationId xmlns:a16="http://schemas.microsoft.com/office/drawing/2014/main" id="{E5253189-5D4F-477F-B53C-F077416275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9" name="Rectangle 3">
            <a:extLst>
              <a:ext uri="{FF2B5EF4-FFF2-40B4-BE49-F238E27FC236}">
                <a16:creationId xmlns:a16="http://schemas.microsoft.com/office/drawing/2014/main" id="{9F96CCC8-9665-4C84-A46D-032C77788D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>
            <a:extLst>
              <a:ext uri="{FF2B5EF4-FFF2-40B4-BE49-F238E27FC236}">
                <a16:creationId xmlns:a16="http://schemas.microsoft.com/office/drawing/2014/main" id="{30D79354-7F11-4D87-BE23-A7878BBEAE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5580C2D7-49B2-453A-9925-0E2185B41F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E47C94-612E-4F8D-9AF3-9ACA2DBDC049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4980" name="Rectangle 6">
            <a:extLst>
              <a:ext uri="{FF2B5EF4-FFF2-40B4-BE49-F238E27FC236}">
                <a16:creationId xmlns:a16="http://schemas.microsoft.com/office/drawing/2014/main" id="{BD09A193-07E8-4A4E-91DF-A6746AD083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4981" name="Rectangle 7">
            <a:extLst>
              <a:ext uri="{FF2B5EF4-FFF2-40B4-BE49-F238E27FC236}">
                <a16:creationId xmlns:a16="http://schemas.microsoft.com/office/drawing/2014/main" id="{96A1A426-3A70-4BDE-97FF-C79F1C7D67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F8307F-9EE8-496E-9E8C-01F2103CB495}" type="slidenum">
              <a:rPr lang="en-AU" altLang="en-US" sz="1300">
                <a:latin typeface="Times New Roman" panose="02020603050405020304" pitchFamily="18" charset="0"/>
              </a:rPr>
              <a:pPr/>
              <a:t>97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4982" name="Rectangle 2">
            <a:extLst>
              <a:ext uri="{FF2B5EF4-FFF2-40B4-BE49-F238E27FC236}">
                <a16:creationId xmlns:a16="http://schemas.microsoft.com/office/drawing/2014/main" id="{AF05348A-732C-4060-B62A-6017573A0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3" name="Rectangle 3">
            <a:extLst>
              <a:ext uri="{FF2B5EF4-FFF2-40B4-BE49-F238E27FC236}">
                <a16:creationId xmlns:a16="http://schemas.microsoft.com/office/drawing/2014/main" id="{5D78C863-A58C-4AC4-9654-7C51D1D3F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333ED763-DC09-417B-B1C2-DFDA65C9B6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FF5FCB25-77F6-4461-AA6F-8BF0EB191E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340141-2536-4A5E-A820-EAEE7562DD71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7028" name="Rectangle 6">
            <a:extLst>
              <a:ext uri="{FF2B5EF4-FFF2-40B4-BE49-F238E27FC236}">
                <a16:creationId xmlns:a16="http://schemas.microsoft.com/office/drawing/2014/main" id="{C895827B-C0D0-4740-876E-E946A04B5E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7029" name="Rectangle 7">
            <a:extLst>
              <a:ext uri="{FF2B5EF4-FFF2-40B4-BE49-F238E27FC236}">
                <a16:creationId xmlns:a16="http://schemas.microsoft.com/office/drawing/2014/main" id="{D2719B5E-4C4E-443E-9355-7A08914774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784298-42E2-4FC1-B400-DB30B6733ABE}" type="slidenum">
              <a:rPr lang="en-AU" altLang="en-US" sz="1300">
                <a:latin typeface="Times New Roman" panose="02020603050405020304" pitchFamily="18" charset="0"/>
              </a:rPr>
              <a:pPr/>
              <a:t>98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7030" name="Rectangle 2">
            <a:extLst>
              <a:ext uri="{FF2B5EF4-FFF2-40B4-BE49-F238E27FC236}">
                <a16:creationId xmlns:a16="http://schemas.microsoft.com/office/drawing/2014/main" id="{D9B15482-DDF7-4D83-BFAF-8EA6524CA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31" name="Rectangle 3">
            <a:extLst>
              <a:ext uri="{FF2B5EF4-FFF2-40B4-BE49-F238E27FC236}">
                <a16:creationId xmlns:a16="http://schemas.microsoft.com/office/drawing/2014/main" id="{F45EB3DC-DF6D-43EC-8154-E4CFB7EF1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797BCA1B-2263-4417-9806-27D28C6276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128FC69E-EA6C-441D-AB03-929F134781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8F8ACA-5105-48C7-99AD-7F9C76AA553C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8052" name="Rectangle 6">
            <a:extLst>
              <a:ext uri="{FF2B5EF4-FFF2-40B4-BE49-F238E27FC236}">
                <a16:creationId xmlns:a16="http://schemas.microsoft.com/office/drawing/2014/main" id="{1DB1EABF-03D3-4B8C-B7B6-164D188005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8053" name="Rectangle 7">
            <a:extLst>
              <a:ext uri="{FF2B5EF4-FFF2-40B4-BE49-F238E27FC236}">
                <a16:creationId xmlns:a16="http://schemas.microsoft.com/office/drawing/2014/main" id="{D8F92460-CA8D-4647-B83C-1F8819AD1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EC830F-B88C-47DD-B5D8-92DCB01084D6}" type="slidenum">
              <a:rPr lang="en-AU" altLang="en-US" sz="1300">
                <a:latin typeface="Times New Roman" panose="02020603050405020304" pitchFamily="18" charset="0"/>
              </a:rPr>
              <a:pPr/>
              <a:t>99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8054" name="Rectangle 2">
            <a:extLst>
              <a:ext uri="{FF2B5EF4-FFF2-40B4-BE49-F238E27FC236}">
                <a16:creationId xmlns:a16="http://schemas.microsoft.com/office/drawing/2014/main" id="{0AA7FAA5-9C4F-4857-91BB-F9AFC4BAC6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5" name="Rectangle 3">
            <a:extLst>
              <a:ext uri="{FF2B5EF4-FFF2-40B4-BE49-F238E27FC236}">
                <a16:creationId xmlns:a16="http://schemas.microsoft.com/office/drawing/2014/main" id="{2AA749F2-224F-4310-AE6F-D3E14EB54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559A0F97-CFB8-4B57-BAAF-968AA628D8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127031DF-E009-43D8-966C-1B02C2CD34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61E83D-29BC-4ED6-8496-4618340A06FB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9076" name="Rectangle 6">
            <a:extLst>
              <a:ext uri="{FF2B5EF4-FFF2-40B4-BE49-F238E27FC236}">
                <a16:creationId xmlns:a16="http://schemas.microsoft.com/office/drawing/2014/main" id="{BE077501-2F09-4CB3-9CB6-F492859CF1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59077" name="Rectangle 7">
            <a:extLst>
              <a:ext uri="{FF2B5EF4-FFF2-40B4-BE49-F238E27FC236}">
                <a16:creationId xmlns:a16="http://schemas.microsoft.com/office/drawing/2014/main" id="{905AF994-9E9C-4E86-A0AB-9C0187D930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7AC494-F065-4FCA-8790-61732EE60C70}" type="slidenum">
              <a:rPr lang="en-AU" altLang="en-US" sz="1300">
                <a:latin typeface="Times New Roman" panose="02020603050405020304" pitchFamily="18" charset="0"/>
              </a:rPr>
              <a:pPr/>
              <a:t>100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59078" name="Rectangle 2">
            <a:extLst>
              <a:ext uri="{FF2B5EF4-FFF2-40B4-BE49-F238E27FC236}">
                <a16:creationId xmlns:a16="http://schemas.microsoft.com/office/drawing/2014/main" id="{33730829-CAB9-493E-937B-DF4C84B98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9" name="Rectangle 3">
            <a:extLst>
              <a:ext uri="{FF2B5EF4-FFF2-40B4-BE49-F238E27FC236}">
                <a16:creationId xmlns:a16="http://schemas.microsoft.com/office/drawing/2014/main" id="{1879C51E-3E2D-46F6-8675-A065AD8AA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1D7EEE96-C7E4-49C4-AC78-2A0E52B6F0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9572BD1F-0ECD-49B6-ACD3-9095E2021CD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06F14A-FFCA-4A67-A3EE-25B00EC52038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0100" name="Rectangle 6">
            <a:extLst>
              <a:ext uri="{FF2B5EF4-FFF2-40B4-BE49-F238E27FC236}">
                <a16:creationId xmlns:a16="http://schemas.microsoft.com/office/drawing/2014/main" id="{96845F24-A0AB-45D1-9E4D-64333657EE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0101" name="Rectangle 7">
            <a:extLst>
              <a:ext uri="{FF2B5EF4-FFF2-40B4-BE49-F238E27FC236}">
                <a16:creationId xmlns:a16="http://schemas.microsoft.com/office/drawing/2014/main" id="{12327AAD-ABFD-4730-8D23-42ACE08B23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898150-1D03-4E90-8049-8BDF51C230A6}" type="slidenum">
              <a:rPr lang="en-AU" altLang="en-US" sz="1300">
                <a:latin typeface="Times New Roman" panose="02020603050405020304" pitchFamily="18" charset="0"/>
              </a:rPr>
              <a:pPr/>
              <a:t>101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0102" name="Rectangle 2">
            <a:extLst>
              <a:ext uri="{FF2B5EF4-FFF2-40B4-BE49-F238E27FC236}">
                <a16:creationId xmlns:a16="http://schemas.microsoft.com/office/drawing/2014/main" id="{E2B1C1B8-63A8-4197-BFE6-CDA154F285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3" name="Rectangle 3">
            <a:extLst>
              <a:ext uri="{FF2B5EF4-FFF2-40B4-BE49-F238E27FC236}">
                <a16:creationId xmlns:a16="http://schemas.microsoft.com/office/drawing/2014/main" id="{FBF59C4C-74E3-4FA8-AC3A-F7C25522E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33043CF5-BCFF-44F9-B474-B43B285AC1D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7482D30F-C27A-4529-8823-BB95AD978C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87ECD0-B80F-4D87-91F9-1587B523089D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1124" name="Rectangle 6">
            <a:extLst>
              <a:ext uri="{FF2B5EF4-FFF2-40B4-BE49-F238E27FC236}">
                <a16:creationId xmlns:a16="http://schemas.microsoft.com/office/drawing/2014/main" id="{33FDE6A0-31F9-49BC-8998-F78DC902777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1125" name="Rectangle 7">
            <a:extLst>
              <a:ext uri="{FF2B5EF4-FFF2-40B4-BE49-F238E27FC236}">
                <a16:creationId xmlns:a16="http://schemas.microsoft.com/office/drawing/2014/main" id="{21BFDBE8-33CC-4FEC-9113-B44120817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BFFE96-64EC-454E-B591-B74672D6D65D}" type="slidenum">
              <a:rPr lang="en-AU" altLang="en-US" sz="1300">
                <a:latin typeface="Times New Roman" panose="02020603050405020304" pitchFamily="18" charset="0"/>
              </a:rPr>
              <a:pPr/>
              <a:t>102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1126" name="Rectangle 2">
            <a:extLst>
              <a:ext uri="{FF2B5EF4-FFF2-40B4-BE49-F238E27FC236}">
                <a16:creationId xmlns:a16="http://schemas.microsoft.com/office/drawing/2014/main" id="{1A526BBA-54D3-4B61-88B4-40B0F9F83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7" name="Rectangle 3">
            <a:extLst>
              <a:ext uri="{FF2B5EF4-FFF2-40B4-BE49-F238E27FC236}">
                <a16:creationId xmlns:a16="http://schemas.microsoft.com/office/drawing/2014/main" id="{96ADAFD6-672A-4C0B-BF6C-F2153D3F9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F3840A1B-EEF2-441F-B370-2E8343D61A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18C25CA5-D680-42DE-9A72-05C6A9D95A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D0C919-439E-4D87-8046-C0E49363C06A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2148" name="Rectangle 6">
            <a:extLst>
              <a:ext uri="{FF2B5EF4-FFF2-40B4-BE49-F238E27FC236}">
                <a16:creationId xmlns:a16="http://schemas.microsoft.com/office/drawing/2014/main" id="{FDE5A3C1-BB3B-47F7-BC36-A86E33F2B8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2149" name="Rectangle 7">
            <a:extLst>
              <a:ext uri="{FF2B5EF4-FFF2-40B4-BE49-F238E27FC236}">
                <a16:creationId xmlns:a16="http://schemas.microsoft.com/office/drawing/2014/main" id="{974944FA-FDCA-4BC4-AFDA-8CE8C3911C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0B52B6-5800-4727-8929-33F436B9127D}" type="slidenum">
              <a:rPr lang="en-AU" altLang="en-US" sz="1300">
                <a:latin typeface="Times New Roman" panose="02020603050405020304" pitchFamily="18" charset="0"/>
              </a:rPr>
              <a:pPr/>
              <a:t>103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2150" name="Rectangle 2">
            <a:extLst>
              <a:ext uri="{FF2B5EF4-FFF2-40B4-BE49-F238E27FC236}">
                <a16:creationId xmlns:a16="http://schemas.microsoft.com/office/drawing/2014/main" id="{536AE02F-CCAD-4EB9-BA71-E76987AF2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51" name="Rectangle 3">
            <a:extLst>
              <a:ext uri="{FF2B5EF4-FFF2-40B4-BE49-F238E27FC236}">
                <a16:creationId xmlns:a16="http://schemas.microsoft.com/office/drawing/2014/main" id="{982A791E-4055-4F21-926B-D87BCCA06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B89B169B-C9DF-4123-A388-4F9D66104A7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D6313390-421C-46C2-B07C-682062A6621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2599D7-9B8E-4B8C-98A7-BADDC46071AA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3172" name="Rectangle 6">
            <a:extLst>
              <a:ext uri="{FF2B5EF4-FFF2-40B4-BE49-F238E27FC236}">
                <a16:creationId xmlns:a16="http://schemas.microsoft.com/office/drawing/2014/main" id="{3CA108B4-C2EE-4F11-9EF4-E77881A1DC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3173" name="Rectangle 7">
            <a:extLst>
              <a:ext uri="{FF2B5EF4-FFF2-40B4-BE49-F238E27FC236}">
                <a16:creationId xmlns:a16="http://schemas.microsoft.com/office/drawing/2014/main" id="{0759BE83-3C88-4244-BE37-272215298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232C6C-A6FD-4A69-8C59-CC4AED6C620F}" type="slidenum">
              <a:rPr lang="en-AU" altLang="en-US" sz="1300">
                <a:latin typeface="Times New Roman" panose="02020603050405020304" pitchFamily="18" charset="0"/>
              </a:rPr>
              <a:pPr/>
              <a:t>104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3174" name="Rectangle 2">
            <a:extLst>
              <a:ext uri="{FF2B5EF4-FFF2-40B4-BE49-F238E27FC236}">
                <a16:creationId xmlns:a16="http://schemas.microsoft.com/office/drawing/2014/main" id="{2084845A-7C23-4EEE-96BD-AFB9E9B82E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5" name="Rectangle 3">
            <a:extLst>
              <a:ext uri="{FF2B5EF4-FFF2-40B4-BE49-F238E27FC236}">
                <a16:creationId xmlns:a16="http://schemas.microsoft.com/office/drawing/2014/main" id="{B920F0A5-8418-4D0C-B1F1-CC6AE9602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5E4AA5C5-E746-4DF7-BF46-7356551E99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3A51C70B-5125-407B-B9B6-F2A573E63F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2749AA-DABE-4AA5-B5DB-CC4F5B6453E5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4196" name="Rectangle 6">
            <a:extLst>
              <a:ext uri="{FF2B5EF4-FFF2-40B4-BE49-F238E27FC236}">
                <a16:creationId xmlns:a16="http://schemas.microsoft.com/office/drawing/2014/main" id="{F3AB7C62-FE6B-4A4C-B6E0-A8D0B6DC620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4197" name="Rectangle 7">
            <a:extLst>
              <a:ext uri="{FF2B5EF4-FFF2-40B4-BE49-F238E27FC236}">
                <a16:creationId xmlns:a16="http://schemas.microsoft.com/office/drawing/2014/main" id="{A4B04789-6C65-4C01-80F3-816EFFD59E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E8D935-0C36-4293-85DF-780F4931926F}" type="slidenum">
              <a:rPr lang="en-AU" altLang="en-US" sz="1300">
                <a:latin typeface="Times New Roman" panose="02020603050405020304" pitchFamily="18" charset="0"/>
              </a:rPr>
              <a:pPr/>
              <a:t>105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4198" name="Rectangle 2">
            <a:extLst>
              <a:ext uri="{FF2B5EF4-FFF2-40B4-BE49-F238E27FC236}">
                <a16:creationId xmlns:a16="http://schemas.microsoft.com/office/drawing/2014/main" id="{9591DADA-010E-4B0D-A0E2-1F32C920D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9" name="Rectangle 3">
            <a:extLst>
              <a:ext uri="{FF2B5EF4-FFF2-40B4-BE49-F238E27FC236}">
                <a16:creationId xmlns:a16="http://schemas.microsoft.com/office/drawing/2014/main" id="{C273B5C8-2F49-4C28-9CBB-3BBFBBE79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C0714F30-D98F-4F0C-9490-BFE3A38714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6A965F70-5A70-470A-9CED-A6A3F079324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FE534A-1C98-40D1-A24B-791D3FB64B3F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5220" name="Rectangle 6">
            <a:extLst>
              <a:ext uri="{FF2B5EF4-FFF2-40B4-BE49-F238E27FC236}">
                <a16:creationId xmlns:a16="http://schemas.microsoft.com/office/drawing/2014/main" id="{59DBDA03-B6AC-45F2-B453-4F554904C37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5221" name="Rectangle 7">
            <a:extLst>
              <a:ext uri="{FF2B5EF4-FFF2-40B4-BE49-F238E27FC236}">
                <a16:creationId xmlns:a16="http://schemas.microsoft.com/office/drawing/2014/main" id="{075A7999-E102-45E2-BCBA-5A3342C40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6211E4-3FD2-46D8-AFE7-C51F04947C21}" type="slidenum">
              <a:rPr lang="en-AU" altLang="en-US" sz="1300">
                <a:latin typeface="Times New Roman" panose="02020603050405020304" pitchFamily="18" charset="0"/>
              </a:rPr>
              <a:pPr/>
              <a:t>106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5222" name="Rectangle 2">
            <a:extLst>
              <a:ext uri="{FF2B5EF4-FFF2-40B4-BE49-F238E27FC236}">
                <a16:creationId xmlns:a16="http://schemas.microsoft.com/office/drawing/2014/main" id="{9DB1CACD-0D48-4301-8EBD-31685C36D4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3" name="Rectangle 3">
            <a:extLst>
              <a:ext uri="{FF2B5EF4-FFF2-40B4-BE49-F238E27FC236}">
                <a16:creationId xmlns:a16="http://schemas.microsoft.com/office/drawing/2014/main" id="{5F40137E-BC1A-4E90-B907-A94AC66B7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759756A9-7388-4A58-9E22-999D6C6533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2BCCF6C1-FDAE-4376-8D9E-C660D92F42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6750CD-0E24-4273-9C72-6F6B25F734DF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6244" name="Rectangle 6">
            <a:extLst>
              <a:ext uri="{FF2B5EF4-FFF2-40B4-BE49-F238E27FC236}">
                <a16:creationId xmlns:a16="http://schemas.microsoft.com/office/drawing/2014/main" id="{4ADB977A-1D65-45B7-B840-2C2CAE86890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6245" name="Rectangle 7">
            <a:extLst>
              <a:ext uri="{FF2B5EF4-FFF2-40B4-BE49-F238E27FC236}">
                <a16:creationId xmlns:a16="http://schemas.microsoft.com/office/drawing/2014/main" id="{1F77861D-88AD-4952-8FE5-983A9BEC2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608682-35AE-4112-ACDA-A2AAF9A1398A}" type="slidenum">
              <a:rPr lang="en-AU" altLang="en-US" sz="1300">
                <a:latin typeface="Times New Roman" panose="02020603050405020304" pitchFamily="18" charset="0"/>
              </a:rPr>
              <a:pPr/>
              <a:t>107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6246" name="Rectangle 2">
            <a:extLst>
              <a:ext uri="{FF2B5EF4-FFF2-40B4-BE49-F238E27FC236}">
                <a16:creationId xmlns:a16="http://schemas.microsoft.com/office/drawing/2014/main" id="{D9EA006D-3D83-425A-B5CC-0D89C146A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7" name="Rectangle 3">
            <a:extLst>
              <a:ext uri="{FF2B5EF4-FFF2-40B4-BE49-F238E27FC236}">
                <a16:creationId xmlns:a16="http://schemas.microsoft.com/office/drawing/2014/main" id="{07CA7866-23EB-4163-8C61-F252E4AA8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AD274915-EFA9-4782-95C2-959CE4ECAD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B8F725B2-B434-4513-8F87-5A2C751811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F08994B-07EB-4844-8A3B-A289E1588ECE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7268" name="Rectangle 6">
            <a:extLst>
              <a:ext uri="{FF2B5EF4-FFF2-40B4-BE49-F238E27FC236}">
                <a16:creationId xmlns:a16="http://schemas.microsoft.com/office/drawing/2014/main" id="{ABB8456F-03B6-4842-B3FE-4BAC2D022B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67269" name="Rectangle 7">
            <a:extLst>
              <a:ext uri="{FF2B5EF4-FFF2-40B4-BE49-F238E27FC236}">
                <a16:creationId xmlns:a16="http://schemas.microsoft.com/office/drawing/2014/main" id="{78A5410D-49CB-4882-B3FB-99AC59EB2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DC1CF6-C3B9-4A23-B20F-E1645D5C0334}" type="slidenum">
              <a:rPr lang="en-AU" altLang="en-US" sz="1300">
                <a:latin typeface="Times New Roman" panose="02020603050405020304" pitchFamily="18" charset="0"/>
              </a:rPr>
              <a:pPr/>
              <a:t>108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67270" name="Rectangle 2">
            <a:extLst>
              <a:ext uri="{FF2B5EF4-FFF2-40B4-BE49-F238E27FC236}">
                <a16:creationId xmlns:a16="http://schemas.microsoft.com/office/drawing/2014/main" id="{03C369D5-62DC-43CC-AAD6-A23580726C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71" name="Rectangle 3">
            <a:extLst>
              <a:ext uri="{FF2B5EF4-FFF2-40B4-BE49-F238E27FC236}">
                <a16:creationId xmlns:a16="http://schemas.microsoft.com/office/drawing/2014/main" id="{F3154C3A-7146-4A31-979C-7F00B5E2B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229DB258-AD32-417C-A000-964332AB9F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65FFA1F0-18C9-4CDD-BE5D-5528B5A468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F471E4-961A-448D-AD47-D0DF3A162E3A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0340" name="Rectangle 6">
            <a:extLst>
              <a:ext uri="{FF2B5EF4-FFF2-40B4-BE49-F238E27FC236}">
                <a16:creationId xmlns:a16="http://schemas.microsoft.com/office/drawing/2014/main" id="{961DAB51-8DE9-4743-B1ED-C3DF2964F2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0341" name="Rectangle 7">
            <a:extLst>
              <a:ext uri="{FF2B5EF4-FFF2-40B4-BE49-F238E27FC236}">
                <a16:creationId xmlns:a16="http://schemas.microsoft.com/office/drawing/2014/main" id="{18D9E886-48FC-423C-98D4-E6F3CD391C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37FA24-4592-4C7B-BF70-502402695E62}" type="slidenum">
              <a:rPr lang="en-AU" altLang="en-US" sz="1300">
                <a:latin typeface="Times New Roman" panose="02020603050405020304" pitchFamily="18" charset="0"/>
              </a:rPr>
              <a:pPr/>
              <a:t>109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0342" name="Rectangle 2">
            <a:extLst>
              <a:ext uri="{FF2B5EF4-FFF2-40B4-BE49-F238E27FC236}">
                <a16:creationId xmlns:a16="http://schemas.microsoft.com/office/drawing/2014/main" id="{DEA821CF-27BB-41F2-A91C-48E290403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3" name="Rectangle 3">
            <a:extLst>
              <a:ext uri="{FF2B5EF4-FFF2-40B4-BE49-F238E27FC236}">
                <a16:creationId xmlns:a16="http://schemas.microsoft.com/office/drawing/2014/main" id="{D56BEC0E-A1D0-4E27-BF02-F9C37C10D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CAA3BB65-B727-431C-AB0D-402084238F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0E2F068D-C416-4313-A309-D2AC0242268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F4C057-1EE8-4275-96F6-D5239DCE5E6E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1364" name="Rectangle 6">
            <a:extLst>
              <a:ext uri="{FF2B5EF4-FFF2-40B4-BE49-F238E27FC236}">
                <a16:creationId xmlns:a16="http://schemas.microsoft.com/office/drawing/2014/main" id="{62E4D74B-E7D4-42D8-B46A-CB8D4F6C03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1365" name="Rectangle 7">
            <a:extLst>
              <a:ext uri="{FF2B5EF4-FFF2-40B4-BE49-F238E27FC236}">
                <a16:creationId xmlns:a16="http://schemas.microsoft.com/office/drawing/2014/main" id="{D2E6079C-6719-4BE3-A3E0-16BF12C2FB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635E93-AFB5-444F-8FBC-E9A242B73E71}" type="slidenum">
              <a:rPr lang="en-AU" altLang="en-US" sz="1300">
                <a:latin typeface="Times New Roman" panose="02020603050405020304" pitchFamily="18" charset="0"/>
              </a:rPr>
              <a:pPr/>
              <a:t>110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1366" name="Rectangle 2">
            <a:extLst>
              <a:ext uri="{FF2B5EF4-FFF2-40B4-BE49-F238E27FC236}">
                <a16:creationId xmlns:a16="http://schemas.microsoft.com/office/drawing/2014/main" id="{922D1081-F08E-41CC-81C0-D95729234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7" name="Rectangle 3">
            <a:extLst>
              <a:ext uri="{FF2B5EF4-FFF2-40B4-BE49-F238E27FC236}">
                <a16:creationId xmlns:a16="http://schemas.microsoft.com/office/drawing/2014/main" id="{1F0872DC-EA54-4FF9-A78F-7A1A68449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281967CD-1223-4D9F-9E77-97C23F123E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2CFC86DF-B59B-46C0-BC85-3A49B4809F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AD099E-1E55-43DD-A4B4-8490A9C1F2E8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2388" name="Rectangle 6">
            <a:extLst>
              <a:ext uri="{FF2B5EF4-FFF2-40B4-BE49-F238E27FC236}">
                <a16:creationId xmlns:a16="http://schemas.microsoft.com/office/drawing/2014/main" id="{1224AA05-F33B-4DF8-8FDD-4B0892709D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2389" name="Rectangle 7">
            <a:extLst>
              <a:ext uri="{FF2B5EF4-FFF2-40B4-BE49-F238E27FC236}">
                <a16:creationId xmlns:a16="http://schemas.microsoft.com/office/drawing/2014/main" id="{163CF82F-95E6-4307-A916-630924BEF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1C26DC-6626-462D-900E-9B08807843D4}" type="slidenum">
              <a:rPr lang="en-AU" altLang="en-US" sz="1300">
                <a:latin typeface="Times New Roman" panose="02020603050405020304" pitchFamily="18" charset="0"/>
              </a:rPr>
              <a:pPr/>
              <a:t>111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2390" name="Rectangle 2">
            <a:extLst>
              <a:ext uri="{FF2B5EF4-FFF2-40B4-BE49-F238E27FC236}">
                <a16:creationId xmlns:a16="http://schemas.microsoft.com/office/drawing/2014/main" id="{44D079F9-2325-4431-A877-66DBA80F20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91" name="Rectangle 3">
            <a:extLst>
              <a:ext uri="{FF2B5EF4-FFF2-40B4-BE49-F238E27FC236}">
                <a16:creationId xmlns:a16="http://schemas.microsoft.com/office/drawing/2014/main" id="{C49E1E3B-495E-47E0-9F5F-526015045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41744338-0AEF-448D-AF6F-F17FC79810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E85EA862-F0F8-4644-BA87-B797E4D9AF4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D88475-04B4-46B7-A31B-A26DBEF2F023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3412" name="Rectangle 6">
            <a:extLst>
              <a:ext uri="{FF2B5EF4-FFF2-40B4-BE49-F238E27FC236}">
                <a16:creationId xmlns:a16="http://schemas.microsoft.com/office/drawing/2014/main" id="{D6000FB2-4ADC-479B-A6DE-82D83BEAE9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3413" name="Rectangle 7">
            <a:extLst>
              <a:ext uri="{FF2B5EF4-FFF2-40B4-BE49-F238E27FC236}">
                <a16:creationId xmlns:a16="http://schemas.microsoft.com/office/drawing/2014/main" id="{EDFB582D-3B06-4ED5-8D1E-BCC1580B9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FDA775-29A4-4E0F-82A9-D5CD95DFED61}" type="slidenum">
              <a:rPr lang="en-AU" altLang="en-US" sz="1300">
                <a:latin typeface="Times New Roman" panose="02020603050405020304" pitchFamily="18" charset="0"/>
              </a:rPr>
              <a:pPr/>
              <a:t>117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3414" name="Rectangle 2">
            <a:extLst>
              <a:ext uri="{FF2B5EF4-FFF2-40B4-BE49-F238E27FC236}">
                <a16:creationId xmlns:a16="http://schemas.microsoft.com/office/drawing/2014/main" id="{5F47DB68-61E5-4B88-9719-885481030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5" name="Rectangle 3">
            <a:extLst>
              <a:ext uri="{FF2B5EF4-FFF2-40B4-BE49-F238E27FC236}">
                <a16:creationId xmlns:a16="http://schemas.microsoft.com/office/drawing/2014/main" id="{5135578F-F9E0-4F0D-A4FE-E8D67E22E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1F9340E7-046B-42B2-9E76-6FD131E98E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2087F6ED-5F34-48FC-BEDE-3BF2FAC43C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D7D586-46CE-4CB4-A8A7-BBE3F46FB2A5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4436" name="Rectangle 6">
            <a:extLst>
              <a:ext uri="{FF2B5EF4-FFF2-40B4-BE49-F238E27FC236}">
                <a16:creationId xmlns:a16="http://schemas.microsoft.com/office/drawing/2014/main" id="{90621CED-4122-4346-8C1F-92B05DB9CB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4437" name="Rectangle 7">
            <a:extLst>
              <a:ext uri="{FF2B5EF4-FFF2-40B4-BE49-F238E27FC236}">
                <a16:creationId xmlns:a16="http://schemas.microsoft.com/office/drawing/2014/main" id="{198957D5-BFD7-49F0-9E96-93FF8C5FD8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77C148-AE89-49AB-AECD-F1CE57C2EB91}" type="slidenum">
              <a:rPr lang="en-AU" altLang="en-US" sz="1300">
                <a:latin typeface="Times New Roman" panose="02020603050405020304" pitchFamily="18" charset="0"/>
              </a:rPr>
              <a:pPr/>
              <a:t>118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4438" name="Rectangle 2">
            <a:extLst>
              <a:ext uri="{FF2B5EF4-FFF2-40B4-BE49-F238E27FC236}">
                <a16:creationId xmlns:a16="http://schemas.microsoft.com/office/drawing/2014/main" id="{86DD799D-57A7-4960-B769-5665B8AE03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9" name="Rectangle 3">
            <a:extLst>
              <a:ext uri="{FF2B5EF4-FFF2-40B4-BE49-F238E27FC236}">
                <a16:creationId xmlns:a16="http://schemas.microsoft.com/office/drawing/2014/main" id="{20E74F2D-0198-43F1-AF3E-6407D4819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957CC7D5-722D-4763-9A0B-D60FAE5CA5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B3F847A-9946-4F42-A7A3-0F4B84B0A34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4DA523-49C6-48B6-AFC9-8258FCFC9D3F}" type="datetime3">
              <a:rPr lang="en-AU" altLang="en-US" sz="1300" smtClean="0">
                <a:latin typeface="Times New Roman" panose="02020603050405020304" pitchFamily="18" charset="0"/>
              </a:rPr>
              <a:pPr/>
              <a:t>25 January, 2023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5460" name="Rectangle 6">
            <a:extLst>
              <a:ext uri="{FF2B5EF4-FFF2-40B4-BE49-F238E27FC236}">
                <a16:creationId xmlns:a16="http://schemas.microsoft.com/office/drawing/2014/main" id="{1E90BF62-1C69-4EE2-83A7-B2A228E6B0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275461" name="Rectangle 7">
            <a:extLst>
              <a:ext uri="{FF2B5EF4-FFF2-40B4-BE49-F238E27FC236}">
                <a16:creationId xmlns:a16="http://schemas.microsoft.com/office/drawing/2014/main" id="{C2D55CD2-0527-476B-9C57-177BC26BD4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70512C-C72D-45BC-A6D1-69B3CF66B072}" type="slidenum">
              <a:rPr lang="en-AU" altLang="en-US" sz="1300">
                <a:latin typeface="Times New Roman" panose="02020603050405020304" pitchFamily="18" charset="0"/>
              </a:rPr>
              <a:pPr/>
              <a:t>119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275462" name="Rectangle 2">
            <a:extLst>
              <a:ext uri="{FF2B5EF4-FFF2-40B4-BE49-F238E27FC236}">
                <a16:creationId xmlns:a16="http://schemas.microsoft.com/office/drawing/2014/main" id="{FAEDB0F1-02B3-4C28-8286-F2537AD9B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3" name="Rectangle 3">
            <a:extLst>
              <a:ext uri="{FF2B5EF4-FFF2-40B4-BE49-F238E27FC236}">
                <a16:creationId xmlns:a16="http://schemas.microsoft.com/office/drawing/2014/main" id="{ED0BC060-702C-4642-AEF0-2A100CA01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pic>
        <p:nvPicPr>
          <p:cNvPr id="8" name="Picture 40" descr="MKP-logo-white-transpar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9725"/>
            <a:ext cx="13604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" name="Rectangle 48"/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pic>
        <p:nvPicPr>
          <p:cNvPr id="11" name="Picture 51" descr="Ti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5888"/>
            <a:ext cx="64246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2" descr="4th-edi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813" y="188913"/>
            <a:ext cx="730250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charset="0"/>
              </a:defRPr>
            </a:lvl1pPr>
          </a:lstStyle>
          <a:p>
            <a:pPr lvl="0"/>
            <a:r>
              <a:rPr lang="en-AU" noProof="0"/>
              <a:t>Chapter …</a:t>
            </a:r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charset="0"/>
              <a:buNone/>
              <a:defRPr>
                <a:latin typeface="Arial Black" charset="0"/>
              </a:defRPr>
            </a:lvl1pPr>
          </a:lstStyle>
          <a:p>
            <a:pPr lvl="0"/>
            <a:r>
              <a:rPr lang="en-AU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9076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6BEA6252-4203-2A47-ADA6-15D3BE0B9C1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57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BDE02E30-CC46-9A48-8A25-DFC3A79DFC4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711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9F90F664-F920-DB43-BA3E-2D85C2907E3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65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46FD30DE-BF87-0448-B3D9-93792CA7951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04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2C079F3F-DF35-F94B-BB2A-F8647060239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490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ADF0345C-7FDF-644A-B77B-54D20C74C0E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88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CBC8635E-6364-B14E-9F37-B16D31D33A2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58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27776140-5D41-5F41-A439-D6210B3FCEE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238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995D54D2-8C88-1F4E-9B33-DA888824735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03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AB3A32A8-5614-C941-8172-4A9F20E7A2D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06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6" name="Rectangle 26"/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09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4097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cs typeface="+mn-cs"/>
              </a:defRPr>
            </a:lvl1pPr>
          </a:lstStyle>
          <a:p>
            <a:pPr>
              <a:defRPr/>
            </a:pPr>
            <a:r>
              <a:rPr lang="en-AU"/>
              <a:t>Chapter 4 — The Processor — </a:t>
            </a:r>
            <a:fld id="{3A7BBA59-5700-F24B-B472-674F23194A0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pic>
        <p:nvPicPr>
          <p:cNvPr id="1030" name="Picture 24" descr="MKP-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308725"/>
            <a:ext cx="1371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5" name="Rectangle 25"/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charset="0"/>
        <a:buChar char="n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charset="0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55650" y="1844675"/>
            <a:ext cx="7486650" cy="762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cs typeface="+mj-cs"/>
              </a:rPr>
              <a:t>Chapter 4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84213" y="3068638"/>
            <a:ext cx="7775575" cy="584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cs typeface="+mn-cs"/>
              </a:rPr>
              <a:t>The Processor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4EA86F6-18CA-6E49-BBAF-098E1A488DA6}" type="slidenum">
              <a:rPr lang="en-AU"/>
              <a:pPr>
                <a:defRPr/>
              </a:pPr>
              <a:t>2</a:t>
            </a:fld>
            <a:endParaRPr lang="en-AU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Introduction</a:t>
            </a:r>
            <a:endParaRPr lang="en-AU">
              <a:cs typeface="+mj-cs"/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CPU performance factors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Instruction count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/>
              <a:t>Determined by ISA and compiler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CPI and Cycle time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/>
              <a:t>Determined by CPU hardware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We will examine two MIPS implementations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A simplified version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A more realistic pipelined version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Simple subset, shows most aspects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Memory reference: </a:t>
            </a:r>
            <a:r>
              <a:rPr lang="en-US" sz="2400">
                <a:latin typeface="Lucida Console" charset="0"/>
              </a:rPr>
              <a:t>lw</a:t>
            </a:r>
            <a:r>
              <a:rPr lang="en-US" sz="2400"/>
              <a:t>, </a:t>
            </a:r>
            <a:r>
              <a:rPr lang="en-US" sz="2400">
                <a:latin typeface="Lucida Console" charset="0"/>
              </a:rPr>
              <a:t>sw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Arithmetic/logical: </a:t>
            </a:r>
            <a:r>
              <a:rPr lang="en-US" sz="2400">
                <a:latin typeface="Lucida Console" charset="0"/>
              </a:rPr>
              <a:t>add</a:t>
            </a:r>
            <a:r>
              <a:rPr lang="en-US" sz="2400"/>
              <a:t>, </a:t>
            </a:r>
            <a:r>
              <a:rPr lang="en-US" sz="2400">
                <a:latin typeface="Lucida Console" charset="0"/>
              </a:rPr>
              <a:t>sub</a:t>
            </a:r>
            <a:r>
              <a:rPr lang="en-US" sz="2400"/>
              <a:t>, </a:t>
            </a:r>
            <a:r>
              <a:rPr lang="en-US" sz="2400">
                <a:latin typeface="Lucida Console" charset="0"/>
              </a:rPr>
              <a:t>and</a:t>
            </a:r>
            <a:r>
              <a:rPr lang="en-US" sz="2400"/>
              <a:t>, </a:t>
            </a:r>
            <a:r>
              <a:rPr lang="en-US" sz="2400">
                <a:latin typeface="Lucida Console" charset="0"/>
              </a:rPr>
              <a:t>or</a:t>
            </a:r>
            <a:r>
              <a:rPr lang="en-US" sz="2400"/>
              <a:t>, </a:t>
            </a:r>
            <a:r>
              <a:rPr lang="en-US" sz="2400">
                <a:latin typeface="Lucida Console" charset="0"/>
              </a:rPr>
              <a:t>slt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Control transfer: </a:t>
            </a:r>
            <a:r>
              <a:rPr lang="en-US" sz="2400">
                <a:latin typeface="Lucida Console" charset="0"/>
              </a:rPr>
              <a:t>beq</a:t>
            </a:r>
            <a:r>
              <a:rPr lang="en-US" sz="2400"/>
              <a:t>, </a:t>
            </a:r>
            <a:r>
              <a:rPr lang="en-US" sz="2400">
                <a:latin typeface="Lucida Console" charset="0"/>
              </a:rPr>
              <a:t>j</a:t>
            </a:r>
          </a:p>
        </p:txBody>
      </p:sp>
      <p:sp>
        <p:nvSpPr>
          <p:cNvPr id="240644" name="Text Box 4"/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solidFill>
                  <a:schemeClr val="folHlink"/>
                </a:solidFill>
                <a:cs typeface="+mn-cs"/>
              </a:rPr>
              <a:t>§4.1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EE702B1-F318-C948-8188-C17E7DA2F680}" type="slidenum">
              <a:rPr lang="en-AU"/>
              <a:pPr>
                <a:defRPr/>
              </a:pPr>
              <a:t>3</a:t>
            </a:fld>
            <a:endParaRPr lang="en-AU"/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Instruction Execution</a:t>
            </a:r>
            <a:endParaRPr lang="en-AU">
              <a:cs typeface="+mj-cs"/>
            </a:endParaRP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>
                <a:cs typeface="+mn-cs"/>
              </a:rPr>
              <a:t>PC </a:t>
            </a:r>
            <a:r>
              <a:rPr lang="en-US" sz="2800">
                <a:cs typeface="+mn-cs"/>
                <a:sym typeface="Symbol" charset="0"/>
              </a:rPr>
              <a:t> instruction memory, fetch instruction</a:t>
            </a:r>
          </a:p>
          <a:p>
            <a:pPr eaLnBrk="1" hangingPunct="1">
              <a:defRPr/>
            </a:pPr>
            <a:r>
              <a:rPr lang="en-US" sz="2800">
                <a:cs typeface="+mn-cs"/>
                <a:sym typeface="Symbol" charset="0"/>
              </a:rPr>
              <a:t>Register numbers</a:t>
            </a:r>
            <a:r>
              <a:rPr lang="en-US" sz="2800">
                <a:cs typeface="+mn-cs"/>
              </a:rPr>
              <a:t> </a:t>
            </a:r>
            <a:r>
              <a:rPr lang="en-US" sz="2800">
                <a:cs typeface="+mn-cs"/>
                <a:sym typeface="Symbol" charset="0"/>
              </a:rPr>
              <a:t> register file, read registers</a:t>
            </a:r>
          </a:p>
          <a:p>
            <a:pPr eaLnBrk="1" hangingPunct="1">
              <a:defRPr/>
            </a:pPr>
            <a:r>
              <a:rPr lang="en-US" sz="2800">
                <a:cs typeface="+mn-cs"/>
                <a:sym typeface="Symbol" charset="0"/>
              </a:rPr>
              <a:t>Depending on instruction class</a:t>
            </a:r>
          </a:p>
          <a:p>
            <a:pPr lvl="1" eaLnBrk="1" hangingPunct="1">
              <a:defRPr/>
            </a:pPr>
            <a:r>
              <a:rPr lang="en-US" sz="2400">
                <a:sym typeface="Symbol" charset="0"/>
              </a:rPr>
              <a:t>Use ALU to calculate</a:t>
            </a:r>
          </a:p>
          <a:p>
            <a:pPr lvl="2" eaLnBrk="1" hangingPunct="1">
              <a:defRPr/>
            </a:pPr>
            <a:r>
              <a:rPr lang="en-US" sz="2000">
                <a:sym typeface="Symbol" charset="0"/>
              </a:rPr>
              <a:t>Arithmetic result</a:t>
            </a:r>
          </a:p>
          <a:p>
            <a:pPr lvl="2" eaLnBrk="1" hangingPunct="1">
              <a:defRPr/>
            </a:pPr>
            <a:r>
              <a:rPr lang="en-US" sz="2000">
                <a:sym typeface="Symbol" charset="0"/>
              </a:rPr>
              <a:t>Memory address for load/store</a:t>
            </a:r>
          </a:p>
          <a:p>
            <a:pPr lvl="2" eaLnBrk="1" hangingPunct="1">
              <a:defRPr/>
            </a:pPr>
            <a:r>
              <a:rPr lang="en-US" sz="2000">
                <a:sym typeface="Symbol" charset="0"/>
              </a:rPr>
              <a:t>Branch target address</a:t>
            </a:r>
          </a:p>
          <a:p>
            <a:pPr lvl="1" eaLnBrk="1" hangingPunct="1">
              <a:defRPr/>
            </a:pPr>
            <a:r>
              <a:rPr lang="en-US" sz="2400">
                <a:sym typeface="Symbol" charset="0"/>
              </a:rPr>
              <a:t>Access data memory for load/store</a:t>
            </a:r>
          </a:p>
          <a:p>
            <a:pPr lvl="1" eaLnBrk="1" hangingPunct="1">
              <a:defRPr/>
            </a:pPr>
            <a:r>
              <a:rPr lang="en-US" sz="2400">
                <a:sym typeface="Symbol" charset="0"/>
              </a:rPr>
              <a:t>PC  target address or PC + 4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55A5F46-86A3-BE4E-BF18-E58B748E8560}" type="slidenum">
              <a:rPr lang="en-AU"/>
              <a:pPr>
                <a:defRPr/>
              </a:pPr>
              <a:t>4</a:t>
            </a:fld>
            <a:endParaRPr lang="en-AU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CPU Overview</a:t>
            </a:r>
            <a:endParaRPr lang="en-AU">
              <a:cs typeface="+mj-cs"/>
            </a:endParaRPr>
          </a:p>
        </p:txBody>
      </p:sp>
      <p:pic>
        <p:nvPicPr>
          <p:cNvPr id="11267" name="Picture 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57338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BB221B1-4674-4245-B59B-2E2C7AC8C4FD}" type="slidenum">
              <a:rPr lang="en-AU"/>
              <a:pPr>
                <a:defRPr/>
              </a:pPr>
              <a:t>5</a:t>
            </a:fld>
            <a:endParaRPr lang="en-AU"/>
          </a:p>
        </p:txBody>
      </p:sp>
      <p:pic>
        <p:nvPicPr>
          <p:cNvPr id="13314" name="Picture 14" descr="f04-0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57338"/>
            <a:ext cx="7739062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3171" name="Oval 3"/>
          <p:cNvSpPr>
            <a:spLocks noChangeArrowheads="1"/>
          </p:cNvSpPr>
          <p:nvPr/>
        </p:nvSpPr>
        <p:spPr bwMode="auto">
          <a:xfrm>
            <a:off x="6191250" y="2995613"/>
            <a:ext cx="936625" cy="86518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85FFD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2" name="Oval 4"/>
          <p:cNvSpPr>
            <a:spLocks noChangeArrowheads="1"/>
          </p:cNvSpPr>
          <p:nvPr/>
        </p:nvSpPr>
        <p:spPr bwMode="auto">
          <a:xfrm>
            <a:off x="3132138" y="1195388"/>
            <a:ext cx="936625" cy="86518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85FFD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Multiplexers</a:t>
            </a:r>
            <a:endParaRPr lang="en-AU">
              <a:cs typeface="+mj-cs"/>
            </a:endParaRPr>
          </a:p>
        </p:txBody>
      </p:sp>
      <p:sp>
        <p:nvSpPr>
          <p:cNvPr id="263174" name="Line 6"/>
          <p:cNvSpPr>
            <a:spLocks noChangeShapeType="1"/>
          </p:cNvSpPr>
          <p:nvPr/>
        </p:nvSpPr>
        <p:spPr bwMode="auto">
          <a:xfrm flipH="1">
            <a:off x="3348038" y="1484313"/>
            <a:ext cx="57626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5" name="Arc 7"/>
          <p:cNvSpPr>
            <a:spLocks/>
          </p:cNvSpPr>
          <p:nvPr/>
        </p:nvSpPr>
        <p:spPr bwMode="auto">
          <a:xfrm rot="-10800000" flipH="1" flipV="1">
            <a:off x="3348038" y="1700213"/>
            <a:ext cx="287337" cy="2159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6" name="Line 8"/>
          <p:cNvSpPr>
            <a:spLocks noChangeShapeType="1"/>
          </p:cNvSpPr>
          <p:nvPr/>
        </p:nvSpPr>
        <p:spPr bwMode="auto">
          <a:xfrm flipH="1">
            <a:off x="6372225" y="3284538"/>
            <a:ext cx="5762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7" name="Arc 9"/>
          <p:cNvSpPr>
            <a:spLocks/>
          </p:cNvSpPr>
          <p:nvPr/>
        </p:nvSpPr>
        <p:spPr bwMode="auto">
          <a:xfrm rot="-10800000" flipH="1" flipV="1">
            <a:off x="6372225" y="3500438"/>
            <a:ext cx="287338" cy="2159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8" name="Oval 10"/>
          <p:cNvSpPr>
            <a:spLocks noChangeArrowheads="1"/>
          </p:cNvSpPr>
          <p:nvPr/>
        </p:nvSpPr>
        <p:spPr bwMode="auto">
          <a:xfrm>
            <a:off x="5362575" y="4581525"/>
            <a:ext cx="936625" cy="86518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85FFD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9" name="Line 11"/>
          <p:cNvSpPr>
            <a:spLocks noChangeShapeType="1"/>
          </p:cNvSpPr>
          <p:nvPr/>
        </p:nvSpPr>
        <p:spPr bwMode="auto">
          <a:xfrm>
            <a:off x="5651500" y="4797425"/>
            <a:ext cx="3587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80" name="Arc 12"/>
          <p:cNvSpPr>
            <a:spLocks/>
          </p:cNvSpPr>
          <p:nvPr/>
        </p:nvSpPr>
        <p:spPr bwMode="auto">
          <a:xfrm rot="10800000" flipV="1">
            <a:off x="5899150" y="5013325"/>
            <a:ext cx="144463" cy="2889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81" name="Rectangle 13"/>
          <p:cNvSpPr>
            <a:spLocks noChangeArrowheads="1"/>
          </p:cNvSpPr>
          <p:nvPr/>
        </p:nvSpPr>
        <p:spPr bwMode="auto">
          <a:xfrm>
            <a:off x="5508625" y="1196975"/>
            <a:ext cx="3527425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2800">
                <a:cs typeface="+mn-cs"/>
              </a:rPr>
              <a:t>Can’t just join wires together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AU" sz="2400">
                <a:cs typeface="+mn-cs"/>
              </a:rPr>
              <a:t>Use multiplexers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49B9C3F-E0C2-6A47-B970-A90CFB2FE0B0}" type="slidenum">
              <a:rPr lang="en-AU"/>
              <a:pPr>
                <a:defRPr/>
              </a:pPr>
              <a:t>6</a:t>
            </a:fld>
            <a:endParaRPr lang="en-AU"/>
          </a:p>
        </p:txBody>
      </p:sp>
      <p:pic>
        <p:nvPicPr>
          <p:cNvPr id="15362" name="Picture 5" descr="f04-0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125538"/>
            <a:ext cx="7007225" cy="527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Control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17F2C33-12D3-1340-96FD-D17991B4362D}" type="slidenum">
              <a:rPr lang="en-AU"/>
              <a:pPr>
                <a:defRPr/>
              </a:pPr>
              <a:t>7</a:t>
            </a:fld>
            <a:endParaRPr lang="en-AU"/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Logic Design Basics</a:t>
            </a:r>
            <a:endParaRPr lang="en-AU">
              <a:cs typeface="+mj-cs"/>
            </a:endParaRPr>
          </a:p>
        </p:txBody>
      </p:sp>
      <p:sp>
        <p:nvSpPr>
          <p:cNvPr id="269315" name="Text Box 3"/>
          <p:cNvSpPr txBox="1">
            <a:spLocks noChangeArrowheads="1"/>
          </p:cNvSpPr>
          <p:nvPr/>
        </p:nvSpPr>
        <p:spPr bwMode="auto">
          <a:xfrm rot="5400000">
            <a:off x="7287419" y="1489869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solidFill>
                  <a:schemeClr val="folHlink"/>
                </a:solidFill>
                <a:cs typeface="+mn-cs"/>
              </a:rPr>
              <a:t>§4.2 Logic Design Conventions</a:t>
            </a:r>
          </a:p>
        </p:txBody>
      </p:sp>
      <p:sp>
        <p:nvSpPr>
          <p:cNvPr id="26931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Information encoded in binary</a:t>
            </a:r>
          </a:p>
          <a:p>
            <a:pPr lvl="1" eaLnBrk="1" hangingPunct="1">
              <a:defRPr/>
            </a:pPr>
            <a:r>
              <a:rPr lang="en-US"/>
              <a:t>Low voltage = 0, High voltage = 1</a:t>
            </a:r>
          </a:p>
          <a:p>
            <a:pPr lvl="1" eaLnBrk="1" hangingPunct="1">
              <a:defRPr/>
            </a:pPr>
            <a:r>
              <a:rPr lang="en-US"/>
              <a:t>One wire per bit</a:t>
            </a:r>
          </a:p>
          <a:p>
            <a:pPr lvl="1" eaLnBrk="1" hangingPunct="1">
              <a:defRPr/>
            </a:pPr>
            <a:r>
              <a:rPr lang="en-US"/>
              <a:t>Multi-bit data encoded on multi-wire buses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Combinational element</a:t>
            </a:r>
          </a:p>
          <a:p>
            <a:pPr lvl="1" eaLnBrk="1" hangingPunct="1">
              <a:defRPr/>
            </a:pPr>
            <a:r>
              <a:rPr lang="en-US"/>
              <a:t>Operate on data</a:t>
            </a:r>
          </a:p>
          <a:p>
            <a:pPr lvl="1" eaLnBrk="1" hangingPunct="1">
              <a:defRPr/>
            </a:pPr>
            <a:r>
              <a:rPr lang="en-US"/>
              <a:t>Output is a function of input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State (sequential) elements</a:t>
            </a:r>
          </a:p>
          <a:p>
            <a:pPr lvl="1" eaLnBrk="1" hangingPunct="1">
              <a:defRPr/>
            </a:pPr>
            <a:r>
              <a:rPr lang="en-US"/>
              <a:t>Store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36003D5D-8363-F941-829F-1121C02FBFF6}" type="slidenum">
              <a:rPr lang="en-AU"/>
              <a:pPr>
                <a:defRPr/>
              </a:pPr>
              <a:t>8</a:t>
            </a:fld>
            <a:endParaRPr lang="en-AU"/>
          </a:p>
        </p:txBody>
      </p:sp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Combinational Elements</a:t>
            </a:r>
            <a:endParaRPr lang="en-AU">
              <a:cs typeface="+mj-cs"/>
            </a:endParaRP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3101975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AND-gate</a:t>
            </a:r>
          </a:p>
          <a:p>
            <a:pPr lvl="1" eaLnBrk="1" hangingPunct="1">
              <a:defRPr/>
            </a:pPr>
            <a:r>
              <a:rPr lang="en-US"/>
              <a:t>Y = A &amp; B</a:t>
            </a: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1258888" y="2641600"/>
            <a:ext cx="1560512" cy="655638"/>
            <a:chOff x="249" y="2299"/>
            <a:chExt cx="983" cy="413"/>
          </a:xfrm>
        </p:grpSpPr>
        <p:grpSp>
          <p:nvGrpSpPr>
            <p:cNvPr id="19512" name="Group 5"/>
            <p:cNvGrpSpPr>
              <a:grpSpLocks/>
            </p:cNvGrpSpPr>
            <p:nvPr/>
          </p:nvGrpSpPr>
          <p:grpSpPr bwMode="auto"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271366" name="Arc 6"/>
              <p:cNvSpPr>
                <a:spLocks/>
              </p:cNvSpPr>
              <p:nvPr/>
            </p:nvSpPr>
            <p:spPr bwMode="auto">
              <a:xfrm>
                <a:off x="701" y="1889"/>
                <a:ext cx="139" cy="272"/>
              </a:xfrm>
              <a:custGeom>
                <a:avLst/>
                <a:gdLst>
                  <a:gd name="G0" fmla="+- 480 0 0"/>
                  <a:gd name="G1" fmla="+- 21600 0 0"/>
                  <a:gd name="G2" fmla="+- 21600 0 0"/>
                  <a:gd name="T0" fmla="*/ 480 w 22080"/>
                  <a:gd name="T1" fmla="*/ 0 h 43200"/>
                  <a:gd name="T2" fmla="*/ 0 w 22080"/>
                  <a:gd name="T3" fmla="*/ 43195 h 43200"/>
                  <a:gd name="T4" fmla="*/ 480 w 2208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080" h="43200" fill="none" extrusionOk="0">
                    <a:moveTo>
                      <a:pt x="480" y="-1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199"/>
                      <a:pt x="159" y="43198"/>
                      <a:pt x="0" y="43194"/>
                    </a:cubicBezTo>
                  </a:path>
                  <a:path w="22080" h="43200" stroke="0" extrusionOk="0">
                    <a:moveTo>
                      <a:pt x="480" y="-1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199"/>
                      <a:pt x="159" y="43198"/>
                      <a:pt x="0" y="43194"/>
                    </a:cubicBezTo>
                    <a:lnTo>
                      <a:pt x="48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271367" name="Line 7"/>
              <p:cNvSpPr>
                <a:spLocks noChangeShapeType="1"/>
              </p:cNvSpPr>
              <p:nvPr/>
            </p:nvSpPr>
            <p:spPr bwMode="auto">
              <a:xfrm>
                <a:off x="567" y="1888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271368" name="Line 8"/>
              <p:cNvSpPr>
                <a:spLocks noChangeShapeType="1"/>
              </p:cNvSpPr>
              <p:nvPr/>
            </p:nvSpPr>
            <p:spPr bwMode="auto">
              <a:xfrm>
                <a:off x="567" y="1888"/>
                <a:ext cx="0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271369" name="Line 9"/>
              <p:cNvSpPr>
                <a:spLocks noChangeShapeType="1"/>
              </p:cNvSpPr>
              <p:nvPr/>
            </p:nvSpPr>
            <p:spPr bwMode="auto">
              <a:xfrm>
                <a:off x="567" y="2160"/>
                <a:ext cx="1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271370" name="Line 10"/>
              <p:cNvSpPr>
                <a:spLocks noChangeShapeType="1"/>
              </p:cNvSpPr>
              <p:nvPr/>
            </p:nvSpPr>
            <p:spPr bwMode="auto">
              <a:xfrm>
                <a:off x="431" y="1933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271371" name="Line 11"/>
              <p:cNvSpPr>
                <a:spLocks noChangeShapeType="1"/>
              </p:cNvSpPr>
              <p:nvPr/>
            </p:nvSpPr>
            <p:spPr bwMode="auto">
              <a:xfrm>
                <a:off x="431" y="211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271372" name="Line 12"/>
              <p:cNvSpPr>
                <a:spLocks noChangeShapeType="1"/>
              </p:cNvSpPr>
              <p:nvPr/>
            </p:nvSpPr>
            <p:spPr bwMode="auto">
              <a:xfrm>
                <a:off x="839" y="2024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sp>
          <p:nvSpPr>
            <p:cNvPr id="271373" name="Text Box 13"/>
            <p:cNvSpPr txBox="1">
              <a:spLocks noChangeArrowheads="1"/>
            </p:cNvSpPr>
            <p:nvPr/>
          </p:nvSpPr>
          <p:spPr bwMode="auto"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A</a:t>
              </a:r>
              <a:endParaRPr lang="en-AU" sz="1800">
                <a:cs typeface="+mn-cs"/>
              </a:endParaRPr>
            </a:p>
          </p:txBody>
        </p:sp>
        <p:sp>
          <p:nvSpPr>
            <p:cNvPr id="271374" name="Text Box 14"/>
            <p:cNvSpPr txBox="1">
              <a:spLocks noChangeArrowheads="1"/>
            </p:cNvSpPr>
            <p:nvPr/>
          </p:nvSpPr>
          <p:spPr bwMode="auto"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B</a:t>
              </a:r>
              <a:endParaRPr lang="en-AU" sz="1800">
                <a:cs typeface="+mn-cs"/>
              </a:endParaRPr>
            </a:p>
          </p:txBody>
        </p:sp>
        <p:sp>
          <p:nvSpPr>
            <p:cNvPr id="271375" name="Text Box 15"/>
            <p:cNvSpPr txBox="1">
              <a:spLocks noChangeArrowheads="1"/>
            </p:cNvSpPr>
            <p:nvPr/>
          </p:nvSpPr>
          <p:spPr bwMode="auto"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Y</a:t>
              </a:r>
              <a:endParaRPr lang="en-AU" sz="1800">
                <a:cs typeface="+mn-cs"/>
              </a:endParaRPr>
            </a:p>
          </p:txBody>
        </p:sp>
      </p:grpSp>
      <p:grpSp>
        <p:nvGrpSpPr>
          <p:cNvPr id="19461" name="Group 16"/>
          <p:cNvGrpSpPr>
            <a:grpSpLocks/>
          </p:cNvGrpSpPr>
          <p:nvPr/>
        </p:nvGrpSpPr>
        <p:grpSpPr bwMode="auto">
          <a:xfrm>
            <a:off x="1547813" y="4868863"/>
            <a:ext cx="1416050" cy="1308100"/>
            <a:chOff x="113" y="2840"/>
            <a:chExt cx="892" cy="824"/>
          </a:xfrm>
        </p:grpSpPr>
        <p:sp>
          <p:nvSpPr>
            <p:cNvPr id="271377" name="Line 17"/>
            <p:cNvSpPr>
              <a:spLocks noChangeShapeType="1"/>
            </p:cNvSpPr>
            <p:nvPr/>
          </p:nvSpPr>
          <p:spPr bwMode="auto">
            <a:xfrm>
              <a:off x="340" y="297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78" name="Line 18"/>
            <p:cNvSpPr>
              <a:spLocks noChangeShapeType="1"/>
            </p:cNvSpPr>
            <p:nvPr/>
          </p:nvSpPr>
          <p:spPr bwMode="auto">
            <a:xfrm>
              <a:off x="340" y="315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79" name="Line 19"/>
            <p:cNvSpPr>
              <a:spLocks noChangeShapeType="1"/>
            </p:cNvSpPr>
            <p:nvPr/>
          </p:nvSpPr>
          <p:spPr bwMode="auto">
            <a:xfrm>
              <a:off x="657" y="3067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0" name="Text Box 20"/>
            <p:cNvSpPr txBox="1">
              <a:spLocks noChangeArrowheads="1"/>
            </p:cNvSpPr>
            <p:nvPr/>
          </p:nvSpPr>
          <p:spPr bwMode="auto"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I0</a:t>
              </a:r>
              <a:endParaRPr lang="en-AU" sz="1800">
                <a:cs typeface="+mn-cs"/>
              </a:endParaRPr>
            </a:p>
          </p:txBody>
        </p:sp>
        <p:sp>
          <p:nvSpPr>
            <p:cNvPr id="271381" name="Text Box 21"/>
            <p:cNvSpPr txBox="1">
              <a:spLocks noChangeArrowheads="1"/>
            </p:cNvSpPr>
            <p:nvPr/>
          </p:nvSpPr>
          <p:spPr bwMode="auto"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I1</a:t>
              </a:r>
              <a:endParaRPr lang="en-AU" sz="1800">
                <a:cs typeface="+mn-cs"/>
              </a:endParaRPr>
            </a:p>
          </p:txBody>
        </p:sp>
        <p:sp>
          <p:nvSpPr>
            <p:cNvPr id="271382" name="Text Box 22"/>
            <p:cNvSpPr txBox="1">
              <a:spLocks noChangeArrowheads="1"/>
            </p:cNvSpPr>
            <p:nvPr/>
          </p:nvSpPr>
          <p:spPr bwMode="auto"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Y</a:t>
              </a:r>
              <a:endParaRPr lang="en-AU" sz="1800">
                <a:cs typeface="+mn-cs"/>
              </a:endParaRPr>
            </a:p>
          </p:txBody>
        </p:sp>
        <p:sp>
          <p:nvSpPr>
            <p:cNvPr id="271383" name="Line 23"/>
            <p:cNvSpPr>
              <a:spLocks noChangeShapeType="1"/>
            </p:cNvSpPr>
            <p:nvPr/>
          </p:nvSpPr>
          <p:spPr bwMode="auto">
            <a:xfrm>
              <a:off x="476" y="2931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4" name="Arc 24"/>
            <p:cNvSpPr>
              <a:spLocks/>
            </p:cNvSpPr>
            <p:nvPr/>
          </p:nvSpPr>
          <p:spPr bwMode="auto">
            <a:xfrm>
              <a:off x="567" y="2840"/>
              <a:ext cx="90" cy="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5" name="Arc 25"/>
            <p:cNvSpPr>
              <a:spLocks/>
            </p:cNvSpPr>
            <p:nvPr/>
          </p:nvSpPr>
          <p:spPr bwMode="auto">
            <a:xfrm flipH="1">
              <a:off x="476" y="2840"/>
              <a:ext cx="90" cy="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6" name="Arc 26"/>
            <p:cNvSpPr>
              <a:spLocks/>
            </p:cNvSpPr>
            <p:nvPr/>
          </p:nvSpPr>
          <p:spPr bwMode="auto">
            <a:xfrm flipV="1">
              <a:off x="567" y="3203"/>
              <a:ext cx="90" cy="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7" name="Arc 27"/>
            <p:cNvSpPr>
              <a:spLocks/>
            </p:cNvSpPr>
            <p:nvPr/>
          </p:nvSpPr>
          <p:spPr bwMode="auto">
            <a:xfrm flipH="1" flipV="1">
              <a:off x="476" y="3203"/>
              <a:ext cx="90" cy="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8" name="Line 28"/>
            <p:cNvSpPr>
              <a:spLocks noChangeShapeType="1"/>
            </p:cNvSpPr>
            <p:nvPr/>
          </p:nvSpPr>
          <p:spPr bwMode="auto">
            <a:xfrm>
              <a:off x="657" y="2931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89" name="Text Box 29"/>
            <p:cNvSpPr txBox="1">
              <a:spLocks noChangeArrowheads="1"/>
            </p:cNvSpPr>
            <p:nvPr/>
          </p:nvSpPr>
          <p:spPr bwMode="auto"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36000" rIns="0" bIns="0">
              <a:spAutoFit/>
            </a:bodyPr>
            <a:lstStyle/>
            <a:p>
              <a:pPr>
                <a:defRPr/>
              </a:pPr>
              <a:r>
                <a:rPr lang="en-US" sz="1400">
                  <a:cs typeface="+mn-cs"/>
                </a:rPr>
                <a:t>M</a:t>
              </a:r>
              <a:br>
                <a:rPr lang="en-US" sz="1400">
                  <a:cs typeface="+mn-cs"/>
                </a:rPr>
              </a:br>
              <a:r>
                <a:rPr lang="en-US" sz="1400">
                  <a:cs typeface="+mn-cs"/>
                </a:rPr>
                <a:t>u</a:t>
              </a:r>
              <a:br>
                <a:rPr lang="en-US" sz="1400">
                  <a:cs typeface="+mn-cs"/>
                </a:rPr>
              </a:br>
              <a:r>
                <a:rPr lang="en-US" sz="1400">
                  <a:cs typeface="+mn-cs"/>
                </a:rPr>
                <a:t>x</a:t>
              </a:r>
              <a:endParaRPr lang="en-AU" sz="1400">
                <a:cs typeface="+mn-cs"/>
              </a:endParaRPr>
            </a:p>
          </p:txBody>
        </p:sp>
        <p:sp>
          <p:nvSpPr>
            <p:cNvPr id="271390" name="Line 30"/>
            <p:cNvSpPr>
              <a:spLocks noChangeShapeType="1"/>
            </p:cNvSpPr>
            <p:nvPr/>
          </p:nvSpPr>
          <p:spPr bwMode="auto">
            <a:xfrm flipV="1">
              <a:off x="567" y="329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91" name="Text Box 31"/>
            <p:cNvSpPr txBox="1">
              <a:spLocks noChangeArrowheads="1"/>
            </p:cNvSpPr>
            <p:nvPr/>
          </p:nvSpPr>
          <p:spPr bwMode="auto"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S</a:t>
              </a:r>
              <a:endParaRPr lang="en-AU" sz="1800">
                <a:cs typeface="+mn-cs"/>
              </a:endParaRPr>
            </a:p>
          </p:txBody>
        </p:sp>
      </p:grpSp>
      <p:sp>
        <p:nvSpPr>
          <p:cNvPr id="271392" name="Rectangle 32"/>
          <p:cNvSpPr>
            <a:spLocks noChangeArrowheads="1"/>
          </p:cNvSpPr>
          <p:nvPr/>
        </p:nvSpPr>
        <p:spPr bwMode="auto">
          <a:xfrm>
            <a:off x="684213" y="3644900"/>
            <a:ext cx="324008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3200">
                <a:cs typeface="+mn-cs"/>
              </a:rPr>
              <a:t>Multiplexer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800">
                <a:cs typeface="+mn-cs"/>
              </a:rPr>
              <a:t>Y = S ? I1 : I0</a:t>
            </a:r>
            <a:endParaRPr lang="en-AU" sz="2800">
              <a:cs typeface="+mn-cs"/>
            </a:endParaRPr>
          </a:p>
        </p:txBody>
      </p:sp>
      <p:grpSp>
        <p:nvGrpSpPr>
          <p:cNvPr id="19463" name="Group 33"/>
          <p:cNvGrpSpPr>
            <a:grpSpLocks/>
          </p:cNvGrpSpPr>
          <p:nvPr/>
        </p:nvGrpSpPr>
        <p:grpSpPr bwMode="auto">
          <a:xfrm>
            <a:off x="7092950" y="1484313"/>
            <a:ext cx="1604963" cy="1012825"/>
            <a:chOff x="1111" y="2659"/>
            <a:chExt cx="1011" cy="638"/>
          </a:xfrm>
        </p:grpSpPr>
        <p:sp>
          <p:nvSpPr>
            <p:cNvPr id="271394" name="Line 34"/>
            <p:cNvSpPr>
              <a:spLocks noChangeShapeType="1"/>
            </p:cNvSpPr>
            <p:nvPr/>
          </p:nvSpPr>
          <p:spPr bwMode="auto">
            <a:xfrm>
              <a:off x="1338" y="2795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95" name="Line 35"/>
            <p:cNvSpPr>
              <a:spLocks noChangeShapeType="1"/>
            </p:cNvSpPr>
            <p:nvPr/>
          </p:nvSpPr>
          <p:spPr bwMode="auto">
            <a:xfrm>
              <a:off x="1338" y="315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96" name="Line 36"/>
            <p:cNvSpPr>
              <a:spLocks noChangeShapeType="1"/>
            </p:cNvSpPr>
            <p:nvPr/>
          </p:nvSpPr>
          <p:spPr bwMode="auto">
            <a:xfrm>
              <a:off x="1791" y="297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397" name="Text Box 37"/>
            <p:cNvSpPr txBox="1">
              <a:spLocks noChangeArrowheads="1"/>
            </p:cNvSpPr>
            <p:nvPr/>
          </p:nvSpPr>
          <p:spPr bwMode="auto"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A</a:t>
              </a:r>
              <a:endParaRPr lang="en-AU" sz="1800">
                <a:cs typeface="+mn-cs"/>
              </a:endParaRPr>
            </a:p>
          </p:txBody>
        </p:sp>
        <p:sp>
          <p:nvSpPr>
            <p:cNvPr id="271398" name="Text Box 38"/>
            <p:cNvSpPr txBox="1">
              <a:spLocks noChangeArrowheads="1"/>
            </p:cNvSpPr>
            <p:nvPr/>
          </p:nvSpPr>
          <p:spPr bwMode="auto"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B</a:t>
              </a:r>
              <a:endParaRPr lang="en-AU" sz="1800">
                <a:cs typeface="+mn-cs"/>
              </a:endParaRPr>
            </a:p>
          </p:txBody>
        </p:sp>
        <p:sp>
          <p:nvSpPr>
            <p:cNvPr id="271399" name="Text Box 39"/>
            <p:cNvSpPr txBox="1">
              <a:spLocks noChangeArrowheads="1"/>
            </p:cNvSpPr>
            <p:nvPr/>
          </p:nvSpPr>
          <p:spPr bwMode="auto"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Y</a:t>
              </a:r>
              <a:endParaRPr lang="en-AU" sz="1800">
                <a:cs typeface="+mn-cs"/>
              </a:endParaRPr>
            </a:p>
          </p:txBody>
        </p:sp>
        <p:sp>
          <p:nvSpPr>
            <p:cNvPr id="271400" name="Line 40"/>
            <p:cNvSpPr>
              <a:spLocks noChangeShapeType="1"/>
            </p:cNvSpPr>
            <p:nvPr/>
          </p:nvSpPr>
          <p:spPr bwMode="auto">
            <a:xfrm>
              <a:off x="1474" y="2659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1" name="Line 41"/>
            <p:cNvSpPr>
              <a:spLocks noChangeShapeType="1"/>
            </p:cNvSpPr>
            <p:nvPr/>
          </p:nvSpPr>
          <p:spPr bwMode="auto">
            <a:xfrm>
              <a:off x="1474" y="3067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2" name="Line 42"/>
            <p:cNvSpPr>
              <a:spLocks noChangeShapeType="1"/>
            </p:cNvSpPr>
            <p:nvPr/>
          </p:nvSpPr>
          <p:spPr bwMode="auto">
            <a:xfrm>
              <a:off x="1474" y="2886"/>
              <a:ext cx="91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3" name="Line 43"/>
            <p:cNvSpPr>
              <a:spLocks noChangeShapeType="1"/>
            </p:cNvSpPr>
            <p:nvPr/>
          </p:nvSpPr>
          <p:spPr bwMode="auto">
            <a:xfrm flipH="1">
              <a:off x="1474" y="2976"/>
              <a:ext cx="91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4" name="Line 44"/>
            <p:cNvSpPr>
              <a:spLocks noChangeShapeType="1"/>
            </p:cNvSpPr>
            <p:nvPr/>
          </p:nvSpPr>
          <p:spPr bwMode="auto">
            <a:xfrm>
              <a:off x="1474" y="2659"/>
              <a:ext cx="317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5" name="Line 45"/>
            <p:cNvSpPr>
              <a:spLocks noChangeShapeType="1"/>
            </p:cNvSpPr>
            <p:nvPr/>
          </p:nvSpPr>
          <p:spPr bwMode="auto">
            <a:xfrm flipV="1">
              <a:off x="1474" y="3113"/>
              <a:ext cx="317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6" name="Line 46"/>
            <p:cNvSpPr>
              <a:spLocks noChangeShapeType="1"/>
            </p:cNvSpPr>
            <p:nvPr/>
          </p:nvSpPr>
          <p:spPr bwMode="auto">
            <a:xfrm>
              <a:off x="1791" y="2840"/>
              <a:ext cx="0" cy="2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07" name="Text Box 47"/>
            <p:cNvSpPr txBox="1">
              <a:spLocks noChangeArrowheads="1"/>
            </p:cNvSpPr>
            <p:nvPr/>
          </p:nvSpPr>
          <p:spPr bwMode="auto"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+</a:t>
              </a:r>
              <a:endParaRPr lang="en-AU" sz="1800">
                <a:cs typeface="+mn-cs"/>
              </a:endParaRPr>
            </a:p>
          </p:txBody>
        </p:sp>
      </p:grpSp>
      <p:grpSp>
        <p:nvGrpSpPr>
          <p:cNvPr id="19464" name="Group 48"/>
          <p:cNvGrpSpPr>
            <a:grpSpLocks/>
          </p:cNvGrpSpPr>
          <p:nvPr/>
        </p:nvGrpSpPr>
        <p:grpSpPr bwMode="auto">
          <a:xfrm>
            <a:off x="5580063" y="4575175"/>
            <a:ext cx="1676400" cy="1595438"/>
            <a:chOff x="2699" y="2750"/>
            <a:chExt cx="1056" cy="1005"/>
          </a:xfrm>
        </p:grpSpPr>
        <p:sp>
          <p:nvSpPr>
            <p:cNvPr id="271409" name="Line 49"/>
            <p:cNvSpPr>
              <a:spLocks noChangeShapeType="1"/>
            </p:cNvSpPr>
            <p:nvPr/>
          </p:nvSpPr>
          <p:spPr bwMode="auto">
            <a:xfrm>
              <a:off x="2926" y="2886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0" name="Line 50"/>
            <p:cNvSpPr>
              <a:spLocks noChangeShapeType="1"/>
            </p:cNvSpPr>
            <p:nvPr/>
          </p:nvSpPr>
          <p:spPr bwMode="auto">
            <a:xfrm>
              <a:off x="2926" y="3339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1" name="Line 51"/>
            <p:cNvSpPr>
              <a:spLocks noChangeShapeType="1"/>
            </p:cNvSpPr>
            <p:nvPr/>
          </p:nvSpPr>
          <p:spPr bwMode="auto">
            <a:xfrm>
              <a:off x="3424" y="3113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2" name="Text Box 52"/>
            <p:cNvSpPr txBox="1">
              <a:spLocks noChangeArrowheads="1"/>
            </p:cNvSpPr>
            <p:nvPr/>
          </p:nvSpPr>
          <p:spPr bwMode="auto"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A</a:t>
              </a:r>
              <a:endParaRPr lang="en-AU" sz="1800">
                <a:cs typeface="+mn-cs"/>
              </a:endParaRPr>
            </a:p>
          </p:txBody>
        </p:sp>
        <p:sp>
          <p:nvSpPr>
            <p:cNvPr id="271413" name="Text Box 53"/>
            <p:cNvSpPr txBox="1">
              <a:spLocks noChangeArrowheads="1"/>
            </p:cNvSpPr>
            <p:nvPr/>
          </p:nvSpPr>
          <p:spPr bwMode="auto"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B</a:t>
              </a:r>
              <a:endParaRPr lang="en-AU" sz="1800">
                <a:cs typeface="+mn-cs"/>
              </a:endParaRPr>
            </a:p>
          </p:txBody>
        </p:sp>
        <p:sp>
          <p:nvSpPr>
            <p:cNvPr id="271414" name="Text Box 54"/>
            <p:cNvSpPr txBox="1">
              <a:spLocks noChangeArrowheads="1"/>
            </p:cNvSpPr>
            <p:nvPr/>
          </p:nvSpPr>
          <p:spPr bwMode="auto"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Y</a:t>
              </a:r>
              <a:endParaRPr lang="en-AU" sz="1800">
                <a:cs typeface="+mn-cs"/>
              </a:endParaRPr>
            </a:p>
          </p:txBody>
        </p:sp>
        <p:sp>
          <p:nvSpPr>
            <p:cNvPr id="271415" name="Line 55"/>
            <p:cNvSpPr>
              <a:spLocks noChangeShapeType="1"/>
            </p:cNvSpPr>
            <p:nvPr/>
          </p:nvSpPr>
          <p:spPr bwMode="auto">
            <a:xfrm>
              <a:off x="3061" y="2750"/>
              <a:ext cx="1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6" name="Line 56"/>
            <p:cNvSpPr>
              <a:spLocks noChangeShapeType="1"/>
            </p:cNvSpPr>
            <p:nvPr/>
          </p:nvSpPr>
          <p:spPr bwMode="auto">
            <a:xfrm flipH="1">
              <a:off x="3061" y="3203"/>
              <a:ext cx="1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7" name="Line 57"/>
            <p:cNvSpPr>
              <a:spLocks noChangeShapeType="1"/>
            </p:cNvSpPr>
            <p:nvPr/>
          </p:nvSpPr>
          <p:spPr bwMode="auto">
            <a:xfrm>
              <a:off x="3062" y="3022"/>
              <a:ext cx="91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8" name="Line 58"/>
            <p:cNvSpPr>
              <a:spLocks noChangeShapeType="1"/>
            </p:cNvSpPr>
            <p:nvPr/>
          </p:nvSpPr>
          <p:spPr bwMode="auto">
            <a:xfrm flipH="1">
              <a:off x="3062" y="3112"/>
              <a:ext cx="91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19" name="Line 59"/>
            <p:cNvSpPr>
              <a:spLocks noChangeShapeType="1"/>
            </p:cNvSpPr>
            <p:nvPr/>
          </p:nvSpPr>
          <p:spPr bwMode="auto">
            <a:xfrm>
              <a:off x="3061" y="2750"/>
              <a:ext cx="363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20" name="Line 60"/>
            <p:cNvSpPr>
              <a:spLocks noChangeShapeType="1"/>
            </p:cNvSpPr>
            <p:nvPr/>
          </p:nvSpPr>
          <p:spPr bwMode="auto">
            <a:xfrm flipV="1">
              <a:off x="3061" y="3294"/>
              <a:ext cx="363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21" name="Line 61"/>
            <p:cNvSpPr>
              <a:spLocks noChangeShapeType="1"/>
            </p:cNvSpPr>
            <p:nvPr/>
          </p:nvSpPr>
          <p:spPr bwMode="auto">
            <a:xfrm>
              <a:off x="3424" y="2931"/>
              <a:ext cx="0" cy="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22" name="Text Box 62"/>
            <p:cNvSpPr txBox="1">
              <a:spLocks noChangeArrowheads="1"/>
            </p:cNvSpPr>
            <p:nvPr/>
          </p:nvSpPr>
          <p:spPr bwMode="auto"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ALU</a:t>
              </a:r>
              <a:endParaRPr lang="en-AU" sz="1800">
                <a:cs typeface="+mn-cs"/>
              </a:endParaRPr>
            </a:p>
          </p:txBody>
        </p:sp>
        <p:sp>
          <p:nvSpPr>
            <p:cNvPr id="271423" name="Line 63"/>
            <p:cNvSpPr>
              <a:spLocks noChangeShapeType="1"/>
            </p:cNvSpPr>
            <p:nvPr/>
          </p:nvSpPr>
          <p:spPr bwMode="auto">
            <a:xfrm>
              <a:off x="3243" y="3385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1424" name="Text Box 64"/>
            <p:cNvSpPr txBox="1">
              <a:spLocks noChangeArrowheads="1"/>
            </p:cNvSpPr>
            <p:nvPr/>
          </p:nvSpPr>
          <p:spPr bwMode="auto"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F</a:t>
              </a:r>
              <a:endParaRPr lang="en-AU" sz="1800">
                <a:cs typeface="+mn-cs"/>
              </a:endParaRPr>
            </a:p>
          </p:txBody>
        </p:sp>
      </p:grpSp>
      <p:sp>
        <p:nvSpPr>
          <p:cNvPr id="271425" name="Rectangle 65"/>
          <p:cNvSpPr>
            <a:spLocks noChangeArrowheads="1"/>
          </p:cNvSpPr>
          <p:nvPr/>
        </p:nvSpPr>
        <p:spPr bwMode="auto">
          <a:xfrm>
            <a:off x="4211638" y="1412875"/>
            <a:ext cx="31019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3200">
                <a:cs typeface="+mn-cs"/>
              </a:rPr>
              <a:t>Adder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800">
                <a:cs typeface="+mn-cs"/>
              </a:rPr>
              <a:t>Y = A + B</a:t>
            </a:r>
          </a:p>
        </p:txBody>
      </p:sp>
      <p:sp>
        <p:nvSpPr>
          <p:cNvPr id="271426" name="Rectangle 66"/>
          <p:cNvSpPr>
            <a:spLocks noChangeArrowheads="1"/>
          </p:cNvSpPr>
          <p:nvPr/>
        </p:nvSpPr>
        <p:spPr bwMode="auto">
          <a:xfrm>
            <a:off x="4211638" y="3284538"/>
            <a:ext cx="431958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3200">
                <a:cs typeface="+mn-cs"/>
              </a:rPr>
              <a:t>Arithmetic/Logic Unit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800">
                <a:cs typeface="+mn-cs"/>
              </a:rPr>
              <a:t>Y = F(A, 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26A4106D-2D9D-794A-BF74-C40B538B788D}" type="slidenum">
              <a:rPr lang="en-AU"/>
              <a:pPr>
                <a:defRPr/>
              </a:pPr>
              <a:t>9</a:t>
            </a:fld>
            <a:endParaRPr lang="en-AU"/>
          </a:p>
        </p:txBody>
      </p:sp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Sequential Elements</a:t>
            </a:r>
            <a:endParaRPr lang="en-AU">
              <a:cs typeface="+mj-cs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765425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Register: stores data in a circuit</a:t>
            </a:r>
          </a:p>
          <a:p>
            <a:pPr lvl="1" eaLnBrk="1" hangingPunct="1">
              <a:defRPr/>
            </a:pPr>
            <a:r>
              <a:rPr lang="en-US"/>
              <a:t>Uses a clock signal to determine when to update the stored value</a:t>
            </a:r>
          </a:p>
          <a:p>
            <a:pPr lvl="1" eaLnBrk="1" hangingPunct="1">
              <a:defRPr/>
            </a:pPr>
            <a:r>
              <a:rPr lang="en-US"/>
              <a:t>Edge-triggered: update when Clk changes from 0 to 1</a:t>
            </a:r>
            <a:endParaRPr lang="en-AU"/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755650" y="4365625"/>
            <a:ext cx="2090738" cy="1223963"/>
            <a:chOff x="657" y="2296"/>
            <a:chExt cx="1317" cy="771"/>
          </a:xfrm>
        </p:grpSpPr>
        <p:sp>
          <p:nvSpPr>
            <p:cNvPr id="273413" name="Rectangle 5"/>
            <p:cNvSpPr>
              <a:spLocks noChangeArrowheads="1"/>
            </p:cNvSpPr>
            <p:nvPr/>
          </p:nvSpPr>
          <p:spPr bwMode="auto">
            <a:xfrm>
              <a:off x="1111" y="2296"/>
              <a:ext cx="499" cy="77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14" name="Line 6"/>
            <p:cNvSpPr>
              <a:spLocks noChangeShapeType="1"/>
            </p:cNvSpPr>
            <p:nvPr/>
          </p:nvSpPr>
          <p:spPr bwMode="auto">
            <a:xfrm>
              <a:off x="975" y="247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15" name="Line 7"/>
            <p:cNvSpPr>
              <a:spLocks noChangeShapeType="1"/>
            </p:cNvSpPr>
            <p:nvPr/>
          </p:nvSpPr>
          <p:spPr bwMode="auto">
            <a:xfrm>
              <a:off x="975" y="28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16" name="Line 8"/>
            <p:cNvSpPr>
              <a:spLocks noChangeShapeType="1"/>
            </p:cNvSpPr>
            <p:nvPr/>
          </p:nvSpPr>
          <p:spPr bwMode="auto">
            <a:xfrm>
              <a:off x="1610" y="2478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17" name="Text Box 9"/>
            <p:cNvSpPr txBox="1">
              <a:spLocks noChangeArrowheads="1"/>
            </p:cNvSpPr>
            <p:nvPr/>
          </p:nvSpPr>
          <p:spPr bwMode="auto"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D</a:t>
              </a:r>
              <a:endParaRPr lang="en-AU" sz="1800">
                <a:cs typeface="+mn-cs"/>
              </a:endParaRPr>
            </a:p>
          </p:txBody>
        </p:sp>
        <p:sp>
          <p:nvSpPr>
            <p:cNvPr id="273418" name="Text Box 10"/>
            <p:cNvSpPr txBox="1">
              <a:spLocks noChangeArrowheads="1"/>
            </p:cNvSpPr>
            <p:nvPr/>
          </p:nvSpPr>
          <p:spPr bwMode="auto"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Clk</a:t>
              </a:r>
              <a:endParaRPr lang="en-AU" sz="1800">
                <a:cs typeface="+mn-cs"/>
              </a:endParaRPr>
            </a:p>
          </p:txBody>
        </p:sp>
        <p:sp>
          <p:nvSpPr>
            <p:cNvPr id="273419" name="Text Box 11"/>
            <p:cNvSpPr txBox="1">
              <a:spLocks noChangeArrowheads="1"/>
            </p:cNvSpPr>
            <p:nvPr/>
          </p:nvSpPr>
          <p:spPr bwMode="auto"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Q</a:t>
              </a:r>
              <a:endParaRPr lang="en-AU" sz="1800">
                <a:cs typeface="+mn-cs"/>
              </a:endParaRPr>
            </a:p>
          </p:txBody>
        </p:sp>
        <p:sp>
          <p:nvSpPr>
            <p:cNvPr id="273420" name="Line 12"/>
            <p:cNvSpPr>
              <a:spLocks noChangeShapeType="1"/>
            </p:cNvSpPr>
            <p:nvPr/>
          </p:nvSpPr>
          <p:spPr bwMode="auto">
            <a:xfrm>
              <a:off x="1111" y="2840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1" name="Line 13"/>
            <p:cNvSpPr>
              <a:spLocks noChangeShapeType="1"/>
            </p:cNvSpPr>
            <p:nvPr/>
          </p:nvSpPr>
          <p:spPr bwMode="auto">
            <a:xfrm flipV="1">
              <a:off x="1111" y="2886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21509" name="Group 44"/>
          <p:cNvGrpSpPr>
            <a:grpSpLocks/>
          </p:cNvGrpSpPr>
          <p:nvPr/>
        </p:nvGrpSpPr>
        <p:grpSpPr bwMode="auto">
          <a:xfrm>
            <a:off x="3419475" y="4005263"/>
            <a:ext cx="4775200" cy="1800225"/>
            <a:chOff x="2154" y="2523"/>
            <a:chExt cx="3008" cy="1134"/>
          </a:xfrm>
        </p:grpSpPr>
        <p:sp>
          <p:nvSpPr>
            <p:cNvPr id="273426" name="Line 18"/>
            <p:cNvSpPr>
              <a:spLocks noChangeShapeType="1"/>
            </p:cNvSpPr>
            <p:nvPr/>
          </p:nvSpPr>
          <p:spPr bwMode="auto">
            <a:xfrm>
              <a:off x="2712" y="261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7" name="Line 19"/>
            <p:cNvSpPr>
              <a:spLocks noChangeShapeType="1"/>
            </p:cNvSpPr>
            <p:nvPr/>
          </p:nvSpPr>
          <p:spPr bwMode="auto">
            <a:xfrm>
              <a:off x="2712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8" name="Line 20"/>
            <p:cNvSpPr>
              <a:spLocks noChangeShapeType="1"/>
            </p:cNvSpPr>
            <p:nvPr/>
          </p:nvSpPr>
          <p:spPr bwMode="auto">
            <a:xfrm>
              <a:off x="3256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9" name="Line 21"/>
            <p:cNvSpPr>
              <a:spLocks noChangeShapeType="1"/>
            </p:cNvSpPr>
            <p:nvPr/>
          </p:nvSpPr>
          <p:spPr bwMode="auto">
            <a:xfrm>
              <a:off x="3256" y="279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0" name="Line 22"/>
            <p:cNvSpPr>
              <a:spLocks noChangeShapeType="1"/>
            </p:cNvSpPr>
            <p:nvPr/>
          </p:nvSpPr>
          <p:spPr bwMode="auto">
            <a:xfrm>
              <a:off x="2531" y="2795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1" name="Line 23"/>
            <p:cNvSpPr>
              <a:spLocks noChangeShapeType="1"/>
            </p:cNvSpPr>
            <p:nvPr/>
          </p:nvSpPr>
          <p:spPr bwMode="auto">
            <a:xfrm>
              <a:off x="3801" y="261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2" name="Line 24"/>
            <p:cNvSpPr>
              <a:spLocks noChangeShapeType="1"/>
            </p:cNvSpPr>
            <p:nvPr/>
          </p:nvSpPr>
          <p:spPr bwMode="auto">
            <a:xfrm>
              <a:off x="3801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3" name="Line 25"/>
            <p:cNvSpPr>
              <a:spLocks noChangeShapeType="1"/>
            </p:cNvSpPr>
            <p:nvPr/>
          </p:nvSpPr>
          <p:spPr bwMode="auto">
            <a:xfrm>
              <a:off x="4345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4" name="Line 26"/>
            <p:cNvSpPr>
              <a:spLocks noChangeShapeType="1"/>
            </p:cNvSpPr>
            <p:nvPr/>
          </p:nvSpPr>
          <p:spPr bwMode="auto">
            <a:xfrm>
              <a:off x="4345" y="2795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5" name="Line 27"/>
            <p:cNvSpPr>
              <a:spLocks noChangeShapeType="1"/>
            </p:cNvSpPr>
            <p:nvPr/>
          </p:nvSpPr>
          <p:spPr bwMode="auto">
            <a:xfrm>
              <a:off x="4889" y="2614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6" name="Line 28"/>
            <p:cNvSpPr>
              <a:spLocks noChangeShapeType="1"/>
            </p:cNvSpPr>
            <p:nvPr/>
          </p:nvSpPr>
          <p:spPr bwMode="auto">
            <a:xfrm flipV="1">
              <a:off x="4890" y="2613"/>
              <a:ext cx="2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7" name="Line 29"/>
            <p:cNvSpPr>
              <a:spLocks noChangeShapeType="1"/>
            </p:cNvSpPr>
            <p:nvPr/>
          </p:nvSpPr>
          <p:spPr bwMode="auto">
            <a:xfrm>
              <a:off x="2531" y="3657"/>
              <a:ext cx="26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8" name="Line 30"/>
            <p:cNvSpPr>
              <a:spLocks noChangeShapeType="1"/>
            </p:cNvSpPr>
            <p:nvPr/>
          </p:nvSpPr>
          <p:spPr bwMode="auto">
            <a:xfrm flipV="1">
              <a:off x="2531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39" name="Text Box 31"/>
            <p:cNvSpPr txBox="1">
              <a:spLocks noChangeArrowheads="1"/>
            </p:cNvSpPr>
            <p:nvPr/>
          </p:nvSpPr>
          <p:spPr bwMode="auto"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Clk</a:t>
              </a:r>
              <a:endParaRPr lang="en-AU">
                <a:cs typeface="+mn-cs"/>
              </a:endParaRPr>
            </a:p>
          </p:txBody>
        </p:sp>
        <p:sp>
          <p:nvSpPr>
            <p:cNvPr id="273440" name="Text Box 32"/>
            <p:cNvSpPr txBox="1">
              <a:spLocks noChangeArrowheads="1"/>
            </p:cNvSpPr>
            <p:nvPr/>
          </p:nvSpPr>
          <p:spPr bwMode="auto"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D</a:t>
              </a:r>
              <a:endParaRPr lang="en-AU">
                <a:cs typeface="+mn-cs"/>
              </a:endParaRPr>
            </a:p>
          </p:txBody>
        </p:sp>
        <p:sp>
          <p:nvSpPr>
            <p:cNvPr id="273441" name="Text Box 33"/>
            <p:cNvSpPr txBox="1">
              <a:spLocks noChangeArrowheads="1"/>
            </p:cNvSpPr>
            <p:nvPr/>
          </p:nvSpPr>
          <p:spPr bwMode="auto"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Q</a:t>
              </a:r>
              <a:endParaRPr lang="en-AU">
                <a:cs typeface="+mn-cs"/>
              </a:endParaRPr>
            </a:p>
          </p:txBody>
        </p:sp>
        <p:sp>
          <p:nvSpPr>
            <p:cNvPr id="273442" name="Freeform 34"/>
            <p:cNvSpPr>
              <a:spLocks/>
            </p:cNvSpPr>
            <p:nvPr/>
          </p:nvSpPr>
          <p:spPr bwMode="auto">
            <a:xfrm>
              <a:off x="2531" y="2976"/>
              <a:ext cx="635" cy="182"/>
            </a:xfrm>
            <a:custGeom>
              <a:avLst/>
              <a:gdLst>
                <a:gd name="T0" fmla="*/ 0 w 635"/>
                <a:gd name="T1" fmla="*/ 0 h 182"/>
                <a:gd name="T2" fmla="*/ 590 w 635"/>
                <a:gd name="T3" fmla="*/ 0 h 182"/>
                <a:gd name="T4" fmla="*/ 635 w 635"/>
                <a:gd name="T5" fmla="*/ 91 h 182"/>
                <a:gd name="T6" fmla="*/ 590 w 635"/>
                <a:gd name="T7" fmla="*/ 182 h 182"/>
                <a:gd name="T8" fmla="*/ 0 w 635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5" h="182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3" name="Freeform 35"/>
            <p:cNvSpPr>
              <a:spLocks/>
            </p:cNvSpPr>
            <p:nvPr/>
          </p:nvSpPr>
          <p:spPr bwMode="auto">
            <a:xfrm>
              <a:off x="3166" y="2976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4" name="Freeform 36"/>
            <p:cNvSpPr>
              <a:spLocks/>
            </p:cNvSpPr>
            <p:nvPr/>
          </p:nvSpPr>
          <p:spPr bwMode="auto">
            <a:xfrm>
              <a:off x="3892" y="3339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5" name="Freeform 37"/>
            <p:cNvSpPr>
              <a:spLocks/>
            </p:cNvSpPr>
            <p:nvPr/>
          </p:nvSpPr>
          <p:spPr bwMode="auto">
            <a:xfrm>
              <a:off x="2803" y="3339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6" name="Freeform 38"/>
            <p:cNvSpPr>
              <a:spLocks/>
            </p:cNvSpPr>
            <p:nvPr/>
          </p:nvSpPr>
          <p:spPr bwMode="auto">
            <a:xfrm>
              <a:off x="2531" y="3340"/>
              <a:ext cx="272" cy="181"/>
            </a:xfrm>
            <a:custGeom>
              <a:avLst/>
              <a:gdLst>
                <a:gd name="T0" fmla="*/ 0 w 272"/>
                <a:gd name="T1" fmla="*/ 0 h 181"/>
                <a:gd name="T2" fmla="*/ 227 w 272"/>
                <a:gd name="T3" fmla="*/ 0 h 181"/>
                <a:gd name="T4" fmla="*/ 272 w 272"/>
                <a:gd name="T5" fmla="*/ 90 h 181"/>
                <a:gd name="T6" fmla="*/ 227 w 272"/>
                <a:gd name="T7" fmla="*/ 181 h 181"/>
                <a:gd name="T8" fmla="*/ 0 w 272"/>
                <a:gd name="T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" h="181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7" name="Freeform 39"/>
            <p:cNvSpPr>
              <a:spLocks/>
            </p:cNvSpPr>
            <p:nvPr/>
          </p:nvSpPr>
          <p:spPr bwMode="auto">
            <a:xfrm>
              <a:off x="2712" y="3067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8" name="Freeform 40"/>
            <p:cNvSpPr>
              <a:spLocks/>
            </p:cNvSpPr>
            <p:nvPr/>
          </p:nvSpPr>
          <p:spPr bwMode="auto">
            <a:xfrm>
              <a:off x="3801" y="3067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49" name="Freeform 41"/>
            <p:cNvSpPr>
              <a:spLocks/>
            </p:cNvSpPr>
            <p:nvPr/>
          </p:nvSpPr>
          <p:spPr bwMode="auto">
            <a:xfrm>
              <a:off x="4980" y="3339"/>
              <a:ext cx="136" cy="182"/>
            </a:xfrm>
            <a:custGeom>
              <a:avLst/>
              <a:gdLst>
                <a:gd name="T0" fmla="*/ 136 w 136"/>
                <a:gd name="T1" fmla="*/ 0 h 182"/>
                <a:gd name="T2" fmla="*/ 45 w 136"/>
                <a:gd name="T3" fmla="*/ 0 h 182"/>
                <a:gd name="T4" fmla="*/ 0 w 136"/>
                <a:gd name="T5" fmla="*/ 91 h 182"/>
                <a:gd name="T6" fmla="*/ 45 w 136"/>
                <a:gd name="T7" fmla="*/ 182 h 182"/>
                <a:gd name="T8" fmla="*/ 136 w 136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82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50" name="Freeform 42"/>
            <p:cNvSpPr>
              <a:spLocks/>
            </p:cNvSpPr>
            <p:nvPr/>
          </p:nvSpPr>
          <p:spPr bwMode="auto">
            <a:xfrm>
              <a:off x="4255" y="2976"/>
              <a:ext cx="862" cy="182"/>
            </a:xfrm>
            <a:custGeom>
              <a:avLst/>
              <a:gdLst>
                <a:gd name="T0" fmla="*/ 862 w 862"/>
                <a:gd name="T1" fmla="*/ 0 h 182"/>
                <a:gd name="T2" fmla="*/ 46 w 862"/>
                <a:gd name="T3" fmla="*/ 0 h 182"/>
                <a:gd name="T4" fmla="*/ 0 w 862"/>
                <a:gd name="T5" fmla="*/ 91 h 182"/>
                <a:gd name="T6" fmla="*/ 46 w 862"/>
                <a:gd name="T7" fmla="*/ 182 h 182"/>
                <a:gd name="T8" fmla="*/ 862 w 862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8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51" name="Freeform 43"/>
            <p:cNvSpPr>
              <a:spLocks/>
            </p:cNvSpPr>
            <p:nvPr/>
          </p:nvSpPr>
          <p:spPr bwMode="auto">
            <a:xfrm>
              <a:off x="4890" y="3067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3" name="Line 15"/>
            <p:cNvSpPr>
              <a:spLocks noChangeShapeType="1"/>
            </p:cNvSpPr>
            <p:nvPr/>
          </p:nvSpPr>
          <p:spPr bwMode="auto">
            <a:xfrm>
              <a:off x="2712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4" name="Line 16"/>
            <p:cNvSpPr>
              <a:spLocks noChangeShapeType="1"/>
            </p:cNvSpPr>
            <p:nvPr/>
          </p:nvSpPr>
          <p:spPr bwMode="auto">
            <a:xfrm>
              <a:off x="3801" y="252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3425" name="Line 17"/>
            <p:cNvSpPr>
              <a:spLocks noChangeShapeType="1"/>
            </p:cNvSpPr>
            <p:nvPr/>
          </p:nvSpPr>
          <p:spPr bwMode="auto">
            <a:xfrm>
              <a:off x="4889" y="2523"/>
              <a:ext cx="1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A371F48C-403B-3745-B8F4-C534C98E3E9C}" type="slidenum">
              <a:rPr lang="en-AU"/>
              <a:pPr>
                <a:defRPr/>
              </a:pPr>
              <a:t>10</a:t>
            </a:fld>
            <a:endParaRPr lang="en-AU"/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Sequential Elements</a:t>
            </a:r>
            <a:endParaRPr lang="en-AU">
              <a:cs typeface="+mj-cs"/>
            </a:endParaRP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034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Register with write control</a:t>
            </a:r>
          </a:p>
          <a:p>
            <a:pPr lvl="1" eaLnBrk="1" hangingPunct="1">
              <a:defRPr/>
            </a:pPr>
            <a:r>
              <a:rPr lang="en-US" dirty="0"/>
              <a:t>Only updates on clock edge when write control input is 1</a:t>
            </a:r>
          </a:p>
          <a:p>
            <a:pPr lvl="1" eaLnBrk="1" hangingPunct="1">
              <a:defRPr/>
            </a:pPr>
            <a:r>
              <a:rPr lang="en-US" dirty="0"/>
              <a:t>Used when stored value is required later</a:t>
            </a:r>
            <a:endParaRPr lang="en-AU" dirty="0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539750" y="4365625"/>
            <a:ext cx="2306638" cy="1223963"/>
            <a:chOff x="340" y="2750"/>
            <a:chExt cx="1453" cy="771"/>
          </a:xfrm>
        </p:grpSpPr>
        <p:sp>
          <p:nvSpPr>
            <p:cNvPr id="275461" name="Rectangle 5"/>
            <p:cNvSpPr>
              <a:spLocks noChangeArrowheads="1"/>
            </p:cNvSpPr>
            <p:nvPr/>
          </p:nvSpPr>
          <p:spPr bwMode="auto">
            <a:xfrm>
              <a:off x="930" y="2750"/>
              <a:ext cx="499" cy="77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62" name="Line 6"/>
            <p:cNvSpPr>
              <a:spLocks noChangeShapeType="1"/>
            </p:cNvSpPr>
            <p:nvPr/>
          </p:nvSpPr>
          <p:spPr bwMode="auto">
            <a:xfrm>
              <a:off x="794" y="293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63" name="Line 7"/>
            <p:cNvSpPr>
              <a:spLocks noChangeShapeType="1"/>
            </p:cNvSpPr>
            <p:nvPr/>
          </p:nvSpPr>
          <p:spPr bwMode="auto">
            <a:xfrm>
              <a:off x="794" y="334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64" name="Line 8"/>
            <p:cNvSpPr>
              <a:spLocks noChangeShapeType="1"/>
            </p:cNvSpPr>
            <p:nvPr/>
          </p:nvSpPr>
          <p:spPr bwMode="auto">
            <a:xfrm>
              <a:off x="1429" y="293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65" name="Text Box 9"/>
            <p:cNvSpPr txBox="1">
              <a:spLocks noChangeArrowheads="1"/>
            </p:cNvSpPr>
            <p:nvPr/>
          </p:nvSpPr>
          <p:spPr bwMode="auto"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D</a:t>
              </a:r>
              <a:endParaRPr lang="en-AU" sz="1800">
                <a:cs typeface="+mn-cs"/>
              </a:endParaRPr>
            </a:p>
          </p:txBody>
        </p:sp>
        <p:sp>
          <p:nvSpPr>
            <p:cNvPr id="275466" name="Text Box 10"/>
            <p:cNvSpPr txBox="1">
              <a:spLocks noChangeArrowheads="1"/>
            </p:cNvSpPr>
            <p:nvPr/>
          </p:nvSpPr>
          <p:spPr bwMode="auto"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Clk</a:t>
              </a:r>
              <a:endParaRPr lang="en-AU" sz="1800">
                <a:cs typeface="+mn-cs"/>
              </a:endParaRPr>
            </a:p>
          </p:txBody>
        </p:sp>
        <p:sp>
          <p:nvSpPr>
            <p:cNvPr id="275467" name="Text Box 11"/>
            <p:cNvSpPr txBox="1">
              <a:spLocks noChangeArrowheads="1"/>
            </p:cNvSpPr>
            <p:nvPr/>
          </p:nvSpPr>
          <p:spPr bwMode="auto"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Q</a:t>
              </a:r>
              <a:endParaRPr lang="en-AU" sz="1800">
                <a:cs typeface="+mn-cs"/>
              </a:endParaRPr>
            </a:p>
          </p:txBody>
        </p:sp>
        <p:sp>
          <p:nvSpPr>
            <p:cNvPr id="275468" name="Line 12"/>
            <p:cNvSpPr>
              <a:spLocks noChangeShapeType="1"/>
            </p:cNvSpPr>
            <p:nvPr/>
          </p:nvSpPr>
          <p:spPr bwMode="auto">
            <a:xfrm>
              <a:off x="930" y="3294"/>
              <a:ext cx="91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69" name="Line 13"/>
            <p:cNvSpPr>
              <a:spLocks noChangeShapeType="1"/>
            </p:cNvSpPr>
            <p:nvPr/>
          </p:nvSpPr>
          <p:spPr bwMode="auto">
            <a:xfrm flipV="1">
              <a:off x="930" y="3340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0" name="Line 14"/>
            <p:cNvSpPr>
              <a:spLocks noChangeShapeType="1"/>
            </p:cNvSpPr>
            <p:nvPr/>
          </p:nvSpPr>
          <p:spPr bwMode="auto">
            <a:xfrm>
              <a:off x="793" y="3154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1" name="Text Box 15"/>
            <p:cNvSpPr txBox="1">
              <a:spLocks noChangeArrowheads="1"/>
            </p:cNvSpPr>
            <p:nvPr/>
          </p:nvSpPr>
          <p:spPr bwMode="auto"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1800">
                  <a:cs typeface="+mn-cs"/>
                </a:rPr>
                <a:t>Write</a:t>
              </a:r>
              <a:endParaRPr lang="en-AU" sz="1800">
                <a:cs typeface="+mn-cs"/>
              </a:endParaRPr>
            </a:p>
          </p:txBody>
        </p:sp>
      </p:grpSp>
      <p:grpSp>
        <p:nvGrpSpPr>
          <p:cNvPr id="23557" name="Group 52"/>
          <p:cNvGrpSpPr>
            <a:grpSpLocks/>
          </p:cNvGrpSpPr>
          <p:nvPr/>
        </p:nvGrpSpPr>
        <p:grpSpPr bwMode="auto">
          <a:xfrm>
            <a:off x="3203575" y="3644900"/>
            <a:ext cx="4991100" cy="2376488"/>
            <a:chOff x="2004" y="2387"/>
            <a:chExt cx="3144" cy="1497"/>
          </a:xfrm>
        </p:grpSpPr>
        <p:sp>
          <p:nvSpPr>
            <p:cNvPr id="275476" name="Line 20"/>
            <p:cNvSpPr>
              <a:spLocks noChangeShapeType="1"/>
            </p:cNvSpPr>
            <p:nvPr/>
          </p:nvSpPr>
          <p:spPr bwMode="auto">
            <a:xfrm>
              <a:off x="2517" y="2840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7" name="Line 21"/>
            <p:cNvSpPr>
              <a:spLocks noChangeShapeType="1"/>
            </p:cNvSpPr>
            <p:nvPr/>
          </p:nvSpPr>
          <p:spPr bwMode="auto">
            <a:xfrm>
              <a:off x="3334" y="284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8" name="Line 22"/>
            <p:cNvSpPr>
              <a:spLocks noChangeShapeType="1"/>
            </p:cNvSpPr>
            <p:nvPr/>
          </p:nvSpPr>
          <p:spPr bwMode="auto">
            <a:xfrm>
              <a:off x="3334" y="3022"/>
              <a:ext cx="12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9" name="Line 23"/>
            <p:cNvSpPr>
              <a:spLocks noChangeShapeType="1"/>
            </p:cNvSpPr>
            <p:nvPr/>
          </p:nvSpPr>
          <p:spPr bwMode="auto">
            <a:xfrm>
              <a:off x="4558" y="2840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0" name="Line 24"/>
            <p:cNvSpPr>
              <a:spLocks noChangeShapeType="1"/>
            </p:cNvSpPr>
            <p:nvPr/>
          </p:nvSpPr>
          <p:spPr bwMode="auto">
            <a:xfrm flipV="1">
              <a:off x="4558" y="2840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1" name="Line 25"/>
            <p:cNvSpPr>
              <a:spLocks noChangeShapeType="1"/>
            </p:cNvSpPr>
            <p:nvPr/>
          </p:nvSpPr>
          <p:spPr bwMode="auto">
            <a:xfrm>
              <a:off x="2517" y="3884"/>
              <a:ext cx="26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2" name="Line 26"/>
            <p:cNvSpPr>
              <a:spLocks noChangeShapeType="1"/>
            </p:cNvSpPr>
            <p:nvPr/>
          </p:nvSpPr>
          <p:spPr bwMode="auto">
            <a:xfrm flipH="1" flipV="1">
              <a:off x="2503" y="2387"/>
              <a:ext cx="14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3" name="Text Box 27"/>
            <p:cNvSpPr txBox="1">
              <a:spLocks noChangeArrowheads="1"/>
            </p:cNvSpPr>
            <p:nvPr/>
          </p:nvSpPr>
          <p:spPr bwMode="auto"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Write</a:t>
              </a:r>
              <a:endParaRPr lang="en-AU">
                <a:cs typeface="+mn-cs"/>
              </a:endParaRPr>
            </a:p>
          </p:txBody>
        </p:sp>
        <p:sp>
          <p:nvSpPr>
            <p:cNvPr id="275484" name="Text Box 28"/>
            <p:cNvSpPr txBox="1">
              <a:spLocks noChangeArrowheads="1"/>
            </p:cNvSpPr>
            <p:nvPr/>
          </p:nvSpPr>
          <p:spPr bwMode="auto"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D</a:t>
              </a:r>
              <a:endParaRPr lang="en-AU">
                <a:cs typeface="+mn-cs"/>
              </a:endParaRPr>
            </a:p>
          </p:txBody>
        </p:sp>
        <p:sp>
          <p:nvSpPr>
            <p:cNvPr id="275485" name="Text Box 29"/>
            <p:cNvSpPr txBox="1">
              <a:spLocks noChangeArrowheads="1"/>
            </p:cNvSpPr>
            <p:nvPr/>
          </p:nvSpPr>
          <p:spPr bwMode="auto"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Q</a:t>
              </a:r>
              <a:endParaRPr lang="en-AU">
                <a:cs typeface="+mn-cs"/>
              </a:endParaRPr>
            </a:p>
          </p:txBody>
        </p:sp>
        <p:sp>
          <p:nvSpPr>
            <p:cNvPr id="275486" name="Freeform 30"/>
            <p:cNvSpPr>
              <a:spLocks/>
            </p:cNvSpPr>
            <p:nvPr/>
          </p:nvSpPr>
          <p:spPr bwMode="auto">
            <a:xfrm>
              <a:off x="2517" y="3203"/>
              <a:ext cx="635" cy="182"/>
            </a:xfrm>
            <a:custGeom>
              <a:avLst/>
              <a:gdLst>
                <a:gd name="T0" fmla="*/ 0 w 635"/>
                <a:gd name="T1" fmla="*/ 0 h 182"/>
                <a:gd name="T2" fmla="*/ 590 w 635"/>
                <a:gd name="T3" fmla="*/ 0 h 182"/>
                <a:gd name="T4" fmla="*/ 635 w 635"/>
                <a:gd name="T5" fmla="*/ 91 h 182"/>
                <a:gd name="T6" fmla="*/ 590 w 635"/>
                <a:gd name="T7" fmla="*/ 182 h 182"/>
                <a:gd name="T8" fmla="*/ 0 w 635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5" h="182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7" name="Freeform 31"/>
            <p:cNvSpPr>
              <a:spLocks/>
            </p:cNvSpPr>
            <p:nvPr/>
          </p:nvSpPr>
          <p:spPr bwMode="auto">
            <a:xfrm>
              <a:off x="3152" y="3203"/>
              <a:ext cx="1089" cy="182"/>
            </a:xfrm>
            <a:custGeom>
              <a:avLst/>
              <a:gdLst>
                <a:gd name="T0" fmla="*/ 0 w 1089"/>
                <a:gd name="T1" fmla="*/ 91 h 182"/>
                <a:gd name="T2" fmla="*/ 45 w 1089"/>
                <a:gd name="T3" fmla="*/ 0 h 182"/>
                <a:gd name="T4" fmla="*/ 1043 w 1089"/>
                <a:gd name="T5" fmla="*/ 0 h 182"/>
                <a:gd name="T6" fmla="*/ 1089 w 1089"/>
                <a:gd name="T7" fmla="*/ 91 h 182"/>
                <a:gd name="T8" fmla="*/ 1043 w 1089"/>
                <a:gd name="T9" fmla="*/ 182 h 182"/>
                <a:gd name="T10" fmla="*/ 45 w 1089"/>
                <a:gd name="T11" fmla="*/ 182 h 182"/>
                <a:gd name="T12" fmla="*/ 0 w 1089"/>
                <a:gd name="T13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9" h="182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8" name="Freeform 32"/>
            <p:cNvSpPr>
              <a:spLocks/>
            </p:cNvSpPr>
            <p:nvPr/>
          </p:nvSpPr>
          <p:spPr bwMode="auto">
            <a:xfrm>
              <a:off x="2517" y="3567"/>
              <a:ext cx="272" cy="181"/>
            </a:xfrm>
            <a:custGeom>
              <a:avLst/>
              <a:gdLst>
                <a:gd name="T0" fmla="*/ 0 w 272"/>
                <a:gd name="T1" fmla="*/ 0 h 181"/>
                <a:gd name="T2" fmla="*/ 227 w 272"/>
                <a:gd name="T3" fmla="*/ 0 h 181"/>
                <a:gd name="T4" fmla="*/ 272 w 272"/>
                <a:gd name="T5" fmla="*/ 90 h 181"/>
                <a:gd name="T6" fmla="*/ 227 w 272"/>
                <a:gd name="T7" fmla="*/ 181 h 181"/>
                <a:gd name="T8" fmla="*/ 0 w 272"/>
                <a:gd name="T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" h="181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89" name="Freeform 33"/>
            <p:cNvSpPr>
              <a:spLocks/>
            </p:cNvSpPr>
            <p:nvPr/>
          </p:nvSpPr>
          <p:spPr bwMode="auto">
            <a:xfrm>
              <a:off x="2698" y="3294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0" name="Freeform 34"/>
            <p:cNvSpPr>
              <a:spLocks/>
            </p:cNvSpPr>
            <p:nvPr/>
          </p:nvSpPr>
          <p:spPr bwMode="auto">
            <a:xfrm>
              <a:off x="2699" y="2840"/>
              <a:ext cx="157" cy="688"/>
            </a:xfrm>
            <a:custGeom>
              <a:avLst/>
              <a:gdLst>
                <a:gd name="T0" fmla="*/ 0 w 157"/>
                <a:gd name="T1" fmla="*/ 0 h 688"/>
                <a:gd name="T2" fmla="*/ 45 w 157"/>
                <a:gd name="T3" fmla="*/ 190 h 688"/>
                <a:gd name="T4" fmla="*/ 137 w 157"/>
                <a:gd name="T5" fmla="*/ 158 h 688"/>
                <a:gd name="T6" fmla="*/ 157 w 157"/>
                <a:gd name="T7" fmla="*/ 688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688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1" name="Freeform 35"/>
            <p:cNvSpPr>
              <a:spLocks/>
            </p:cNvSpPr>
            <p:nvPr/>
          </p:nvSpPr>
          <p:spPr bwMode="auto">
            <a:xfrm>
              <a:off x="4966" y="3566"/>
              <a:ext cx="136" cy="182"/>
            </a:xfrm>
            <a:custGeom>
              <a:avLst/>
              <a:gdLst>
                <a:gd name="T0" fmla="*/ 136 w 136"/>
                <a:gd name="T1" fmla="*/ 0 h 182"/>
                <a:gd name="T2" fmla="*/ 45 w 136"/>
                <a:gd name="T3" fmla="*/ 0 h 182"/>
                <a:gd name="T4" fmla="*/ 0 w 136"/>
                <a:gd name="T5" fmla="*/ 91 h 182"/>
                <a:gd name="T6" fmla="*/ 45 w 136"/>
                <a:gd name="T7" fmla="*/ 182 h 182"/>
                <a:gd name="T8" fmla="*/ 136 w 136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82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2" name="Freeform 36"/>
            <p:cNvSpPr>
              <a:spLocks/>
            </p:cNvSpPr>
            <p:nvPr/>
          </p:nvSpPr>
          <p:spPr bwMode="auto">
            <a:xfrm>
              <a:off x="4241" y="3203"/>
              <a:ext cx="862" cy="182"/>
            </a:xfrm>
            <a:custGeom>
              <a:avLst/>
              <a:gdLst>
                <a:gd name="T0" fmla="*/ 862 w 862"/>
                <a:gd name="T1" fmla="*/ 0 h 182"/>
                <a:gd name="T2" fmla="*/ 46 w 862"/>
                <a:gd name="T3" fmla="*/ 0 h 182"/>
                <a:gd name="T4" fmla="*/ 0 w 862"/>
                <a:gd name="T5" fmla="*/ 91 h 182"/>
                <a:gd name="T6" fmla="*/ 46 w 862"/>
                <a:gd name="T7" fmla="*/ 182 h 182"/>
                <a:gd name="T8" fmla="*/ 862 w 862"/>
                <a:gd name="T9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8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3" name="Line 37"/>
            <p:cNvSpPr>
              <a:spLocks noChangeShapeType="1"/>
            </p:cNvSpPr>
            <p:nvPr/>
          </p:nvSpPr>
          <p:spPr bwMode="auto">
            <a:xfrm>
              <a:off x="2698" y="2478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4" name="Line 38"/>
            <p:cNvSpPr>
              <a:spLocks noChangeShapeType="1"/>
            </p:cNvSpPr>
            <p:nvPr/>
          </p:nvSpPr>
          <p:spPr bwMode="auto">
            <a:xfrm>
              <a:off x="2698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5" name="Line 39"/>
            <p:cNvSpPr>
              <a:spLocks noChangeShapeType="1"/>
            </p:cNvSpPr>
            <p:nvPr/>
          </p:nvSpPr>
          <p:spPr bwMode="auto">
            <a:xfrm>
              <a:off x="3242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6" name="Line 40"/>
            <p:cNvSpPr>
              <a:spLocks noChangeShapeType="1"/>
            </p:cNvSpPr>
            <p:nvPr/>
          </p:nvSpPr>
          <p:spPr bwMode="auto">
            <a:xfrm>
              <a:off x="3242" y="2659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7" name="Line 41"/>
            <p:cNvSpPr>
              <a:spLocks noChangeShapeType="1"/>
            </p:cNvSpPr>
            <p:nvPr/>
          </p:nvSpPr>
          <p:spPr bwMode="auto">
            <a:xfrm>
              <a:off x="2517" y="2659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8" name="Line 42"/>
            <p:cNvSpPr>
              <a:spLocks noChangeShapeType="1"/>
            </p:cNvSpPr>
            <p:nvPr/>
          </p:nvSpPr>
          <p:spPr bwMode="auto">
            <a:xfrm>
              <a:off x="3787" y="2478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99" name="Line 43"/>
            <p:cNvSpPr>
              <a:spLocks noChangeShapeType="1"/>
            </p:cNvSpPr>
            <p:nvPr/>
          </p:nvSpPr>
          <p:spPr bwMode="auto">
            <a:xfrm>
              <a:off x="3787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0" name="Line 44"/>
            <p:cNvSpPr>
              <a:spLocks noChangeShapeType="1"/>
            </p:cNvSpPr>
            <p:nvPr/>
          </p:nvSpPr>
          <p:spPr bwMode="auto">
            <a:xfrm>
              <a:off x="4331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1" name="Line 45"/>
            <p:cNvSpPr>
              <a:spLocks noChangeShapeType="1"/>
            </p:cNvSpPr>
            <p:nvPr/>
          </p:nvSpPr>
          <p:spPr bwMode="auto">
            <a:xfrm>
              <a:off x="4331" y="2659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2" name="Line 46"/>
            <p:cNvSpPr>
              <a:spLocks noChangeShapeType="1"/>
            </p:cNvSpPr>
            <p:nvPr/>
          </p:nvSpPr>
          <p:spPr bwMode="auto">
            <a:xfrm>
              <a:off x="4875" y="2478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3" name="Line 47"/>
            <p:cNvSpPr>
              <a:spLocks noChangeShapeType="1"/>
            </p:cNvSpPr>
            <p:nvPr/>
          </p:nvSpPr>
          <p:spPr bwMode="auto">
            <a:xfrm flipV="1">
              <a:off x="4876" y="2477"/>
              <a:ext cx="2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4" name="Text Box 48"/>
            <p:cNvSpPr txBox="1">
              <a:spLocks noChangeArrowheads="1"/>
            </p:cNvSpPr>
            <p:nvPr/>
          </p:nvSpPr>
          <p:spPr bwMode="auto"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>
                  <a:cs typeface="+mn-cs"/>
                </a:rPr>
                <a:t>Clk</a:t>
              </a:r>
              <a:endParaRPr lang="en-AU">
                <a:cs typeface="+mn-cs"/>
              </a:endParaRPr>
            </a:p>
          </p:txBody>
        </p:sp>
        <p:sp>
          <p:nvSpPr>
            <p:cNvPr id="275505" name="Freeform 49"/>
            <p:cNvSpPr>
              <a:spLocks/>
            </p:cNvSpPr>
            <p:nvPr/>
          </p:nvSpPr>
          <p:spPr bwMode="auto">
            <a:xfrm>
              <a:off x="2789" y="3566"/>
              <a:ext cx="2178" cy="182"/>
            </a:xfrm>
            <a:custGeom>
              <a:avLst/>
              <a:gdLst>
                <a:gd name="T0" fmla="*/ 0 w 2178"/>
                <a:gd name="T1" fmla="*/ 91 h 182"/>
                <a:gd name="T2" fmla="*/ 46 w 2178"/>
                <a:gd name="T3" fmla="*/ 0 h 182"/>
                <a:gd name="T4" fmla="*/ 2132 w 2178"/>
                <a:gd name="T5" fmla="*/ 0 h 182"/>
                <a:gd name="T6" fmla="*/ 2178 w 2178"/>
                <a:gd name="T7" fmla="*/ 91 h 182"/>
                <a:gd name="T8" fmla="*/ 2132 w 2178"/>
                <a:gd name="T9" fmla="*/ 182 h 182"/>
                <a:gd name="T10" fmla="*/ 46 w 2178"/>
                <a:gd name="T11" fmla="*/ 182 h 182"/>
                <a:gd name="T12" fmla="*/ 0 w 2178"/>
                <a:gd name="T13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78" h="182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6" name="Freeform 50"/>
            <p:cNvSpPr>
              <a:spLocks/>
            </p:cNvSpPr>
            <p:nvPr/>
          </p:nvSpPr>
          <p:spPr bwMode="auto">
            <a:xfrm>
              <a:off x="4875" y="3294"/>
              <a:ext cx="169" cy="270"/>
            </a:xfrm>
            <a:custGeom>
              <a:avLst/>
              <a:gdLst>
                <a:gd name="T0" fmla="*/ 0 w 169"/>
                <a:gd name="T1" fmla="*/ 0 h 270"/>
                <a:gd name="T2" fmla="*/ 45 w 169"/>
                <a:gd name="T3" fmla="*/ 190 h 270"/>
                <a:gd name="T4" fmla="*/ 137 w 169"/>
                <a:gd name="T5" fmla="*/ 158 h 270"/>
                <a:gd name="T6" fmla="*/ 169 w 169"/>
                <a:gd name="T7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270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507" name="Freeform 51"/>
            <p:cNvSpPr>
              <a:spLocks/>
            </p:cNvSpPr>
            <p:nvPr/>
          </p:nvSpPr>
          <p:spPr bwMode="auto">
            <a:xfrm>
              <a:off x="4876" y="2840"/>
              <a:ext cx="157" cy="688"/>
            </a:xfrm>
            <a:custGeom>
              <a:avLst/>
              <a:gdLst>
                <a:gd name="T0" fmla="*/ 0 w 157"/>
                <a:gd name="T1" fmla="*/ 0 h 688"/>
                <a:gd name="T2" fmla="*/ 45 w 157"/>
                <a:gd name="T3" fmla="*/ 190 h 688"/>
                <a:gd name="T4" fmla="*/ 137 w 157"/>
                <a:gd name="T5" fmla="*/ 158 h 688"/>
                <a:gd name="T6" fmla="*/ 157 w 157"/>
                <a:gd name="T7" fmla="*/ 688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688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w="12700" cmpd="sng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3" name="Line 17"/>
            <p:cNvSpPr>
              <a:spLocks noChangeShapeType="1"/>
            </p:cNvSpPr>
            <p:nvPr/>
          </p:nvSpPr>
          <p:spPr bwMode="auto">
            <a:xfrm>
              <a:off x="2698" y="2387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4" name="Line 18"/>
            <p:cNvSpPr>
              <a:spLocks noChangeShapeType="1"/>
            </p:cNvSpPr>
            <p:nvPr/>
          </p:nvSpPr>
          <p:spPr bwMode="auto">
            <a:xfrm>
              <a:off x="3787" y="2387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75475" name="Line 19"/>
            <p:cNvSpPr>
              <a:spLocks noChangeShapeType="1"/>
            </p:cNvSpPr>
            <p:nvPr/>
          </p:nvSpPr>
          <p:spPr bwMode="auto">
            <a:xfrm>
              <a:off x="4875" y="2387"/>
              <a:ext cx="1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35E7577-ED22-2F44-A25E-A5F539C3CCF8}" type="slidenum">
              <a:rPr lang="en-AU"/>
              <a:pPr>
                <a:defRPr/>
              </a:pPr>
              <a:t>11</a:t>
            </a:fld>
            <a:endParaRPr lang="en-AU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Clocking Methodology</a:t>
            </a:r>
            <a:endParaRPr lang="en-AU">
              <a:cs typeface="+mj-cs"/>
            </a:endParaRP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841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>
                <a:cs typeface="+mn-cs"/>
              </a:rPr>
              <a:t>Combinational logic transforms data during clock cycles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Between clock edges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Input from state elements, output to state element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Longest delay determines clock period</a:t>
            </a:r>
            <a:endParaRPr lang="en-AU"/>
          </a:p>
        </p:txBody>
      </p:sp>
      <p:pic>
        <p:nvPicPr>
          <p:cNvPr id="25604" name="Picture 6" descr="f04-04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581525"/>
            <a:ext cx="286543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 descr="f04-03-P37449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437063"/>
            <a:ext cx="3851275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584F4EFE-4B7A-B540-ADF7-FC30C4347BF3}" type="slidenum">
              <a:rPr lang="en-AU"/>
              <a:pPr>
                <a:defRPr/>
              </a:pPr>
              <a:t>12</a:t>
            </a:fld>
            <a:endParaRPr lang="en-AU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Building a Datapath</a:t>
            </a:r>
            <a:endParaRPr lang="en-AU" dirty="0">
              <a:cs typeface="+mj-cs"/>
            </a:endParaRP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Datapath</a:t>
            </a:r>
          </a:p>
          <a:p>
            <a:pPr lvl="1" eaLnBrk="1" hangingPunct="1">
              <a:defRPr/>
            </a:pPr>
            <a:r>
              <a:rPr lang="en-US" dirty="0"/>
              <a:t>Elements that process data and addresses</a:t>
            </a:r>
            <a:br>
              <a:rPr lang="en-US" dirty="0"/>
            </a:br>
            <a:r>
              <a:rPr lang="en-US" dirty="0"/>
              <a:t>in the CPU</a:t>
            </a:r>
          </a:p>
          <a:p>
            <a:pPr lvl="2" eaLnBrk="1" hangingPunct="1">
              <a:defRPr/>
            </a:pPr>
            <a:r>
              <a:rPr lang="en-US" dirty="0"/>
              <a:t>Registers, ALUs, mux’s, memories, …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We will build a MIPS datapath incrementally</a:t>
            </a:r>
          </a:p>
          <a:p>
            <a:pPr lvl="1" eaLnBrk="1" hangingPunct="1">
              <a:defRPr/>
            </a:pPr>
            <a:r>
              <a:rPr lang="en-US" dirty="0"/>
              <a:t>Refining the overview design</a:t>
            </a:r>
            <a:endParaRPr lang="en-AU" dirty="0"/>
          </a:p>
        </p:txBody>
      </p:sp>
      <p:sp>
        <p:nvSpPr>
          <p:cNvPr id="279556" name="Text Box 4"/>
          <p:cNvSpPr txBox="1">
            <a:spLocks noChangeArrowheads="1"/>
          </p:cNvSpPr>
          <p:nvPr/>
        </p:nvSpPr>
        <p:spPr bwMode="auto">
          <a:xfrm rot="5400000">
            <a:off x="7617619" y="1159669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 dirty="0">
                <a:solidFill>
                  <a:schemeClr val="folHlink"/>
                </a:solidFill>
                <a:cs typeface="+mn-cs"/>
              </a:rPr>
              <a:t>§4.3 Building a Datapath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4D5E7A1-26D2-6943-8506-24C75D18A97E}" type="slidenum">
              <a:rPr lang="en-AU"/>
              <a:pPr>
                <a:defRPr/>
              </a:pPr>
              <a:t>13</a:t>
            </a:fld>
            <a:endParaRPr lang="en-AU"/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Instruction Fetch</a:t>
            </a:r>
            <a:endParaRPr lang="en-AU">
              <a:cs typeface="+mj-cs"/>
            </a:endParaRPr>
          </a:p>
        </p:txBody>
      </p:sp>
      <p:sp>
        <p:nvSpPr>
          <p:cNvPr id="281604" name="AutoShape 4"/>
          <p:cNvSpPr>
            <a:spLocks/>
          </p:cNvSpPr>
          <p:nvPr/>
        </p:nvSpPr>
        <p:spPr bwMode="auto">
          <a:xfrm>
            <a:off x="611188" y="4437063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6667"/>
              <a:gd name="adj4" fmla="val 171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32-bit register</a:t>
            </a:r>
            <a:endParaRPr lang="en-AU">
              <a:cs typeface="+mn-cs"/>
            </a:endParaRPr>
          </a:p>
        </p:txBody>
      </p:sp>
      <p:sp>
        <p:nvSpPr>
          <p:cNvPr id="281605" name="AutoShape 5"/>
          <p:cNvSpPr>
            <a:spLocks/>
          </p:cNvSpPr>
          <p:nvPr/>
        </p:nvSpPr>
        <p:spPr bwMode="auto">
          <a:xfrm>
            <a:off x="7308850" y="3860800"/>
            <a:ext cx="1439863" cy="863600"/>
          </a:xfrm>
          <a:prstGeom prst="borderCallout1">
            <a:avLst>
              <a:gd name="adj1" fmla="val 13236"/>
              <a:gd name="adj2" fmla="val -5292"/>
              <a:gd name="adj3" fmla="val -41912"/>
              <a:gd name="adj4" fmla="val -554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Increment by 4 for next instruction</a:t>
            </a:r>
            <a:endParaRPr lang="en-AU">
              <a:cs typeface="+mn-cs"/>
            </a:endParaRPr>
          </a:p>
        </p:txBody>
      </p:sp>
      <p:pic>
        <p:nvPicPr>
          <p:cNvPr id="29701" name="Picture 6" descr="f04-0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AE5BD09-B0C9-B647-9199-C447FF5DA006}" type="slidenum">
              <a:rPr lang="en-AU"/>
              <a:pPr>
                <a:defRPr/>
              </a:pPr>
              <a:t>14</a:t>
            </a:fld>
            <a:endParaRPr lang="en-AU"/>
          </a:p>
        </p:txBody>
      </p:sp>
      <p:pic>
        <p:nvPicPr>
          <p:cNvPr id="31746" name="Picture 6" descr="f04-0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284538"/>
            <a:ext cx="6316662" cy="257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R-Format Instructions</a:t>
            </a:r>
            <a:endParaRPr lang="en-AU">
              <a:cs typeface="+mj-cs"/>
            </a:endParaRP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920875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Read two register operands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Perform arithmetic/logical operation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Write register result</a:t>
            </a:r>
            <a:endParaRPr lang="en-AU"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658D14A3-E8E1-0B40-A943-90E7C9AEB61A}" type="slidenum">
              <a:rPr lang="en-AU"/>
              <a:pPr>
                <a:defRPr/>
              </a:pPr>
              <a:t>15</a:t>
            </a:fld>
            <a:endParaRPr lang="en-AU"/>
          </a:p>
        </p:txBody>
      </p:sp>
      <p:pic>
        <p:nvPicPr>
          <p:cNvPr id="33794" name="Picture 6" descr="f04-08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644900"/>
            <a:ext cx="4437062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Load/Store Instructions</a:t>
            </a:r>
            <a:endParaRPr lang="en-AU">
              <a:cs typeface="+mj-cs"/>
            </a:endParaRP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04200" cy="26114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Read register operands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Calculate address using 16-bit offset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/>
              <a:t>Use ALU, but sign-extend offset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Load: Read memory and update register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>
                <a:cs typeface="+mn-cs"/>
              </a:rPr>
              <a:t>Store: Write register value to memory</a:t>
            </a:r>
            <a:endParaRPr lang="en-AU" sz="2800"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9EAE7E0-E14C-FF41-BBAD-A1B2B23FEB0B}" type="slidenum">
              <a:rPr lang="en-AU"/>
              <a:pPr>
                <a:defRPr/>
              </a:pPr>
              <a:t>16</a:t>
            </a:fld>
            <a:endParaRPr lang="en-AU"/>
          </a:p>
        </p:txBody>
      </p: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Branch Instructions</a:t>
            </a:r>
            <a:endParaRPr lang="en-AU">
              <a:cs typeface="+mj-cs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Read register operands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Compare operands</a:t>
            </a:r>
          </a:p>
          <a:p>
            <a:pPr lvl="1" eaLnBrk="1" hangingPunct="1">
              <a:defRPr/>
            </a:pPr>
            <a:r>
              <a:rPr lang="en-US"/>
              <a:t>Use ALU, subtract and check Zero output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Calculate target address</a:t>
            </a:r>
          </a:p>
          <a:p>
            <a:pPr lvl="1" eaLnBrk="1" hangingPunct="1">
              <a:defRPr/>
            </a:pPr>
            <a:r>
              <a:rPr lang="en-US"/>
              <a:t>Sign-extend displacement</a:t>
            </a:r>
          </a:p>
          <a:p>
            <a:pPr lvl="1" eaLnBrk="1" hangingPunct="1">
              <a:defRPr/>
            </a:pPr>
            <a:r>
              <a:rPr lang="en-US"/>
              <a:t>Shift left 2 places (word displacement)</a:t>
            </a:r>
          </a:p>
          <a:p>
            <a:pPr lvl="1" eaLnBrk="1" hangingPunct="1">
              <a:defRPr/>
            </a:pPr>
            <a:r>
              <a:rPr lang="en-US"/>
              <a:t>Add to PC + 4</a:t>
            </a:r>
          </a:p>
          <a:p>
            <a:pPr lvl="2" eaLnBrk="1" hangingPunct="1">
              <a:defRPr/>
            </a:pPr>
            <a:r>
              <a:rPr lang="en-US"/>
              <a:t>Already calculated by instruction fetch</a:t>
            </a:r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7AC1A63-5C04-6546-8359-549FD8D431E8}" type="slidenum">
              <a:rPr lang="en-AU"/>
              <a:pPr>
                <a:defRPr/>
              </a:pPr>
              <a:t>17</a:t>
            </a:fld>
            <a:endParaRPr lang="en-AU"/>
          </a:p>
        </p:txBody>
      </p:sp>
      <p:pic>
        <p:nvPicPr>
          <p:cNvPr id="37890" name="Picture 7" descr="f04-0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268413"/>
            <a:ext cx="6556375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Branch Instructions</a:t>
            </a:r>
            <a:endParaRPr lang="en-AU">
              <a:cs typeface="+mj-cs"/>
            </a:endParaRPr>
          </a:p>
        </p:txBody>
      </p:sp>
      <p:sp>
        <p:nvSpPr>
          <p:cNvPr id="289796" name="AutoShape 4"/>
          <p:cNvSpPr>
            <a:spLocks/>
          </p:cNvSpPr>
          <p:nvPr/>
        </p:nvSpPr>
        <p:spPr bwMode="auto">
          <a:xfrm>
            <a:off x="1187450" y="1557338"/>
            <a:ext cx="1079500" cy="865187"/>
          </a:xfrm>
          <a:prstGeom prst="borderCallout1">
            <a:avLst>
              <a:gd name="adj1" fmla="val 13213"/>
              <a:gd name="adj2" fmla="val 107060"/>
              <a:gd name="adj3" fmla="val 66241"/>
              <a:gd name="adj4" fmla="val 3552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Just</a:t>
            </a:r>
            <a:br>
              <a:rPr lang="en-US">
                <a:cs typeface="+mn-cs"/>
              </a:rPr>
            </a:br>
            <a:r>
              <a:rPr lang="en-US">
                <a:cs typeface="+mn-cs"/>
              </a:rPr>
              <a:t>re-routes wires</a:t>
            </a:r>
            <a:endParaRPr lang="en-AU">
              <a:cs typeface="+mn-cs"/>
            </a:endParaRPr>
          </a:p>
        </p:txBody>
      </p:sp>
      <p:sp>
        <p:nvSpPr>
          <p:cNvPr id="289797" name="AutoShape 5"/>
          <p:cNvSpPr>
            <a:spLocks/>
          </p:cNvSpPr>
          <p:nvPr/>
        </p:nvSpPr>
        <p:spPr bwMode="auto">
          <a:xfrm>
            <a:off x="5364163" y="5661025"/>
            <a:ext cx="1368425" cy="647700"/>
          </a:xfrm>
          <a:prstGeom prst="borderCallout1">
            <a:avLst>
              <a:gd name="adj1" fmla="val 17648"/>
              <a:gd name="adj2" fmla="val -5569"/>
              <a:gd name="adj3" fmla="val 8579"/>
              <a:gd name="adj4" fmla="val -5963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Sign-bit wire replicated</a:t>
            </a:r>
            <a:endParaRPr lang="en-AU"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78B77C7-DFE5-4348-A513-970E31C00DA3}" type="slidenum">
              <a:rPr lang="en-AU"/>
              <a:pPr>
                <a:defRPr/>
              </a:pPr>
              <a:t>18</a:t>
            </a:fld>
            <a:endParaRPr lang="en-AU"/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Composing the Elements</a:t>
            </a:r>
            <a:endParaRPr lang="en-AU">
              <a:cs typeface="+mj-cs"/>
            </a:endParaRP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First-cut data path does an instruction in one clock cycle</a:t>
            </a:r>
          </a:p>
          <a:p>
            <a:pPr lvl="1" eaLnBrk="1" hangingPunct="1">
              <a:defRPr/>
            </a:pPr>
            <a:r>
              <a:rPr lang="en-US" dirty="0"/>
              <a:t>Each datapath element can only do one function at a time</a:t>
            </a:r>
          </a:p>
          <a:p>
            <a:pPr lvl="1" eaLnBrk="1" hangingPunct="1">
              <a:defRPr/>
            </a:pPr>
            <a:r>
              <a:rPr lang="en-US" dirty="0"/>
              <a:t>Hence, we need separate instruction and data memories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Use multiplexers where alternate data sources are used for different instructions</a:t>
            </a:r>
            <a:endParaRPr lang="en-AU" dirty="0"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84E176A-7AEA-0D40-91C8-F610ECC2E318}" type="slidenum">
              <a:rPr lang="en-AU"/>
              <a:pPr>
                <a:defRPr/>
              </a:pPr>
              <a:t>19</a:t>
            </a:fld>
            <a:endParaRPr lang="en-AU"/>
          </a:p>
        </p:txBody>
      </p:sp>
      <p:pic>
        <p:nvPicPr>
          <p:cNvPr id="41986" name="Picture 5" descr="f04-1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628775"/>
            <a:ext cx="789305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R-Type/Load/Store Datapath</a:t>
            </a:r>
            <a:endParaRPr lang="en-AU" dirty="0"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A89742A8-B21B-CF47-92C3-87BD79AB51D5}" type="slidenum">
              <a:rPr lang="en-AU"/>
              <a:pPr>
                <a:defRPr/>
              </a:pPr>
              <a:t>20</a:t>
            </a:fld>
            <a:endParaRPr lang="en-AU"/>
          </a:p>
        </p:txBody>
      </p:sp>
      <p:pic>
        <p:nvPicPr>
          <p:cNvPr id="44034" name="Picture 5" descr="f04-1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41438"/>
            <a:ext cx="750411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Full Datapath</a:t>
            </a:r>
            <a:endParaRPr lang="en-AU" dirty="0"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A1582D86-6717-1548-8B9A-23577173428D}" type="slidenum">
              <a:rPr lang="en-AU"/>
              <a:pPr>
                <a:defRPr/>
              </a:pPr>
              <a:t>21</a:t>
            </a:fld>
            <a:endParaRPr lang="en-AU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ALU Control</a:t>
            </a:r>
            <a:endParaRPr lang="en-AU">
              <a:cs typeface="+mj-cs"/>
            </a:endParaRP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8125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ALU used for</a:t>
            </a:r>
          </a:p>
          <a:p>
            <a:pPr lvl="1" eaLnBrk="1" hangingPunct="1">
              <a:defRPr/>
            </a:pPr>
            <a:r>
              <a:rPr lang="en-US"/>
              <a:t>Load/Store: F = add</a:t>
            </a:r>
          </a:p>
          <a:p>
            <a:pPr lvl="1" eaLnBrk="1" hangingPunct="1">
              <a:defRPr/>
            </a:pPr>
            <a:r>
              <a:rPr lang="en-US"/>
              <a:t>Branch: F = subtract</a:t>
            </a:r>
          </a:p>
          <a:p>
            <a:pPr lvl="1" eaLnBrk="1" hangingPunct="1">
              <a:defRPr/>
            </a:pPr>
            <a:r>
              <a:rPr lang="en-US"/>
              <a:t>R-type: F depends on funct field</a:t>
            </a:r>
            <a:endParaRPr lang="en-AU"/>
          </a:p>
        </p:txBody>
      </p:sp>
      <p:sp>
        <p:nvSpPr>
          <p:cNvPr id="297988" name="Text Box 4"/>
          <p:cNvSpPr txBox="1">
            <a:spLocks noChangeArrowheads="1"/>
          </p:cNvSpPr>
          <p:nvPr/>
        </p:nvSpPr>
        <p:spPr bwMode="auto">
          <a:xfrm rot="5400000">
            <a:off x="6893719" y="1883569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solidFill>
                  <a:schemeClr val="folHlink"/>
                </a:solidFill>
                <a:cs typeface="+mn-cs"/>
              </a:rPr>
              <a:t>§4.4 A Simple Implementation Scheme</a:t>
            </a:r>
          </a:p>
        </p:txBody>
      </p:sp>
      <p:graphicFrame>
        <p:nvGraphicFramePr>
          <p:cNvPr id="297989" name="Group 5"/>
          <p:cNvGraphicFramePr>
            <a:graphicFrameLocks noGrp="1"/>
          </p:cNvGraphicFramePr>
          <p:nvPr/>
        </p:nvGraphicFramePr>
        <p:xfrm>
          <a:off x="1187450" y="3500438"/>
          <a:ext cx="6096000" cy="256063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ALU control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Function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AND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0001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OR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add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0110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subtract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0111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set-on-less-than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1100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NOR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A6838CF7-6E40-D24D-A54F-056063035695}" type="slidenum">
              <a:rPr lang="en-AU"/>
              <a:pPr>
                <a:defRPr/>
              </a:pPr>
              <a:t>22</a:t>
            </a:fld>
            <a:endParaRPr lang="en-AU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ALU Control</a:t>
            </a:r>
            <a:endParaRPr lang="en-AU">
              <a:cs typeface="+mj-cs"/>
            </a:endParaRP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Assume 2-bit ALUOp derived from opcode</a:t>
            </a:r>
          </a:p>
          <a:p>
            <a:pPr lvl="1" eaLnBrk="1" hangingPunct="1">
              <a:defRPr/>
            </a:pPr>
            <a:r>
              <a:rPr lang="en-US"/>
              <a:t>Combinational logic derives ALU control</a:t>
            </a:r>
            <a:endParaRPr lang="en-AU"/>
          </a:p>
        </p:txBody>
      </p:sp>
      <p:graphicFrame>
        <p:nvGraphicFramePr>
          <p:cNvPr id="300101" name="Group 69"/>
          <p:cNvGraphicFramePr>
            <a:graphicFrameLocks noGrp="1"/>
          </p:cNvGraphicFramePr>
          <p:nvPr/>
        </p:nvGraphicFramePr>
        <p:xfrm>
          <a:off x="827088" y="2636838"/>
          <a:ext cx="7921625" cy="3025776"/>
        </p:xfrm>
        <a:graphic>
          <a:graphicData uri="http://schemas.openxmlformats.org/drawingml/2006/table">
            <a:tbl>
              <a:tblPr/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opcode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ALUOp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Operation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funct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ALU function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ALU control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lw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load word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XXXXXX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sw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store word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XXXXXX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beq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branch equal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XXXXXX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subtract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0110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R-type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100000</a:t>
                      </a:r>
                      <a:endParaRPr kumimoji="0" lang="en-A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add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subtract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100010</a:t>
                      </a:r>
                      <a:endParaRPr kumimoji="0" lang="en-A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subtract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0110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AND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100100</a:t>
                      </a:r>
                      <a:endParaRPr kumimoji="0" lang="en-A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AND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0000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OR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100101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OR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0001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set-on-less-than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101010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set-on-less-than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0111</a:t>
                      </a:r>
                      <a:endParaRPr kumimoji="0" lang="en-A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5C0241BA-0038-754A-B5BE-A71704A43890}" type="slidenum">
              <a:rPr lang="en-AU"/>
              <a:pPr>
                <a:defRPr/>
              </a:pPr>
              <a:t>23</a:t>
            </a:fld>
            <a:endParaRPr lang="en-AU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The Main Control Unit</a:t>
            </a:r>
            <a:endParaRPr lang="en-AU">
              <a:cs typeface="+mj-cs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Control signals derived from instruction</a:t>
            </a:r>
            <a:endParaRPr lang="en-AU">
              <a:cs typeface="+mn-cs"/>
            </a:endParaRPr>
          </a:p>
        </p:txBody>
      </p:sp>
      <p:grpSp>
        <p:nvGrpSpPr>
          <p:cNvPr id="50180" name="Group 4"/>
          <p:cNvGrpSpPr>
            <a:grpSpLocks/>
          </p:cNvGrpSpPr>
          <p:nvPr/>
        </p:nvGrpSpPr>
        <p:grpSpPr bwMode="auto">
          <a:xfrm>
            <a:off x="1619250" y="2060575"/>
            <a:ext cx="6913563" cy="773113"/>
            <a:chOff x="703" y="981"/>
            <a:chExt cx="4355" cy="487"/>
          </a:xfrm>
        </p:grpSpPr>
        <p:sp>
          <p:nvSpPr>
            <p:cNvPr id="302085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0</a:t>
              </a:r>
              <a:endParaRPr lang="en-AU" sz="2000">
                <a:cs typeface="+mn-cs"/>
              </a:endParaRPr>
            </a:p>
          </p:txBody>
        </p:sp>
        <p:sp>
          <p:nvSpPr>
            <p:cNvPr id="302086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rs</a:t>
              </a:r>
              <a:endParaRPr lang="en-AU" sz="2000">
                <a:cs typeface="+mn-cs"/>
              </a:endParaRPr>
            </a:p>
          </p:txBody>
        </p:sp>
        <p:sp>
          <p:nvSpPr>
            <p:cNvPr id="302087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rt</a:t>
              </a:r>
              <a:endParaRPr lang="en-AU" sz="2000">
                <a:cs typeface="+mn-cs"/>
              </a:endParaRPr>
            </a:p>
          </p:txBody>
        </p:sp>
        <p:sp>
          <p:nvSpPr>
            <p:cNvPr id="302088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rd</a:t>
              </a:r>
              <a:endParaRPr lang="en-AU" sz="2000">
                <a:cs typeface="+mn-cs"/>
              </a:endParaRPr>
            </a:p>
          </p:txBody>
        </p:sp>
        <p:sp>
          <p:nvSpPr>
            <p:cNvPr id="302089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shamt</a:t>
              </a:r>
              <a:endParaRPr lang="en-AU" sz="2000">
                <a:cs typeface="+mn-cs"/>
              </a:endParaRPr>
            </a:p>
          </p:txBody>
        </p:sp>
        <p:sp>
          <p:nvSpPr>
            <p:cNvPr id="302090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funct</a:t>
              </a:r>
              <a:endParaRPr lang="en-AU" sz="2000">
                <a:cs typeface="+mn-cs"/>
              </a:endParaRPr>
            </a:p>
          </p:txBody>
        </p:sp>
        <p:sp>
          <p:nvSpPr>
            <p:cNvPr id="302091" name="Text Box 11"/>
            <p:cNvSpPr txBox="1">
              <a:spLocks noChangeArrowheads="1"/>
            </p:cNvSpPr>
            <p:nvPr/>
          </p:nvSpPr>
          <p:spPr bwMode="auto">
            <a:xfrm>
              <a:off x="879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31:26</a:t>
              </a:r>
              <a:endParaRPr lang="en-AU">
                <a:cs typeface="+mn-cs"/>
              </a:endParaRPr>
            </a:p>
          </p:txBody>
        </p:sp>
        <p:sp>
          <p:nvSpPr>
            <p:cNvPr id="302092" name="Text Box 12"/>
            <p:cNvSpPr txBox="1">
              <a:spLocks noChangeArrowheads="1"/>
            </p:cNvSpPr>
            <p:nvPr/>
          </p:nvSpPr>
          <p:spPr bwMode="auto">
            <a:xfrm>
              <a:off x="4488" y="1256"/>
              <a:ext cx="2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5:0</a:t>
              </a:r>
              <a:endParaRPr lang="en-AU">
                <a:cs typeface="+mn-cs"/>
              </a:endParaRPr>
            </a:p>
          </p:txBody>
        </p:sp>
        <p:sp>
          <p:nvSpPr>
            <p:cNvPr id="302093" name="Text Box 13"/>
            <p:cNvSpPr txBox="1">
              <a:spLocks noChangeArrowheads="1"/>
            </p:cNvSpPr>
            <p:nvPr/>
          </p:nvSpPr>
          <p:spPr bwMode="auto">
            <a:xfrm>
              <a:off x="1650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25:21</a:t>
              </a:r>
              <a:endParaRPr lang="en-AU">
                <a:cs typeface="+mn-cs"/>
              </a:endParaRPr>
            </a:p>
          </p:txBody>
        </p:sp>
        <p:sp>
          <p:nvSpPr>
            <p:cNvPr id="302094" name="Text Box 14"/>
            <p:cNvSpPr txBox="1">
              <a:spLocks noChangeArrowheads="1"/>
            </p:cNvSpPr>
            <p:nvPr/>
          </p:nvSpPr>
          <p:spPr bwMode="auto">
            <a:xfrm>
              <a:off x="2331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20:16</a:t>
              </a:r>
              <a:endParaRPr lang="en-AU">
                <a:cs typeface="+mn-cs"/>
              </a:endParaRPr>
            </a:p>
          </p:txBody>
        </p:sp>
        <p:sp>
          <p:nvSpPr>
            <p:cNvPr id="302095" name="Text Box 15"/>
            <p:cNvSpPr txBox="1">
              <a:spLocks noChangeArrowheads="1"/>
            </p:cNvSpPr>
            <p:nvPr/>
          </p:nvSpPr>
          <p:spPr bwMode="auto">
            <a:xfrm>
              <a:off x="3011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15:11</a:t>
              </a:r>
              <a:endParaRPr lang="en-AU">
                <a:cs typeface="+mn-cs"/>
              </a:endParaRPr>
            </a:p>
          </p:txBody>
        </p:sp>
        <p:sp>
          <p:nvSpPr>
            <p:cNvPr id="302096" name="Text Box 16"/>
            <p:cNvSpPr txBox="1">
              <a:spLocks noChangeArrowheads="1"/>
            </p:cNvSpPr>
            <p:nvPr/>
          </p:nvSpPr>
          <p:spPr bwMode="auto">
            <a:xfrm>
              <a:off x="3727" y="1256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10:6</a:t>
              </a:r>
              <a:endParaRPr lang="en-AU">
                <a:cs typeface="+mn-cs"/>
              </a:endParaRPr>
            </a:p>
          </p:txBody>
        </p:sp>
      </p:grpSp>
      <p:grpSp>
        <p:nvGrpSpPr>
          <p:cNvPr id="50181" name="Group 17"/>
          <p:cNvGrpSpPr>
            <a:grpSpLocks/>
          </p:cNvGrpSpPr>
          <p:nvPr/>
        </p:nvGrpSpPr>
        <p:grpSpPr bwMode="auto">
          <a:xfrm>
            <a:off x="1619250" y="3068638"/>
            <a:ext cx="6913563" cy="773112"/>
            <a:chOff x="884" y="981"/>
            <a:chExt cx="4355" cy="487"/>
          </a:xfrm>
        </p:grpSpPr>
        <p:sp>
          <p:nvSpPr>
            <p:cNvPr id="302098" name="Text Box 18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35 or 43</a:t>
              </a:r>
              <a:endParaRPr lang="en-AU" sz="2000">
                <a:cs typeface="+mn-cs"/>
              </a:endParaRPr>
            </a:p>
          </p:txBody>
        </p:sp>
        <p:sp>
          <p:nvSpPr>
            <p:cNvPr id="302099" name="Text Box 19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rs</a:t>
              </a:r>
              <a:endParaRPr lang="en-AU" sz="2000">
                <a:cs typeface="+mn-cs"/>
              </a:endParaRPr>
            </a:p>
          </p:txBody>
        </p:sp>
        <p:sp>
          <p:nvSpPr>
            <p:cNvPr id="302100" name="Text Box 20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rt</a:t>
              </a:r>
              <a:endParaRPr lang="en-AU" sz="2000">
                <a:cs typeface="+mn-cs"/>
              </a:endParaRPr>
            </a:p>
          </p:txBody>
        </p:sp>
        <p:sp>
          <p:nvSpPr>
            <p:cNvPr id="302101" name="Text Box 21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address</a:t>
              </a:r>
              <a:endParaRPr lang="en-AU" sz="2000">
                <a:cs typeface="+mn-cs"/>
              </a:endParaRPr>
            </a:p>
          </p:txBody>
        </p:sp>
        <p:sp>
          <p:nvSpPr>
            <p:cNvPr id="302102" name="Text Box 22"/>
            <p:cNvSpPr txBox="1">
              <a:spLocks noChangeArrowheads="1"/>
            </p:cNvSpPr>
            <p:nvPr/>
          </p:nvSpPr>
          <p:spPr bwMode="auto">
            <a:xfrm>
              <a:off x="1060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31:26</a:t>
              </a:r>
              <a:endParaRPr lang="en-AU">
                <a:cs typeface="+mn-cs"/>
              </a:endParaRPr>
            </a:p>
          </p:txBody>
        </p:sp>
        <p:sp>
          <p:nvSpPr>
            <p:cNvPr id="302103" name="Text Box 23"/>
            <p:cNvSpPr txBox="1">
              <a:spLocks noChangeArrowheads="1"/>
            </p:cNvSpPr>
            <p:nvPr/>
          </p:nvSpPr>
          <p:spPr bwMode="auto">
            <a:xfrm>
              <a:off x="1831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25:21</a:t>
              </a:r>
              <a:endParaRPr lang="en-AU">
                <a:cs typeface="+mn-cs"/>
              </a:endParaRPr>
            </a:p>
          </p:txBody>
        </p:sp>
        <p:sp>
          <p:nvSpPr>
            <p:cNvPr id="302104" name="Text Box 24"/>
            <p:cNvSpPr txBox="1">
              <a:spLocks noChangeArrowheads="1"/>
            </p:cNvSpPr>
            <p:nvPr/>
          </p:nvSpPr>
          <p:spPr bwMode="auto">
            <a:xfrm>
              <a:off x="2512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20:16</a:t>
              </a:r>
              <a:endParaRPr lang="en-AU">
                <a:cs typeface="+mn-cs"/>
              </a:endParaRPr>
            </a:p>
          </p:txBody>
        </p:sp>
        <p:sp>
          <p:nvSpPr>
            <p:cNvPr id="302105" name="Text Box 25"/>
            <p:cNvSpPr txBox="1">
              <a:spLocks noChangeArrowheads="1"/>
            </p:cNvSpPr>
            <p:nvPr/>
          </p:nvSpPr>
          <p:spPr bwMode="auto">
            <a:xfrm>
              <a:off x="4000" y="1256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15:0</a:t>
              </a:r>
              <a:endParaRPr lang="en-AU">
                <a:cs typeface="+mn-cs"/>
              </a:endParaRPr>
            </a:p>
          </p:txBody>
        </p:sp>
      </p:grpSp>
      <p:grpSp>
        <p:nvGrpSpPr>
          <p:cNvPr id="50182" name="Group 26"/>
          <p:cNvGrpSpPr>
            <a:grpSpLocks/>
          </p:cNvGrpSpPr>
          <p:nvPr/>
        </p:nvGrpSpPr>
        <p:grpSpPr bwMode="auto">
          <a:xfrm>
            <a:off x="1619250" y="4052888"/>
            <a:ext cx="6913563" cy="773112"/>
            <a:chOff x="884" y="981"/>
            <a:chExt cx="4355" cy="487"/>
          </a:xfrm>
        </p:grpSpPr>
        <p:sp>
          <p:nvSpPr>
            <p:cNvPr id="302107" name="Text Box 27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4</a:t>
              </a:r>
              <a:endParaRPr lang="en-AU" sz="2000">
                <a:cs typeface="+mn-cs"/>
              </a:endParaRPr>
            </a:p>
          </p:txBody>
        </p:sp>
        <p:sp>
          <p:nvSpPr>
            <p:cNvPr id="302108" name="Text Box 28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rs</a:t>
              </a:r>
              <a:endParaRPr lang="en-AU" sz="2000">
                <a:cs typeface="+mn-cs"/>
              </a:endParaRPr>
            </a:p>
          </p:txBody>
        </p:sp>
        <p:sp>
          <p:nvSpPr>
            <p:cNvPr id="302109" name="Text Box 29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rt</a:t>
              </a:r>
              <a:endParaRPr lang="en-AU" sz="2000">
                <a:cs typeface="+mn-cs"/>
              </a:endParaRPr>
            </a:p>
          </p:txBody>
        </p:sp>
        <p:sp>
          <p:nvSpPr>
            <p:cNvPr id="302110" name="Text Box 30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address</a:t>
              </a:r>
              <a:endParaRPr lang="en-AU" sz="2000">
                <a:cs typeface="+mn-cs"/>
              </a:endParaRPr>
            </a:p>
          </p:txBody>
        </p:sp>
        <p:sp>
          <p:nvSpPr>
            <p:cNvPr id="302111" name="Text Box 31"/>
            <p:cNvSpPr txBox="1">
              <a:spLocks noChangeArrowheads="1"/>
            </p:cNvSpPr>
            <p:nvPr/>
          </p:nvSpPr>
          <p:spPr bwMode="auto">
            <a:xfrm>
              <a:off x="1060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31:26</a:t>
              </a:r>
              <a:endParaRPr lang="en-AU">
                <a:cs typeface="+mn-cs"/>
              </a:endParaRPr>
            </a:p>
          </p:txBody>
        </p:sp>
        <p:sp>
          <p:nvSpPr>
            <p:cNvPr id="302112" name="Text Box 32"/>
            <p:cNvSpPr txBox="1">
              <a:spLocks noChangeArrowheads="1"/>
            </p:cNvSpPr>
            <p:nvPr/>
          </p:nvSpPr>
          <p:spPr bwMode="auto">
            <a:xfrm>
              <a:off x="1831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25:21</a:t>
              </a:r>
              <a:endParaRPr lang="en-AU">
                <a:cs typeface="+mn-cs"/>
              </a:endParaRPr>
            </a:p>
          </p:txBody>
        </p:sp>
        <p:sp>
          <p:nvSpPr>
            <p:cNvPr id="302113" name="Text Box 33"/>
            <p:cNvSpPr txBox="1">
              <a:spLocks noChangeArrowheads="1"/>
            </p:cNvSpPr>
            <p:nvPr/>
          </p:nvSpPr>
          <p:spPr bwMode="auto">
            <a:xfrm>
              <a:off x="2512" y="1256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20:16</a:t>
              </a:r>
              <a:endParaRPr lang="en-AU">
                <a:cs typeface="+mn-cs"/>
              </a:endParaRPr>
            </a:p>
          </p:txBody>
        </p:sp>
        <p:sp>
          <p:nvSpPr>
            <p:cNvPr id="302114" name="Text Box 34"/>
            <p:cNvSpPr txBox="1">
              <a:spLocks noChangeArrowheads="1"/>
            </p:cNvSpPr>
            <p:nvPr/>
          </p:nvSpPr>
          <p:spPr bwMode="auto">
            <a:xfrm>
              <a:off x="4000" y="1256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15:0</a:t>
              </a:r>
              <a:endParaRPr lang="en-AU">
                <a:cs typeface="+mn-cs"/>
              </a:endParaRPr>
            </a:p>
          </p:txBody>
        </p:sp>
      </p:grpSp>
      <p:sp>
        <p:nvSpPr>
          <p:cNvPr id="302115" name="Text Box 35"/>
          <p:cNvSpPr txBox="1">
            <a:spLocks noChangeArrowheads="1"/>
          </p:cNvSpPr>
          <p:nvPr/>
        </p:nvSpPr>
        <p:spPr bwMode="auto">
          <a:xfrm>
            <a:off x="595313" y="2112963"/>
            <a:ext cx="857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R-type</a:t>
            </a:r>
            <a:endParaRPr lang="en-AU" sz="1800">
              <a:cs typeface="+mn-cs"/>
            </a:endParaRPr>
          </a:p>
        </p:txBody>
      </p:sp>
      <p:sp>
        <p:nvSpPr>
          <p:cNvPr id="302116" name="Text Box 36"/>
          <p:cNvSpPr txBox="1">
            <a:spLocks noChangeArrowheads="1"/>
          </p:cNvSpPr>
          <p:nvPr/>
        </p:nvSpPr>
        <p:spPr bwMode="auto">
          <a:xfrm>
            <a:off x="595313" y="2978150"/>
            <a:ext cx="755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Load/</a:t>
            </a:r>
            <a:br>
              <a:rPr lang="en-US" sz="1800">
                <a:cs typeface="+mn-cs"/>
              </a:rPr>
            </a:br>
            <a:r>
              <a:rPr lang="en-US" sz="1800">
                <a:cs typeface="+mn-cs"/>
              </a:rPr>
              <a:t>Store</a:t>
            </a:r>
            <a:endParaRPr lang="en-AU" sz="1800">
              <a:cs typeface="+mn-cs"/>
            </a:endParaRPr>
          </a:p>
        </p:txBody>
      </p:sp>
      <p:sp>
        <p:nvSpPr>
          <p:cNvPr id="302117" name="Text Box 37"/>
          <p:cNvSpPr txBox="1">
            <a:spLocks noChangeArrowheads="1"/>
          </p:cNvSpPr>
          <p:nvPr/>
        </p:nvSpPr>
        <p:spPr bwMode="auto">
          <a:xfrm>
            <a:off x="595313" y="4129088"/>
            <a:ext cx="908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Branch</a:t>
            </a:r>
            <a:endParaRPr lang="en-AU" sz="1800">
              <a:cs typeface="+mn-cs"/>
            </a:endParaRPr>
          </a:p>
        </p:txBody>
      </p:sp>
      <p:sp>
        <p:nvSpPr>
          <p:cNvPr id="302118" name="AutoShape 38"/>
          <p:cNvSpPr>
            <a:spLocks/>
          </p:cNvSpPr>
          <p:nvPr/>
        </p:nvSpPr>
        <p:spPr bwMode="auto">
          <a:xfrm rot="-5400000">
            <a:off x="2196307" y="4485481"/>
            <a:ext cx="144462" cy="1152525"/>
          </a:xfrm>
          <a:prstGeom prst="leftBrace">
            <a:avLst>
              <a:gd name="adj1" fmla="val 664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2119" name="AutoShape 39"/>
          <p:cNvSpPr>
            <a:spLocks/>
          </p:cNvSpPr>
          <p:nvPr/>
        </p:nvSpPr>
        <p:spPr bwMode="auto">
          <a:xfrm rot="-5400000">
            <a:off x="3384551" y="4594225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2120" name="AutoShape 40"/>
          <p:cNvSpPr>
            <a:spLocks/>
          </p:cNvSpPr>
          <p:nvPr/>
        </p:nvSpPr>
        <p:spPr bwMode="auto">
          <a:xfrm rot="-5400000">
            <a:off x="4464051" y="4594225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2121" name="Text Box 41"/>
          <p:cNvSpPr txBox="1">
            <a:spLocks noChangeArrowheads="1"/>
          </p:cNvSpPr>
          <p:nvPr/>
        </p:nvSpPr>
        <p:spPr bwMode="auto">
          <a:xfrm>
            <a:off x="1765300" y="5205413"/>
            <a:ext cx="1008063" cy="3762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>
                <a:cs typeface="+mn-cs"/>
              </a:rPr>
              <a:t>opcode</a:t>
            </a:r>
            <a:endParaRPr lang="en-AU" sz="1800">
              <a:cs typeface="+mn-cs"/>
            </a:endParaRPr>
          </a:p>
        </p:txBody>
      </p:sp>
      <p:sp>
        <p:nvSpPr>
          <p:cNvPr id="302122" name="Text Box 42"/>
          <p:cNvSpPr txBox="1">
            <a:spLocks noChangeArrowheads="1"/>
          </p:cNvSpPr>
          <p:nvPr/>
        </p:nvSpPr>
        <p:spPr bwMode="auto">
          <a:xfrm>
            <a:off x="2916238" y="5205413"/>
            <a:ext cx="1008062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>
                <a:cs typeface="+mn-cs"/>
              </a:rPr>
              <a:t>always read</a:t>
            </a:r>
            <a:endParaRPr lang="en-AU" sz="1800">
              <a:cs typeface="+mn-cs"/>
            </a:endParaRPr>
          </a:p>
        </p:txBody>
      </p:sp>
      <p:sp>
        <p:nvSpPr>
          <p:cNvPr id="302123" name="Text Box 43"/>
          <p:cNvSpPr txBox="1">
            <a:spLocks noChangeArrowheads="1"/>
          </p:cNvSpPr>
          <p:nvPr/>
        </p:nvSpPr>
        <p:spPr bwMode="auto">
          <a:xfrm>
            <a:off x="4068763" y="5205413"/>
            <a:ext cx="1008062" cy="925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>
                <a:cs typeface="+mn-cs"/>
              </a:rPr>
              <a:t>read, except for load</a:t>
            </a:r>
            <a:endParaRPr lang="en-AU" sz="1800">
              <a:cs typeface="+mn-cs"/>
            </a:endParaRPr>
          </a:p>
        </p:txBody>
      </p:sp>
      <p:sp>
        <p:nvSpPr>
          <p:cNvPr id="302124" name="Text Box 44"/>
          <p:cNvSpPr txBox="1">
            <a:spLocks noChangeArrowheads="1"/>
          </p:cNvSpPr>
          <p:nvPr/>
        </p:nvSpPr>
        <p:spPr bwMode="auto">
          <a:xfrm>
            <a:off x="5581650" y="5205413"/>
            <a:ext cx="1223963" cy="925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>
                <a:cs typeface="+mn-cs"/>
              </a:rPr>
              <a:t>write for R-type and load</a:t>
            </a:r>
            <a:endParaRPr lang="en-AU" sz="1800">
              <a:cs typeface="+mn-cs"/>
            </a:endParaRPr>
          </a:p>
        </p:txBody>
      </p:sp>
      <p:sp>
        <p:nvSpPr>
          <p:cNvPr id="302125" name="Line 45"/>
          <p:cNvSpPr>
            <a:spLocks noChangeShapeType="1"/>
          </p:cNvSpPr>
          <p:nvPr/>
        </p:nvSpPr>
        <p:spPr bwMode="auto">
          <a:xfrm flipH="1" flipV="1">
            <a:off x="5005388" y="3548063"/>
            <a:ext cx="576262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2126" name="Line 46"/>
          <p:cNvSpPr>
            <a:spLocks noChangeShapeType="1"/>
          </p:cNvSpPr>
          <p:nvPr/>
        </p:nvSpPr>
        <p:spPr bwMode="auto">
          <a:xfrm flipH="1" flipV="1">
            <a:off x="5292725" y="2540000"/>
            <a:ext cx="360363" cy="259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2127" name="Text Box 47"/>
          <p:cNvSpPr txBox="1">
            <a:spLocks noChangeArrowheads="1"/>
          </p:cNvSpPr>
          <p:nvPr/>
        </p:nvSpPr>
        <p:spPr bwMode="auto">
          <a:xfrm>
            <a:off x="7308850" y="5205413"/>
            <a:ext cx="1439863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800">
                <a:cs typeface="+mn-cs"/>
              </a:rPr>
              <a:t>sign-extend and add</a:t>
            </a:r>
            <a:endParaRPr lang="en-AU" sz="1800">
              <a:cs typeface="+mn-cs"/>
            </a:endParaRPr>
          </a:p>
        </p:txBody>
      </p:sp>
      <p:sp>
        <p:nvSpPr>
          <p:cNvPr id="302128" name="Line 48"/>
          <p:cNvSpPr>
            <a:spLocks noChangeShapeType="1"/>
          </p:cNvSpPr>
          <p:nvPr/>
        </p:nvSpPr>
        <p:spPr bwMode="auto">
          <a:xfrm flipH="1" flipV="1">
            <a:off x="7453313" y="4556125"/>
            <a:ext cx="7143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2129" name="Line 49"/>
          <p:cNvSpPr>
            <a:spLocks noChangeShapeType="1"/>
          </p:cNvSpPr>
          <p:nvPr/>
        </p:nvSpPr>
        <p:spPr bwMode="auto">
          <a:xfrm flipV="1">
            <a:off x="7597775" y="3548063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CDC6C02-FFDE-9245-B405-F0F1DBF3A345}" type="slidenum">
              <a:rPr lang="en-AU"/>
              <a:pPr>
                <a:defRPr/>
              </a:pPr>
              <a:t>24</a:t>
            </a:fld>
            <a:endParaRPr lang="en-AU"/>
          </a:p>
        </p:txBody>
      </p:sp>
      <p:pic>
        <p:nvPicPr>
          <p:cNvPr id="52226" name="Picture 5" descr="f04-1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41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Datapath With Control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0DA8BBFB-42AC-934D-A25F-A54F80BBA30B}" type="slidenum">
              <a:rPr lang="en-AU"/>
              <a:pPr>
                <a:defRPr/>
              </a:pPr>
              <a:t>25</a:t>
            </a:fld>
            <a:endParaRPr lang="en-AU"/>
          </a:p>
        </p:txBody>
      </p:sp>
      <p:pic>
        <p:nvPicPr>
          <p:cNvPr id="54274" name="Picture 6" descr="f04-1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2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R-Type Instruction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0392462-E42F-1348-B0B1-596BA4C5A85F}" type="slidenum">
              <a:rPr lang="en-AU"/>
              <a:pPr>
                <a:defRPr/>
              </a:pPr>
              <a:t>26</a:t>
            </a:fld>
            <a:endParaRPr lang="en-AU"/>
          </a:p>
        </p:txBody>
      </p:sp>
      <p:pic>
        <p:nvPicPr>
          <p:cNvPr id="56322" name="Picture 6" descr="f04-2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23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Load Instruction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902BA915-BE94-0945-8038-61128B0DF583}" type="slidenum">
              <a:rPr lang="en-AU"/>
              <a:pPr>
                <a:defRPr/>
              </a:pPr>
              <a:t>27</a:t>
            </a:fld>
            <a:endParaRPr lang="en-AU"/>
          </a:p>
        </p:txBody>
      </p:sp>
      <p:pic>
        <p:nvPicPr>
          <p:cNvPr id="58370" name="Picture 6" descr="f04-2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196975"/>
            <a:ext cx="66802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53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Branch-on-Equal Instruction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0B0D7B55-8212-7E46-AF1E-E2A6EBDD750A}" type="slidenum">
              <a:rPr lang="en-AU"/>
              <a:pPr>
                <a:defRPr/>
              </a:pPr>
              <a:t>28</a:t>
            </a:fld>
            <a:endParaRPr lang="en-AU"/>
          </a:p>
        </p:txBody>
      </p:sp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Implementing Jumps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270875" cy="3887788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>
                <a:cs typeface="+mn-cs"/>
              </a:rPr>
              <a:t>Jump uses word address</a:t>
            </a:r>
          </a:p>
          <a:p>
            <a:pPr eaLnBrk="1" hangingPunct="1">
              <a:defRPr/>
            </a:pPr>
            <a:r>
              <a:rPr lang="en-AU" dirty="0">
                <a:cs typeface="+mn-cs"/>
              </a:rPr>
              <a:t>Update PC with concatenation of</a:t>
            </a:r>
          </a:p>
          <a:p>
            <a:pPr lvl="1" eaLnBrk="1" hangingPunct="1">
              <a:defRPr/>
            </a:pPr>
            <a:r>
              <a:rPr lang="en-AU" dirty="0"/>
              <a:t>Top 4 bits of old PC</a:t>
            </a:r>
          </a:p>
          <a:p>
            <a:pPr lvl="1" eaLnBrk="1" hangingPunct="1">
              <a:defRPr/>
            </a:pPr>
            <a:r>
              <a:rPr lang="en-AU" dirty="0"/>
              <a:t>26-bit jump address</a:t>
            </a:r>
          </a:p>
          <a:p>
            <a:pPr lvl="1" eaLnBrk="1" hangingPunct="1">
              <a:defRPr/>
            </a:pPr>
            <a:r>
              <a:rPr lang="en-AU" dirty="0"/>
              <a:t>00</a:t>
            </a:r>
          </a:p>
          <a:p>
            <a:pPr eaLnBrk="1" hangingPunct="1">
              <a:defRPr/>
            </a:pPr>
            <a:r>
              <a:rPr lang="en-AU" dirty="0">
                <a:cs typeface="+mn-cs"/>
              </a:rPr>
              <a:t>Need an extra control signal decoded from </a:t>
            </a:r>
            <a:r>
              <a:rPr lang="en-AU" dirty="0" err="1">
                <a:cs typeface="+mn-cs"/>
              </a:rPr>
              <a:t>opcode</a:t>
            </a:r>
            <a:endParaRPr lang="en-AU" dirty="0">
              <a:cs typeface="+mn-cs"/>
            </a:endParaRPr>
          </a:p>
        </p:txBody>
      </p:sp>
      <p:grpSp>
        <p:nvGrpSpPr>
          <p:cNvPr id="60420" name="Group 14"/>
          <p:cNvGrpSpPr>
            <a:grpSpLocks/>
          </p:cNvGrpSpPr>
          <p:nvPr/>
        </p:nvGrpSpPr>
        <p:grpSpPr bwMode="auto">
          <a:xfrm>
            <a:off x="1835150" y="1412875"/>
            <a:ext cx="6913563" cy="773113"/>
            <a:chOff x="1156" y="890"/>
            <a:chExt cx="4355" cy="487"/>
          </a:xfrm>
        </p:grpSpPr>
        <p:sp>
          <p:nvSpPr>
            <p:cNvPr id="318469" name="Text Box 5"/>
            <p:cNvSpPr txBox="1">
              <a:spLocks noChangeArrowheads="1"/>
            </p:cNvSpPr>
            <p:nvPr/>
          </p:nvSpPr>
          <p:spPr bwMode="auto">
            <a:xfrm>
              <a:off x="1156" y="89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2</a:t>
              </a:r>
              <a:endParaRPr lang="en-AU" sz="2000">
                <a:cs typeface="+mn-cs"/>
              </a:endParaRPr>
            </a:p>
          </p:txBody>
        </p:sp>
        <p:sp>
          <p:nvSpPr>
            <p:cNvPr id="318472" name="Text Box 8"/>
            <p:cNvSpPr txBox="1">
              <a:spLocks noChangeArrowheads="1"/>
            </p:cNvSpPr>
            <p:nvPr/>
          </p:nvSpPr>
          <p:spPr bwMode="auto">
            <a:xfrm>
              <a:off x="1973" y="890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>
                  <a:cs typeface="+mn-cs"/>
                </a:rPr>
                <a:t>address</a:t>
              </a:r>
              <a:endParaRPr lang="en-AU" sz="2000">
                <a:cs typeface="+mn-cs"/>
              </a:endParaRPr>
            </a:p>
          </p:txBody>
        </p:sp>
        <p:sp>
          <p:nvSpPr>
            <p:cNvPr id="318473" name="Text Box 9"/>
            <p:cNvSpPr txBox="1">
              <a:spLocks noChangeArrowheads="1"/>
            </p:cNvSpPr>
            <p:nvPr/>
          </p:nvSpPr>
          <p:spPr bwMode="auto">
            <a:xfrm>
              <a:off x="1332" y="1165"/>
              <a:ext cx="4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31:26</a:t>
              </a:r>
              <a:endParaRPr lang="en-AU">
                <a:cs typeface="+mn-cs"/>
              </a:endParaRPr>
            </a:p>
          </p:txBody>
        </p:sp>
        <p:sp>
          <p:nvSpPr>
            <p:cNvPr id="318476" name="Text Box 12"/>
            <p:cNvSpPr txBox="1">
              <a:spLocks noChangeArrowheads="1"/>
            </p:cNvSpPr>
            <p:nvPr/>
          </p:nvSpPr>
          <p:spPr bwMode="auto">
            <a:xfrm>
              <a:off x="3560" y="1165"/>
              <a:ext cx="4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>
                  <a:cs typeface="+mn-cs"/>
                </a:rPr>
                <a:t>25:0</a:t>
              </a:r>
              <a:endParaRPr lang="en-AU">
                <a:cs typeface="+mn-cs"/>
              </a:endParaRPr>
            </a:p>
          </p:txBody>
        </p:sp>
      </p:grp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811213" y="1489075"/>
            <a:ext cx="742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Jump</a:t>
            </a:r>
            <a:endParaRPr lang="en-AU" sz="1800"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11A722B-8472-0343-9E38-2CABD2CFE546}" type="slidenum">
              <a:rPr lang="en-AU"/>
              <a:pPr>
                <a:defRPr/>
              </a:pPr>
              <a:t>29</a:t>
            </a:fld>
            <a:endParaRPr lang="en-AU"/>
          </a:p>
        </p:txBody>
      </p:sp>
      <p:pic>
        <p:nvPicPr>
          <p:cNvPr id="62466" name="Picture 6" descr="f04-24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196975"/>
            <a:ext cx="6680200" cy="52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0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Datapath With Jumps Added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75924D0-8445-D347-ACAF-A9353830596F}" type="slidenum">
              <a:rPr lang="en-AU"/>
              <a:pPr>
                <a:defRPr/>
              </a:pPr>
              <a:t>30</a:t>
            </a:fld>
            <a:endParaRPr lang="en-AU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Performance Issues</a:t>
            </a:r>
            <a:endParaRPr lang="en-AU">
              <a:cs typeface="+mj-cs"/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Longest delay determines clock period</a:t>
            </a:r>
          </a:p>
          <a:p>
            <a:pPr lvl="1" eaLnBrk="1" hangingPunct="1">
              <a:defRPr/>
            </a:pPr>
            <a:r>
              <a:rPr lang="en-US"/>
              <a:t>Critical path: load instruction</a:t>
            </a:r>
          </a:p>
          <a:p>
            <a:pPr lvl="1" eaLnBrk="1" hangingPunct="1">
              <a:defRPr/>
            </a:pPr>
            <a:r>
              <a:rPr lang="en-US"/>
              <a:t>Instruction memory </a:t>
            </a:r>
            <a:r>
              <a:rPr lang="en-US">
                <a:sym typeface="Symbol" charset="0"/>
              </a:rPr>
              <a:t></a:t>
            </a:r>
            <a:r>
              <a:rPr lang="en-US"/>
              <a:t> register file </a:t>
            </a:r>
            <a:r>
              <a:rPr lang="en-US">
                <a:sym typeface="Symbol" charset="0"/>
              </a:rPr>
              <a:t></a:t>
            </a:r>
            <a:r>
              <a:rPr lang="en-US"/>
              <a:t> ALU </a:t>
            </a:r>
            <a:r>
              <a:rPr lang="en-US">
                <a:sym typeface="Symbol" charset="0"/>
              </a:rPr>
              <a:t></a:t>
            </a:r>
            <a:r>
              <a:rPr lang="en-US"/>
              <a:t> data memory </a:t>
            </a:r>
            <a:r>
              <a:rPr lang="en-US">
                <a:sym typeface="Symbol" charset="0"/>
              </a:rPr>
              <a:t></a:t>
            </a:r>
            <a:r>
              <a:rPr lang="en-US"/>
              <a:t> register file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Not feasible to vary period for different instructions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Violates design principle</a:t>
            </a:r>
          </a:p>
          <a:p>
            <a:pPr lvl="1" eaLnBrk="1" hangingPunct="1">
              <a:defRPr/>
            </a:pPr>
            <a:r>
              <a:rPr lang="en-US"/>
              <a:t>Making the common case fast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We will improve performance by pipelining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dirty="0"/>
              <a:t>Chapter 4 — The Processor — </a:t>
            </a:r>
            <a:fld id="{79AE91B1-0665-9346-89A3-0735ED93A2AD}" type="slidenum">
              <a:rPr lang="en-AU"/>
              <a:pPr>
                <a:defRPr/>
              </a:pPr>
              <a:t>31</a:t>
            </a:fld>
            <a:endParaRPr lang="en-AU" dirty="0"/>
          </a:p>
        </p:txBody>
      </p:sp>
      <p:pic>
        <p:nvPicPr>
          <p:cNvPr id="66562" name="Picture 8" descr="f04-25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420938"/>
            <a:ext cx="4484687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Pipelining Analogy</a:t>
            </a:r>
            <a:endParaRPr lang="en-AU">
              <a:cs typeface="+mj-cs"/>
            </a:endParaRP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Pipelined laundry: overlapping execution</a:t>
            </a:r>
          </a:p>
          <a:p>
            <a:pPr lvl="1" eaLnBrk="1" hangingPunct="1">
              <a:defRPr/>
            </a:pPr>
            <a:r>
              <a:rPr lang="en-US"/>
              <a:t>Parallelism improves performance</a:t>
            </a: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 rot="5400000">
            <a:off x="7312819" y="1464469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solidFill>
                  <a:schemeClr val="folHlink"/>
                </a:solidFill>
                <a:cs typeface="+mn-cs"/>
              </a:rPr>
              <a:t>§4.5 An Overview of Pipelining</a:t>
            </a:r>
          </a:p>
        </p:txBody>
      </p:sp>
      <p:sp>
        <p:nvSpPr>
          <p:cNvPr id="323590" name="Rectangle 6"/>
          <p:cNvSpPr>
            <a:spLocks noChangeArrowheads="1"/>
          </p:cNvSpPr>
          <p:nvPr/>
        </p:nvSpPr>
        <p:spPr bwMode="auto">
          <a:xfrm>
            <a:off x="5292725" y="2708275"/>
            <a:ext cx="3735388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2800" dirty="0">
                <a:cs typeface="+mn-cs"/>
              </a:rPr>
              <a:t>Four loads: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400" dirty="0">
                <a:cs typeface="+mn-cs"/>
              </a:rPr>
              <a:t>Speedup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= 8/3.5 = 2.3</a:t>
            </a:r>
          </a:p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2800" dirty="0">
                <a:cs typeface="+mn-cs"/>
              </a:rPr>
              <a:t>Non-stop: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400" dirty="0">
                <a:cs typeface="+mn-cs"/>
              </a:rPr>
              <a:t>Speedup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≈ number of stages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7A199934-D4EB-5B43-A310-08787D39DE68}" type="slidenum">
              <a:rPr lang="en-AU"/>
              <a:pPr>
                <a:defRPr/>
              </a:pPr>
              <a:t>32</a:t>
            </a:fld>
            <a:endParaRPr lang="en-AU"/>
          </a:p>
        </p:txBody>
      </p:sp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MIPS Pipeline</a:t>
            </a:r>
            <a:endParaRPr lang="en-AU">
              <a:cs typeface="+mj-cs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en-US">
                <a:cs typeface="+mn-cs"/>
              </a:rPr>
              <a:t>Five stages, one step per stage</a:t>
            </a:r>
          </a:p>
          <a:p>
            <a:pPr marL="990600" lvl="1" indent="-5334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IF: Instruction fetch from memory</a:t>
            </a:r>
          </a:p>
          <a:p>
            <a:pPr marL="990600" lvl="1" indent="-5334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ID: Instruction decode &amp; register read</a:t>
            </a:r>
          </a:p>
          <a:p>
            <a:pPr marL="990600" lvl="1" indent="-5334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EX: Execute operation or calculate address</a:t>
            </a:r>
          </a:p>
          <a:p>
            <a:pPr marL="990600" lvl="1" indent="-5334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MEM: Access memory operand</a:t>
            </a:r>
          </a:p>
          <a:p>
            <a:pPr marL="990600" lvl="1" indent="-533400" eaLnBrk="1" hangingPunct="1">
              <a:buSzTx/>
              <a:buFont typeface="Wingdings" charset="0"/>
              <a:buAutoNum type="arabicPeriod"/>
              <a:defRPr/>
            </a:pPr>
            <a:r>
              <a:rPr lang="en-US"/>
              <a:t>WB: Write result back to register</a:t>
            </a:r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31D98E1-A9AF-AE47-B71F-5C7922C0EB18}" type="slidenum">
              <a:rPr lang="en-AU"/>
              <a:pPr>
                <a:defRPr/>
              </a:pPr>
              <a:t>33</a:t>
            </a:fld>
            <a:endParaRPr lang="en-AU"/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Performance</a:t>
            </a:r>
            <a:endParaRPr lang="en-AU">
              <a:cs typeface="+mj-cs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53365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n-cs"/>
              </a:rPr>
              <a:t>Assume time for stages is</a:t>
            </a:r>
          </a:p>
          <a:p>
            <a:pPr lvl="1" eaLnBrk="1" hangingPunct="1">
              <a:defRPr/>
            </a:pPr>
            <a:r>
              <a:rPr lang="en-US" sz="2400" dirty="0"/>
              <a:t>100ps for register read or write</a:t>
            </a:r>
          </a:p>
          <a:p>
            <a:pPr lvl="1" eaLnBrk="1" hangingPunct="1">
              <a:defRPr/>
            </a:pPr>
            <a:r>
              <a:rPr lang="en-US" sz="2400" dirty="0"/>
              <a:t>200ps for other stages</a:t>
            </a:r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Compare pipelined datapath with single-cycle datapath</a:t>
            </a:r>
          </a:p>
        </p:txBody>
      </p:sp>
      <p:graphicFrame>
        <p:nvGraphicFramePr>
          <p:cNvPr id="327684" name="Group 4"/>
          <p:cNvGraphicFramePr>
            <a:graphicFrameLocks noGrp="1"/>
          </p:cNvGraphicFramePr>
          <p:nvPr/>
        </p:nvGraphicFramePr>
        <p:xfrm>
          <a:off x="395288" y="3846513"/>
          <a:ext cx="8353425" cy="2246391"/>
        </p:xfrm>
        <a:graphic>
          <a:graphicData uri="http://schemas.openxmlformats.org/drawingml/2006/table">
            <a:tbl>
              <a:tblPr/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5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2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9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Instr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Instr fetch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Register read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ALU op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Memory access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Register write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Total time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9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lw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 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ps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7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sw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 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700ps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9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R-format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 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 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600ps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5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beq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100 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200ps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500ps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ED86559-DA97-0641-8311-BE3266059913}" type="slidenum">
              <a:rPr lang="en-AU"/>
              <a:pPr>
                <a:defRPr/>
              </a:pPr>
              <a:t>34</a:t>
            </a:fld>
            <a:endParaRPr lang="en-AU"/>
          </a:p>
        </p:txBody>
      </p:sp>
      <p:pic>
        <p:nvPicPr>
          <p:cNvPr id="72706" name="Picture 6" descr="f04-2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557338"/>
            <a:ext cx="662146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Performance</a:t>
            </a:r>
            <a:endParaRPr lang="en-AU">
              <a:cs typeface="+mj-cs"/>
            </a:endParaRPr>
          </a:p>
        </p:txBody>
      </p:sp>
      <p:sp>
        <p:nvSpPr>
          <p:cNvPr id="329732" name="Text Box 4"/>
          <p:cNvSpPr txBox="1">
            <a:spLocks noChangeArrowheads="1"/>
          </p:cNvSpPr>
          <p:nvPr/>
        </p:nvSpPr>
        <p:spPr bwMode="auto">
          <a:xfrm>
            <a:off x="3132138" y="1196975"/>
            <a:ext cx="267652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Single-cycle (T</a:t>
            </a:r>
            <a:r>
              <a:rPr lang="en-US" sz="1800" baseline="-25000">
                <a:cs typeface="+mn-cs"/>
              </a:rPr>
              <a:t>c</a:t>
            </a:r>
            <a:r>
              <a:rPr lang="en-US" sz="1800">
                <a:cs typeface="+mn-cs"/>
              </a:rPr>
              <a:t>= 800ps)</a:t>
            </a:r>
            <a:endParaRPr lang="en-AU" sz="1800">
              <a:cs typeface="+mn-cs"/>
            </a:endParaRPr>
          </a:p>
        </p:txBody>
      </p:sp>
      <p:sp>
        <p:nvSpPr>
          <p:cNvPr id="329733" name="Text Box 5"/>
          <p:cNvSpPr txBox="1">
            <a:spLocks noChangeArrowheads="1"/>
          </p:cNvSpPr>
          <p:nvPr/>
        </p:nvSpPr>
        <p:spPr bwMode="auto">
          <a:xfrm>
            <a:off x="3276600" y="3644900"/>
            <a:ext cx="238442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Pipelined (T</a:t>
            </a:r>
            <a:r>
              <a:rPr lang="en-US" sz="1800" baseline="-25000">
                <a:cs typeface="+mn-cs"/>
              </a:rPr>
              <a:t>c</a:t>
            </a:r>
            <a:r>
              <a:rPr lang="en-US" sz="1800">
                <a:cs typeface="+mn-cs"/>
              </a:rPr>
              <a:t>= 200ps)</a:t>
            </a:r>
            <a:endParaRPr lang="en-AU" sz="1800"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EA116B2-B3F9-A448-8F42-94309B6AFEB1}" type="slidenum">
              <a:rPr lang="en-AU"/>
              <a:pPr>
                <a:defRPr/>
              </a:pPr>
              <a:t>35</a:t>
            </a:fld>
            <a:endParaRPr lang="en-AU"/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Speedup</a:t>
            </a:r>
            <a:endParaRPr lang="en-AU">
              <a:cs typeface="+mj-cs"/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If all stages are balanced</a:t>
            </a:r>
          </a:p>
          <a:p>
            <a:pPr lvl="1" eaLnBrk="1" hangingPunct="1">
              <a:defRPr/>
            </a:pPr>
            <a:r>
              <a:rPr lang="en-US" dirty="0"/>
              <a:t>i.e., all take the same time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Time between instructions</a:t>
            </a:r>
            <a:r>
              <a:rPr lang="en-US" baseline="-25000" dirty="0"/>
              <a:t>pipelined</a:t>
            </a:r>
            <a:br>
              <a:rPr lang="en-US" dirty="0"/>
            </a:br>
            <a:r>
              <a:rPr lang="en-US" dirty="0"/>
              <a:t>= Time between instructions</a:t>
            </a:r>
            <a:r>
              <a:rPr lang="en-US" baseline="-25000" dirty="0"/>
              <a:t>nonpipelined</a:t>
            </a:r>
            <a:br>
              <a:rPr lang="en-US" dirty="0"/>
            </a:br>
            <a:r>
              <a:rPr lang="en-US" dirty="0"/>
              <a:t>		Number of stages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/>
              <a:t>In our example, 800/5 = 160ps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If not balanced, speedup is less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Speedup due to increased throughput</a:t>
            </a:r>
          </a:p>
          <a:p>
            <a:pPr lvl="1" eaLnBrk="1" hangingPunct="1">
              <a:defRPr/>
            </a:pPr>
            <a:r>
              <a:rPr lang="en-US" dirty="0"/>
              <a:t>Latency (time for each instruction) does not decrease</a:t>
            </a:r>
            <a:endParaRPr lang="en-AU" dirty="0"/>
          </a:p>
        </p:txBody>
      </p:sp>
      <p:sp>
        <p:nvSpPr>
          <p:cNvPr id="331780" name="Line 4"/>
          <p:cNvSpPr>
            <a:spLocks noChangeShapeType="1"/>
          </p:cNvSpPr>
          <p:nvPr/>
        </p:nvSpPr>
        <p:spPr bwMode="auto">
          <a:xfrm>
            <a:off x="1835150" y="3284538"/>
            <a:ext cx="5545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180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EA116B2-B3F9-A448-8F42-94309B6AFEB1}" type="slidenum">
              <a:rPr lang="en-AU"/>
              <a:pPr>
                <a:defRPr/>
              </a:pPr>
              <a:t>36</a:t>
            </a:fld>
            <a:endParaRPr lang="en-AU"/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Speedup</a:t>
            </a:r>
            <a:endParaRPr lang="en-AU">
              <a:cs typeface="+mj-cs"/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Our example with 3 instructions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T</a:t>
            </a:r>
            <a:r>
              <a:rPr lang="en-US" baseline="-25000" dirty="0">
                <a:solidFill>
                  <a:srgbClr val="000000"/>
                </a:solidFill>
                <a:cs typeface="ＭＳ Ｐゴシック" charset="0"/>
              </a:rPr>
              <a:t>pipelined</a:t>
            </a: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 = 1400ps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T</a:t>
            </a:r>
            <a:r>
              <a:rPr lang="en-US" baseline="-25000" dirty="0">
                <a:solidFill>
                  <a:srgbClr val="000000"/>
                </a:solidFill>
                <a:cs typeface="ＭＳ Ｐゴシック" charset="0"/>
              </a:rPr>
              <a:t>nopipelined</a:t>
            </a: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 = 2400ps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Speedup = 2400/1400 = 1.714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Add 1,000,000 instructions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T</a:t>
            </a:r>
            <a:r>
              <a:rPr lang="en-US" baseline="-25000" dirty="0">
                <a:solidFill>
                  <a:srgbClr val="000000"/>
                </a:solidFill>
                <a:cs typeface="ＭＳ Ｐゴシック" charset="0"/>
              </a:rPr>
              <a:t>pipelined</a:t>
            </a: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 = </a:t>
            </a:r>
            <a:r>
              <a:rPr lang="en-US" dirty="0">
                <a:solidFill>
                  <a:srgbClr val="000000"/>
                </a:solidFill>
              </a:rPr>
              <a:t>1,000,000 * 200 + 1400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T</a:t>
            </a:r>
            <a:r>
              <a:rPr lang="en-US" baseline="-25000" dirty="0">
                <a:solidFill>
                  <a:srgbClr val="000000"/>
                </a:solidFill>
                <a:cs typeface="ＭＳ Ｐゴシック" charset="0"/>
              </a:rPr>
              <a:t>nopipelined </a:t>
            </a:r>
            <a:r>
              <a:rPr lang="en-US" dirty="0">
                <a:solidFill>
                  <a:srgbClr val="000000"/>
                </a:solidFill>
                <a:cs typeface="ＭＳ Ｐゴシック" charset="0"/>
              </a:rPr>
              <a:t>= </a:t>
            </a:r>
            <a:r>
              <a:rPr lang="en-US" dirty="0">
                <a:solidFill>
                  <a:srgbClr val="000000"/>
                </a:solidFill>
              </a:rPr>
              <a:t>1,000,000 * 800 + 2400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Speedup = 800,002,400/200,001,400 = 4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22FEEE2-CBF0-C841-9FBD-14FFEE6348BF}" type="slidenum">
              <a:rPr lang="en-AU"/>
              <a:pPr>
                <a:defRPr/>
              </a:pPr>
              <a:t>37</a:t>
            </a:fld>
            <a:endParaRPr lang="en-AU"/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Pipelining and ISA Design</a:t>
            </a:r>
            <a:endParaRPr lang="en-AU">
              <a:cs typeface="+mj-cs"/>
            </a:endParaRP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MIPS ISA designed for pipelining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All instructions are 32-bits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Easier to fetch and decode in one cycle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c.f. x86: 1- to 17-byte instructions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Few and regular instruction formats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Can decode and read registers in one step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Load/store addressing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Can calculate address in 3</a:t>
            </a:r>
            <a:r>
              <a:rPr lang="en-US" baseline="30000" dirty="0"/>
              <a:t>rd</a:t>
            </a:r>
            <a:r>
              <a:rPr lang="en-US" dirty="0"/>
              <a:t> stage, access memory in 4</a:t>
            </a:r>
            <a:r>
              <a:rPr lang="en-US" baseline="30000" dirty="0"/>
              <a:t>th</a:t>
            </a:r>
            <a:r>
              <a:rPr lang="en-US" dirty="0"/>
              <a:t> stage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Alignment of memory operands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Memory access takes only one cycle</a:t>
            </a:r>
            <a:endParaRPr lang="en-A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1BC3FDC-D7AF-C64D-9B6C-7FC262151D00}" type="slidenum">
              <a:rPr lang="en-AU"/>
              <a:pPr>
                <a:defRPr/>
              </a:pPr>
              <a:t>38</a:t>
            </a:fld>
            <a:endParaRPr lang="en-AU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Hazards</a:t>
            </a:r>
            <a:endParaRPr lang="en-AU">
              <a:cs typeface="+mj-cs"/>
            </a:endParaRP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>
                <a:cs typeface="+mn-cs"/>
              </a:rPr>
              <a:t>Situations that prevent starting the next instruction in the next cycle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>
                <a:cs typeface="+mn-cs"/>
              </a:rPr>
              <a:t>Structure hazards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A required resource is busy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>
                <a:cs typeface="+mn-cs"/>
              </a:rPr>
              <a:t>Data hazard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Need to wait for previous instruction to complete its data read/write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>
                <a:cs typeface="+mn-cs"/>
              </a:rPr>
              <a:t>Control hazard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Deciding on control action depends on previous instruction</a:t>
            </a:r>
            <a:endParaRPr lang="en-A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0FA2A81-C2BF-3F4C-A4AD-D50B7DEE2A41}" type="slidenum">
              <a:rPr lang="en-AU"/>
              <a:pPr>
                <a:defRPr/>
              </a:pPr>
              <a:t>39</a:t>
            </a:fld>
            <a:endParaRPr lang="en-AU"/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Structure Hazards</a:t>
            </a:r>
            <a:endParaRPr lang="en-AU">
              <a:cs typeface="+mj-cs"/>
            </a:endParaRP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Conflict for use of a resource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In MIPS pipeline with a single memory</a:t>
            </a:r>
          </a:p>
          <a:p>
            <a:pPr lvl="1" eaLnBrk="1" hangingPunct="1">
              <a:defRPr/>
            </a:pPr>
            <a:r>
              <a:rPr lang="en-US" dirty="0"/>
              <a:t>Load/store requires data access</a:t>
            </a:r>
          </a:p>
          <a:p>
            <a:pPr lvl="1" eaLnBrk="1" hangingPunct="1">
              <a:defRPr/>
            </a:pPr>
            <a:r>
              <a:rPr lang="en-US" dirty="0"/>
              <a:t>Instruction fetch would have to </a:t>
            </a:r>
            <a:r>
              <a:rPr lang="en-US" i="1" dirty="0"/>
              <a:t>stall</a:t>
            </a:r>
            <a:r>
              <a:rPr lang="en-US" dirty="0"/>
              <a:t> for that cycle</a:t>
            </a:r>
          </a:p>
          <a:p>
            <a:pPr lvl="2" eaLnBrk="1" hangingPunct="1">
              <a:defRPr/>
            </a:pPr>
            <a:r>
              <a:rPr lang="en-US" dirty="0"/>
              <a:t>Would cause a pipeline “bubble”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Hence, pipelined </a:t>
            </a:r>
            <a:r>
              <a:rPr lang="en-US" dirty="0" err="1">
                <a:cs typeface="+mn-cs"/>
              </a:rPr>
              <a:t>datapaths</a:t>
            </a:r>
            <a:r>
              <a:rPr lang="en-US" dirty="0">
                <a:cs typeface="+mn-cs"/>
              </a:rPr>
              <a:t> require separate instruction/data memories</a:t>
            </a:r>
          </a:p>
          <a:p>
            <a:pPr lvl="1" eaLnBrk="1" hangingPunct="1">
              <a:defRPr/>
            </a:pPr>
            <a:r>
              <a:rPr lang="en-US" dirty="0"/>
              <a:t>Or separate instruction/data caches</a:t>
            </a:r>
            <a:endParaRPr lang="en-A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EAB81599-2A34-D94D-8E56-270BD00312B0}" type="slidenum">
              <a:rPr lang="en-AU"/>
              <a:pPr>
                <a:defRPr/>
              </a:pPr>
              <a:t>40</a:t>
            </a:fld>
            <a:endParaRPr lang="en-AU"/>
          </a:p>
        </p:txBody>
      </p:sp>
      <p:pic>
        <p:nvPicPr>
          <p:cNvPr id="82946" name="Picture 6" descr="data-hazard-bubble-no-forwar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429000"/>
            <a:ext cx="7964488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Data Hazards</a:t>
            </a:r>
            <a:endParaRPr lang="en-AU">
              <a:cs typeface="+mj-cs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2272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An instruction depends on completion of data access by a previous instruction</a:t>
            </a:r>
          </a:p>
          <a:p>
            <a:pPr lvl="1" eaLnBrk="1" hangingPunct="1">
              <a:defRPr/>
            </a:pPr>
            <a:r>
              <a:rPr lang="en-US">
                <a:latin typeface="Lucida Console" charset="0"/>
              </a:rPr>
              <a:t>add	</a:t>
            </a:r>
            <a:r>
              <a:rPr lang="en-US">
                <a:solidFill>
                  <a:srgbClr val="FF0000"/>
                </a:solidFill>
                <a:latin typeface="Lucida Console" charset="0"/>
              </a:rPr>
              <a:t>$s0</a:t>
            </a:r>
            <a:r>
              <a:rPr lang="en-US">
                <a:latin typeface="Lucida Console" charset="0"/>
              </a:rPr>
              <a:t>, $t0, $t1</a:t>
            </a:r>
            <a:br>
              <a:rPr lang="en-US">
                <a:latin typeface="Lucida Console" charset="0"/>
              </a:rPr>
            </a:br>
            <a:r>
              <a:rPr lang="en-US">
                <a:latin typeface="Lucida Console" charset="0"/>
              </a:rPr>
              <a:t>sub	$t2, </a:t>
            </a:r>
            <a:r>
              <a:rPr lang="en-US">
                <a:solidFill>
                  <a:srgbClr val="FF0000"/>
                </a:solidFill>
                <a:latin typeface="Lucida Console" charset="0"/>
              </a:rPr>
              <a:t>$s0</a:t>
            </a:r>
            <a:r>
              <a:rPr lang="en-US">
                <a:latin typeface="Lucida Console" charset="0"/>
              </a:rPr>
              <a:t>, $t3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4D81E23-F1E4-DC40-9F72-F58AA66E0536}" type="slidenum">
              <a:rPr lang="en-AU"/>
              <a:pPr>
                <a:defRPr/>
              </a:pPr>
              <a:t>41</a:t>
            </a:fld>
            <a:endParaRPr lang="en-AU"/>
          </a:p>
        </p:txBody>
      </p:sp>
      <p:pic>
        <p:nvPicPr>
          <p:cNvPr id="84994" name="Picture 6" descr="f04-2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284538"/>
            <a:ext cx="6340475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Forwarding (aka Bypassing)</a:t>
            </a:r>
            <a:endParaRPr lang="en-AU">
              <a:cs typeface="+mj-cs"/>
            </a:endParaRP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7668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Use result when it is computed</a:t>
            </a:r>
          </a:p>
          <a:p>
            <a:pPr lvl="1" eaLnBrk="1" hangingPunct="1">
              <a:defRPr/>
            </a:pPr>
            <a:r>
              <a:rPr lang="en-US" dirty="0"/>
              <a:t>Don’t wait for it to be stored in a register</a:t>
            </a:r>
          </a:p>
          <a:p>
            <a:pPr lvl="1" eaLnBrk="1" hangingPunct="1">
              <a:defRPr/>
            </a:pPr>
            <a:r>
              <a:rPr lang="en-US" dirty="0"/>
              <a:t>Requires extra connections in the datapath</a:t>
            </a:r>
            <a:endParaRPr lang="en-A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60C25C38-CBC5-EF47-9A98-CFFACB69CADF}" type="slidenum">
              <a:rPr lang="en-AU"/>
              <a:pPr>
                <a:defRPr/>
              </a:pPr>
              <a:t>42</a:t>
            </a:fld>
            <a:endParaRPr lang="en-AU"/>
          </a:p>
        </p:txBody>
      </p:sp>
      <p:pic>
        <p:nvPicPr>
          <p:cNvPr id="87042" name="Picture 6" descr="f04-3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141663"/>
            <a:ext cx="6586537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Load-Use Data Hazard</a:t>
            </a:r>
            <a:endParaRPr lang="en-AU">
              <a:cs typeface="+mj-cs"/>
            </a:endParaRP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843087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Can’t always avoid stalls by forwarding</a:t>
            </a:r>
          </a:p>
          <a:p>
            <a:pPr lvl="1" eaLnBrk="1" hangingPunct="1">
              <a:defRPr/>
            </a:pPr>
            <a:r>
              <a:rPr lang="en-US"/>
              <a:t>If value not computed when needed</a:t>
            </a:r>
          </a:p>
          <a:p>
            <a:pPr lvl="1" eaLnBrk="1" hangingPunct="1">
              <a:defRPr/>
            </a:pPr>
            <a:r>
              <a:rPr lang="en-US"/>
              <a:t>Can’t forward backward in time!</a:t>
            </a:r>
            <a:endParaRPr lang="en-A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37F2B9F8-1ACD-EB43-943C-431222B7EEE2}" type="slidenum">
              <a:rPr lang="en-AU"/>
              <a:pPr>
                <a:defRPr/>
              </a:pPr>
              <a:t>43</a:t>
            </a:fld>
            <a:endParaRPr lang="en-AU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>
                <a:cs typeface="+mj-cs"/>
              </a:rPr>
              <a:t>Code Scheduling to Avoid Stalls</a:t>
            </a:r>
            <a:endParaRPr lang="en-AU" sz="4000">
              <a:cs typeface="+mj-cs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8430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Reorder code to avoid use of load result in the next instruction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C code for </a:t>
            </a:r>
            <a:r>
              <a:rPr lang="en-US" dirty="0">
                <a:latin typeface="Lucida Console" charset="0"/>
                <a:cs typeface="+mn-cs"/>
              </a:rPr>
              <a:t>A = B + E; C = B + F;</a:t>
            </a:r>
          </a:p>
          <a:p>
            <a:pPr marL="0" indent="0" eaLnBrk="1" hangingPunct="1">
              <a:buNone/>
              <a:defRPr/>
            </a:pPr>
            <a:r>
              <a:rPr lang="en-AU" sz="2400" dirty="0">
                <a:latin typeface="Lucida Console" charset="0"/>
                <a:cs typeface="+mn-cs"/>
              </a:rPr>
              <a:t>	A(12), B(0), E(4), </a:t>
            </a:r>
            <a:r>
              <a:rPr lang="en-AU" sz="2400" dirty="0">
                <a:latin typeface="Lucida Console" charset="0"/>
              </a:rPr>
              <a:t>C(16), </a:t>
            </a:r>
            <a:r>
              <a:rPr lang="en-AU" sz="2400" dirty="0">
                <a:latin typeface="Lucida Console" charset="0"/>
                <a:cs typeface="+mn-cs"/>
              </a:rPr>
              <a:t>F(8)</a:t>
            </a:r>
          </a:p>
        </p:txBody>
      </p:sp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2146300" y="3225800"/>
            <a:ext cx="2794000" cy="25876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lw</a:t>
            </a:r>
            <a:r>
              <a:rPr lang="en-US" sz="2000" dirty="0">
                <a:latin typeface="Lucida Console" charset="0"/>
                <a:cs typeface="+mn-cs"/>
              </a:rPr>
              <a:t>	$t1, 0($t0)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lw</a:t>
            </a:r>
            <a:r>
              <a:rPr lang="en-US" sz="2000" dirty="0">
                <a:latin typeface="Lucida Console" charset="0"/>
                <a:cs typeface="+mn-cs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$t2</a:t>
            </a:r>
            <a:r>
              <a:rPr lang="en-US" sz="2000" dirty="0">
                <a:latin typeface="Lucida Console" charset="0"/>
                <a:cs typeface="+mn-cs"/>
              </a:rPr>
              <a:t>, 4($t0)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>
                <a:latin typeface="Lucida Console" charset="0"/>
                <a:cs typeface="+mn-cs"/>
              </a:rPr>
              <a:t>add	$t3, $t1, 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$t2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sw</a:t>
            </a:r>
            <a:r>
              <a:rPr lang="en-US" sz="2000" dirty="0">
                <a:latin typeface="Lucida Console" charset="0"/>
                <a:cs typeface="+mn-cs"/>
              </a:rPr>
              <a:t>	$t3, 12($t0)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lw</a:t>
            </a:r>
            <a:r>
              <a:rPr lang="en-US" sz="2000" dirty="0">
                <a:latin typeface="Lucida Console" charset="0"/>
                <a:cs typeface="+mn-cs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$t4</a:t>
            </a:r>
            <a:r>
              <a:rPr lang="en-US" sz="2000" dirty="0">
                <a:latin typeface="Lucida Console" charset="0"/>
                <a:cs typeface="+mn-cs"/>
              </a:rPr>
              <a:t>, 8($t0)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>
                <a:latin typeface="Lucida Console" charset="0"/>
                <a:cs typeface="+mn-cs"/>
              </a:rPr>
              <a:t>add	$t5, $t1, 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$t4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sw</a:t>
            </a:r>
            <a:r>
              <a:rPr lang="en-US" sz="2000" dirty="0">
                <a:latin typeface="Lucida Console" charset="0"/>
                <a:cs typeface="+mn-cs"/>
              </a:rPr>
              <a:t>	$t5, 16($t0)</a:t>
            </a:r>
            <a:endParaRPr lang="en-AU" sz="2000" dirty="0">
              <a:latin typeface="Lucida Console" charset="0"/>
              <a:cs typeface="+mn-cs"/>
            </a:endParaRPr>
          </a:p>
        </p:txBody>
      </p:sp>
      <p:sp>
        <p:nvSpPr>
          <p:cNvPr id="346117" name="AutoShape 5"/>
          <p:cNvSpPr>
            <a:spLocks/>
          </p:cNvSpPr>
          <p:nvPr/>
        </p:nvSpPr>
        <p:spPr bwMode="auto">
          <a:xfrm>
            <a:off x="777875" y="4078288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25296"/>
              <a:gd name="adj4" fmla="val 14791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1800">
                <a:cs typeface="+mn-cs"/>
              </a:rPr>
              <a:t>stall</a:t>
            </a:r>
            <a:endParaRPr lang="en-AU" sz="1800">
              <a:cs typeface="+mn-cs"/>
            </a:endParaRPr>
          </a:p>
        </p:txBody>
      </p:sp>
      <p:sp>
        <p:nvSpPr>
          <p:cNvPr id="346118" name="AutoShape 6"/>
          <p:cNvSpPr>
            <a:spLocks/>
          </p:cNvSpPr>
          <p:nvPr/>
        </p:nvSpPr>
        <p:spPr bwMode="auto">
          <a:xfrm>
            <a:off x="777875" y="5157788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25296"/>
              <a:gd name="adj4" fmla="val 14791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1800">
                <a:cs typeface="+mn-cs"/>
              </a:rPr>
              <a:t>stall</a:t>
            </a:r>
            <a:endParaRPr lang="en-AU" sz="1800">
              <a:cs typeface="+mn-cs"/>
            </a:endParaRPr>
          </a:p>
        </p:txBody>
      </p:sp>
      <p:sp>
        <p:nvSpPr>
          <p:cNvPr id="346119" name="Text Box 7"/>
          <p:cNvSpPr txBox="1">
            <a:spLocks noChangeArrowheads="1"/>
          </p:cNvSpPr>
          <p:nvPr/>
        </p:nvSpPr>
        <p:spPr bwMode="auto">
          <a:xfrm>
            <a:off x="5457825" y="3225800"/>
            <a:ext cx="2794000" cy="25876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algn="l" defTabSz="6286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defTabSz="6286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lw</a:t>
            </a:r>
            <a:r>
              <a:rPr lang="en-US" sz="2000" dirty="0">
                <a:latin typeface="Lucida Console" charset="0"/>
                <a:cs typeface="+mn-cs"/>
              </a:rPr>
              <a:t>	$t1, 0($t0)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lw</a:t>
            </a:r>
            <a:r>
              <a:rPr lang="en-US" sz="2000" dirty="0">
                <a:latin typeface="Lucida Console" charset="0"/>
                <a:cs typeface="+mn-cs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$t2</a:t>
            </a:r>
            <a:r>
              <a:rPr lang="en-US" sz="2000" dirty="0">
                <a:latin typeface="Lucida Console" charset="0"/>
                <a:cs typeface="+mn-cs"/>
              </a:rPr>
              <a:t>, 4($t0)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lw</a:t>
            </a:r>
            <a:r>
              <a:rPr lang="en-US" sz="2000" dirty="0">
                <a:latin typeface="Lucida Console" charset="0"/>
                <a:cs typeface="+mn-cs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$t4</a:t>
            </a:r>
            <a:r>
              <a:rPr lang="en-US" sz="2000" dirty="0">
                <a:latin typeface="Lucida Console" charset="0"/>
                <a:cs typeface="+mn-cs"/>
              </a:rPr>
              <a:t>, 8($t0)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>
                <a:latin typeface="Lucida Console" charset="0"/>
                <a:cs typeface="+mn-cs"/>
              </a:rPr>
              <a:t>add	$t3, $t1, 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$t2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sw</a:t>
            </a:r>
            <a:r>
              <a:rPr lang="en-US" sz="2000" dirty="0">
                <a:latin typeface="Lucida Console" charset="0"/>
                <a:cs typeface="+mn-cs"/>
              </a:rPr>
              <a:t>	$t3, 12($t0)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>
                <a:latin typeface="Lucida Console" charset="0"/>
                <a:cs typeface="+mn-cs"/>
              </a:rPr>
              <a:t>add	$t5, $t1, </a:t>
            </a:r>
            <a:r>
              <a:rPr lang="en-US" sz="2000" dirty="0">
                <a:solidFill>
                  <a:srgbClr val="FF0000"/>
                </a:solidFill>
                <a:latin typeface="Lucida Console" charset="0"/>
                <a:cs typeface="+mn-cs"/>
              </a:rPr>
              <a:t>$t4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err="1">
                <a:latin typeface="Lucida Console" charset="0"/>
                <a:cs typeface="+mn-cs"/>
              </a:rPr>
              <a:t>sw</a:t>
            </a:r>
            <a:r>
              <a:rPr lang="en-US" sz="2000" dirty="0">
                <a:latin typeface="Lucida Console" charset="0"/>
                <a:cs typeface="+mn-cs"/>
              </a:rPr>
              <a:t>	$t5, 16($t0)</a:t>
            </a:r>
            <a:endParaRPr lang="en-AU" sz="2000" dirty="0">
              <a:latin typeface="Lucida Console" charset="0"/>
              <a:cs typeface="+mn-cs"/>
            </a:endParaRPr>
          </a:p>
        </p:txBody>
      </p:sp>
      <p:sp>
        <p:nvSpPr>
          <p:cNvPr id="346120" name="Line 8"/>
          <p:cNvSpPr>
            <a:spLocks noChangeShapeType="1"/>
          </p:cNvSpPr>
          <p:nvPr/>
        </p:nvSpPr>
        <p:spPr bwMode="auto">
          <a:xfrm flipV="1">
            <a:off x="4572000" y="4221163"/>
            <a:ext cx="936625" cy="6477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1" name="Oval 9"/>
          <p:cNvSpPr>
            <a:spLocks noChangeArrowheads="1"/>
          </p:cNvSpPr>
          <p:nvPr/>
        </p:nvSpPr>
        <p:spPr bwMode="auto">
          <a:xfrm>
            <a:off x="2771775" y="3573463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2" name="Oval 10"/>
          <p:cNvSpPr>
            <a:spLocks noChangeArrowheads="1"/>
          </p:cNvSpPr>
          <p:nvPr/>
        </p:nvSpPr>
        <p:spPr bwMode="auto">
          <a:xfrm>
            <a:off x="4284663" y="3933825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3" name="Oval 11"/>
          <p:cNvSpPr>
            <a:spLocks noChangeArrowheads="1"/>
          </p:cNvSpPr>
          <p:nvPr/>
        </p:nvSpPr>
        <p:spPr bwMode="auto">
          <a:xfrm>
            <a:off x="2771775" y="4652963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4" name="Oval 12"/>
          <p:cNvSpPr>
            <a:spLocks noChangeArrowheads="1"/>
          </p:cNvSpPr>
          <p:nvPr/>
        </p:nvSpPr>
        <p:spPr bwMode="auto">
          <a:xfrm>
            <a:off x="4284663" y="5013325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5" name="Oval 13"/>
          <p:cNvSpPr>
            <a:spLocks noChangeArrowheads="1"/>
          </p:cNvSpPr>
          <p:nvPr/>
        </p:nvSpPr>
        <p:spPr bwMode="auto">
          <a:xfrm>
            <a:off x="6084888" y="3573463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6" name="Oval 14"/>
          <p:cNvSpPr>
            <a:spLocks noChangeArrowheads="1"/>
          </p:cNvSpPr>
          <p:nvPr/>
        </p:nvSpPr>
        <p:spPr bwMode="auto">
          <a:xfrm>
            <a:off x="7596188" y="4292600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7" name="Oval 15"/>
          <p:cNvSpPr>
            <a:spLocks noChangeArrowheads="1"/>
          </p:cNvSpPr>
          <p:nvPr/>
        </p:nvSpPr>
        <p:spPr bwMode="auto">
          <a:xfrm>
            <a:off x="7596188" y="5013325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8" name="Oval 16"/>
          <p:cNvSpPr>
            <a:spLocks noChangeArrowheads="1"/>
          </p:cNvSpPr>
          <p:nvPr/>
        </p:nvSpPr>
        <p:spPr bwMode="auto">
          <a:xfrm>
            <a:off x="6084888" y="3933825"/>
            <a:ext cx="647700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29" name="Line 17"/>
          <p:cNvSpPr>
            <a:spLocks noChangeShapeType="1"/>
          </p:cNvSpPr>
          <p:nvPr/>
        </p:nvSpPr>
        <p:spPr bwMode="auto">
          <a:xfrm>
            <a:off x="3409950" y="3819525"/>
            <a:ext cx="879475" cy="292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30" name="Line 18"/>
          <p:cNvSpPr>
            <a:spLocks noChangeShapeType="1"/>
          </p:cNvSpPr>
          <p:nvPr/>
        </p:nvSpPr>
        <p:spPr bwMode="auto">
          <a:xfrm>
            <a:off x="3400425" y="4918075"/>
            <a:ext cx="903288" cy="215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31" name="Line 19"/>
          <p:cNvSpPr>
            <a:spLocks noChangeShapeType="1"/>
          </p:cNvSpPr>
          <p:nvPr/>
        </p:nvSpPr>
        <p:spPr bwMode="auto">
          <a:xfrm>
            <a:off x="6726238" y="3829050"/>
            <a:ext cx="895350" cy="6080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32" name="Line 20"/>
          <p:cNvSpPr>
            <a:spLocks noChangeShapeType="1"/>
          </p:cNvSpPr>
          <p:nvPr/>
        </p:nvSpPr>
        <p:spPr bwMode="auto">
          <a:xfrm>
            <a:off x="6654800" y="4287838"/>
            <a:ext cx="966788" cy="846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46133" name="Text Box 21"/>
          <p:cNvSpPr txBox="1">
            <a:spLocks noChangeArrowheads="1"/>
          </p:cNvSpPr>
          <p:nvPr/>
        </p:nvSpPr>
        <p:spPr bwMode="auto">
          <a:xfrm>
            <a:off x="6300788" y="5876925"/>
            <a:ext cx="114617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11 cycles</a:t>
            </a:r>
            <a:endParaRPr lang="en-AU" sz="1800">
              <a:cs typeface="+mn-cs"/>
            </a:endParaRPr>
          </a:p>
        </p:txBody>
      </p:sp>
      <p:sp>
        <p:nvSpPr>
          <p:cNvPr id="346134" name="Text Box 22"/>
          <p:cNvSpPr txBox="1">
            <a:spLocks noChangeArrowheads="1"/>
          </p:cNvSpPr>
          <p:nvPr/>
        </p:nvSpPr>
        <p:spPr bwMode="auto">
          <a:xfrm>
            <a:off x="2987675" y="5876925"/>
            <a:ext cx="114617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13 cycles</a:t>
            </a:r>
            <a:endParaRPr lang="en-AU" sz="1800"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9832052E-C459-5B4A-A5FA-4391811772FF}" type="slidenum">
              <a:rPr lang="en-AU"/>
              <a:pPr>
                <a:defRPr/>
              </a:pPr>
              <a:t>44</a:t>
            </a:fld>
            <a:endParaRPr lang="en-AU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Control Hazards</a:t>
            </a:r>
            <a:endParaRPr lang="en-AU">
              <a:cs typeface="+mj-cs"/>
            </a:endParaRP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Branch determines flow of control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Fetching next instruction depends on branch outcome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Pipeline can’t always fetch correct instruction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Still working on ID stage of branch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In MIPS pipeline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Need to compare registers and compute target early in the pipeline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Add hardware to do it in ID stage</a:t>
            </a:r>
            <a:endParaRPr lang="en-A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6D654D3-3F05-644E-ABC4-12A3AF45E668}" type="slidenum">
              <a:rPr lang="en-AU"/>
              <a:pPr>
                <a:defRPr/>
              </a:pPr>
              <a:t>45</a:t>
            </a:fld>
            <a:endParaRPr lang="en-AU"/>
          </a:p>
        </p:txBody>
      </p:sp>
      <p:pic>
        <p:nvPicPr>
          <p:cNvPr id="93186" name="Picture 6" descr="f04-3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852738"/>
            <a:ext cx="6042025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Stall on Branch</a:t>
            </a:r>
            <a:endParaRPr lang="en-AU">
              <a:cs typeface="+mj-cs"/>
            </a:endParaRP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30651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Wait until branch outcome determined before fetching next instruction</a:t>
            </a:r>
            <a:endParaRPr lang="en-AU"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F411DBE-AF1B-C94D-A960-B4B382B329FF}" type="slidenum">
              <a:rPr lang="en-AU"/>
              <a:pPr>
                <a:defRPr/>
              </a:pPr>
              <a:t>46</a:t>
            </a:fld>
            <a:endParaRPr lang="en-AU"/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Branch Prediction</a:t>
            </a:r>
            <a:endParaRPr lang="en-AU">
              <a:cs typeface="+mj-cs"/>
            </a:endParaRP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Longer pipelines can’t readily determine branch outcome early</a:t>
            </a:r>
          </a:p>
          <a:p>
            <a:pPr lvl="1" eaLnBrk="1" hangingPunct="1">
              <a:defRPr/>
            </a:pPr>
            <a:r>
              <a:rPr lang="en-US"/>
              <a:t>Stall penalty becomes unacceptable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Predict outcome of branch</a:t>
            </a:r>
          </a:p>
          <a:p>
            <a:pPr lvl="1" eaLnBrk="1" hangingPunct="1">
              <a:defRPr/>
            </a:pPr>
            <a:r>
              <a:rPr lang="en-US"/>
              <a:t>Only stall if prediction is wrong</a:t>
            </a:r>
          </a:p>
          <a:p>
            <a:pPr eaLnBrk="1" hangingPunct="1">
              <a:defRPr/>
            </a:pPr>
            <a:r>
              <a:rPr lang="en-US">
                <a:cs typeface="+mn-cs"/>
              </a:rPr>
              <a:t>In MIPS pipeline</a:t>
            </a:r>
          </a:p>
          <a:p>
            <a:pPr lvl="1" eaLnBrk="1" hangingPunct="1">
              <a:defRPr/>
            </a:pPr>
            <a:r>
              <a:rPr lang="en-US"/>
              <a:t>Can predict branches not taken</a:t>
            </a:r>
          </a:p>
          <a:p>
            <a:pPr lvl="1" eaLnBrk="1" hangingPunct="1">
              <a:defRPr/>
            </a:pPr>
            <a:r>
              <a:rPr lang="en-US"/>
              <a:t>Fetch instruction after branch, with no delay</a:t>
            </a:r>
            <a:endParaRPr lang="en-A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09B776AC-B003-C34B-98BC-8C48688D5237}" type="slidenum">
              <a:rPr lang="en-AU"/>
              <a:pPr>
                <a:defRPr/>
              </a:pPr>
              <a:t>47</a:t>
            </a:fld>
            <a:endParaRPr lang="en-AU"/>
          </a:p>
        </p:txBody>
      </p:sp>
      <p:pic>
        <p:nvPicPr>
          <p:cNvPr id="97282" name="Picture 7" descr="f04-3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268413"/>
            <a:ext cx="6035675" cy="497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MIPS with Predict Not Taken</a:t>
            </a:r>
            <a:endParaRPr lang="en-AU">
              <a:cs typeface="+mj-cs"/>
            </a:endParaRPr>
          </a:p>
        </p:txBody>
      </p:sp>
      <p:sp>
        <p:nvSpPr>
          <p:cNvPr id="354309" name="Text Box 5"/>
          <p:cNvSpPr txBox="1">
            <a:spLocks noChangeArrowheads="1"/>
          </p:cNvSpPr>
          <p:nvPr/>
        </p:nvSpPr>
        <p:spPr bwMode="auto">
          <a:xfrm>
            <a:off x="755650" y="2133600"/>
            <a:ext cx="1295400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Prediction correct</a:t>
            </a:r>
            <a:endParaRPr lang="en-AU" sz="1800">
              <a:cs typeface="+mn-cs"/>
            </a:endParaRPr>
          </a:p>
        </p:txBody>
      </p:sp>
      <p:sp>
        <p:nvSpPr>
          <p:cNvPr id="354310" name="Text Box 6"/>
          <p:cNvSpPr txBox="1">
            <a:spLocks noChangeArrowheads="1"/>
          </p:cNvSpPr>
          <p:nvPr/>
        </p:nvSpPr>
        <p:spPr bwMode="auto">
          <a:xfrm>
            <a:off x="755650" y="4797425"/>
            <a:ext cx="1295400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Prediction incorrect</a:t>
            </a:r>
            <a:endParaRPr lang="en-AU" sz="1800"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487868A-D2EB-0F41-AEA1-85AECD6B479C}" type="slidenum">
              <a:rPr lang="en-AU"/>
              <a:pPr>
                <a:defRPr/>
              </a:pPr>
              <a:t>48</a:t>
            </a:fld>
            <a:endParaRPr lang="en-AU"/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>
                <a:cs typeface="+mj-cs"/>
              </a:rPr>
              <a:t>More-Realistic Branch Prediction</a:t>
            </a:r>
            <a:endParaRPr lang="en-AU" sz="4000">
              <a:cs typeface="+mj-cs"/>
            </a:endParaRP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n-cs"/>
              </a:rPr>
              <a:t>Static branch prediction</a:t>
            </a:r>
          </a:p>
          <a:p>
            <a:pPr lvl="1" eaLnBrk="1" hangingPunct="1">
              <a:defRPr/>
            </a:pPr>
            <a:r>
              <a:rPr lang="en-US" sz="2400" dirty="0"/>
              <a:t>Based on typical branch behavior</a:t>
            </a:r>
          </a:p>
          <a:p>
            <a:pPr lvl="1" eaLnBrk="1" hangingPunct="1">
              <a:defRPr/>
            </a:pPr>
            <a:r>
              <a:rPr lang="en-US" sz="2400" dirty="0"/>
              <a:t>Example: loop and if-statement branches</a:t>
            </a:r>
          </a:p>
          <a:p>
            <a:pPr lvl="2" eaLnBrk="1" hangingPunct="1">
              <a:defRPr/>
            </a:pPr>
            <a:r>
              <a:rPr lang="en-US" sz="2000" dirty="0"/>
              <a:t>Predict backward branches taken</a:t>
            </a:r>
          </a:p>
          <a:p>
            <a:pPr lvl="2" eaLnBrk="1" hangingPunct="1">
              <a:defRPr/>
            </a:pPr>
            <a:r>
              <a:rPr lang="en-US" sz="2000" dirty="0"/>
              <a:t>Predict forward branches not taken</a:t>
            </a:r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Dynamic branch prediction</a:t>
            </a:r>
          </a:p>
          <a:p>
            <a:pPr lvl="1" eaLnBrk="1" hangingPunct="1">
              <a:defRPr/>
            </a:pPr>
            <a:r>
              <a:rPr lang="en-US" sz="2400" dirty="0"/>
              <a:t>Hardware measures actual branch behavior</a:t>
            </a:r>
          </a:p>
          <a:p>
            <a:pPr lvl="2" eaLnBrk="1" hangingPunct="1">
              <a:defRPr/>
            </a:pPr>
            <a:r>
              <a:rPr lang="en-US" sz="2000" dirty="0"/>
              <a:t>e.g., record recent history of each branch</a:t>
            </a:r>
          </a:p>
          <a:p>
            <a:pPr lvl="1" eaLnBrk="1" hangingPunct="1">
              <a:defRPr/>
            </a:pPr>
            <a:r>
              <a:rPr lang="en-US" sz="2400" dirty="0"/>
              <a:t>Assume future behavior will continue the trend</a:t>
            </a:r>
          </a:p>
          <a:p>
            <a:pPr lvl="2" eaLnBrk="1" hangingPunct="1">
              <a:defRPr/>
            </a:pPr>
            <a:r>
              <a:rPr lang="en-US" sz="2000" dirty="0"/>
              <a:t>When wrong, stall while re-fetching, and update history</a:t>
            </a:r>
            <a:endParaRPr lang="en-AU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0B8FAD4-B1AE-4446-8B60-674A26435B9C}" type="slidenum">
              <a:rPr lang="en-AU"/>
              <a:pPr>
                <a:defRPr/>
              </a:pPr>
              <a:t>49</a:t>
            </a:fld>
            <a:endParaRPr lang="en-AU"/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Summary</a:t>
            </a:r>
            <a:endParaRPr lang="en-AU">
              <a:cs typeface="+mj-cs"/>
            </a:endParaRP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Pipelining improves performance by increasing instruction throughput</a:t>
            </a:r>
          </a:p>
          <a:p>
            <a:pPr lvl="1" eaLnBrk="1" hangingPunct="1">
              <a:defRPr/>
            </a:pPr>
            <a:r>
              <a:rPr lang="en-US" dirty="0"/>
              <a:t>Executes multiple instructions in parallel</a:t>
            </a:r>
          </a:p>
          <a:p>
            <a:pPr lvl="1" eaLnBrk="1" hangingPunct="1">
              <a:defRPr/>
            </a:pPr>
            <a:r>
              <a:rPr lang="en-US" dirty="0"/>
              <a:t>Each instruction has the same latency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Subject to hazards</a:t>
            </a:r>
          </a:p>
          <a:p>
            <a:pPr lvl="1" eaLnBrk="1" hangingPunct="1">
              <a:defRPr/>
            </a:pPr>
            <a:r>
              <a:rPr lang="en-US" dirty="0"/>
              <a:t>Structure, data, control</a:t>
            </a:r>
          </a:p>
          <a:p>
            <a:pPr eaLnBrk="1" hangingPunct="1">
              <a:defRPr/>
            </a:pPr>
            <a:r>
              <a:rPr lang="en-AU" dirty="0">
                <a:cs typeface="+mn-cs"/>
              </a:rPr>
              <a:t>Instruction set design affects complexity of pipeline implementation</a:t>
            </a:r>
          </a:p>
        </p:txBody>
      </p:sp>
      <p:sp>
        <p:nvSpPr>
          <p:cNvPr id="358404" name="Text Box 4"/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folHlink"/>
                </a:solidFill>
                <a:latin typeface="Arial Black" charset="0"/>
                <a:cs typeface="+mn-cs"/>
              </a:rPr>
              <a:t>The BIG Picture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C803FD3-7755-5241-B6B7-26A4194971B2}" type="slidenum">
              <a:rPr lang="en-AU"/>
              <a:pPr>
                <a:defRPr/>
              </a:pPr>
              <a:t>50</a:t>
            </a:fld>
            <a:endParaRPr lang="en-AU"/>
          </a:p>
        </p:txBody>
      </p:sp>
      <p:pic>
        <p:nvPicPr>
          <p:cNvPr id="103426" name="Picture 9" descr="f04-33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196975"/>
            <a:ext cx="7146925" cy="516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MIPS Pipelined Datapath</a:t>
            </a:r>
            <a:endParaRPr lang="en-AU" dirty="0">
              <a:cs typeface="+mj-cs"/>
            </a:endParaRPr>
          </a:p>
        </p:txBody>
      </p:sp>
      <p:sp>
        <p:nvSpPr>
          <p:cNvPr id="360451" name="Text Box 3"/>
          <p:cNvSpPr txBox="1">
            <a:spLocks noChangeArrowheads="1"/>
          </p:cNvSpPr>
          <p:nvPr/>
        </p:nvSpPr>
        <p:spPr bwMode="auto">
          <a:xfrm rot="5400000">
            <a:off x="7027069" y="1750219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 dirty="0">
                <a:solidFill>
                  <a:schemeClr val="folHlink"/>
                </a:solidFill>
                <a:cs typeface="+mn-cs"/>
              </a:rPr>
              <a:t>§4.6 Pipelined Datapath and Control</a:t>
            </a:r>
          </a:p>
        </p:txBody>
      </p:sp>
      <p:sp>
        <p:nvSpPr>
          <p:cNvPr id="360453" name="AutoShape 5"/>
          <p:cNvSpPr>
            <a:spLocks/>
          </p:cNvSpPr>
          <p:nvPr/>
        </p:nvSpPr>
        <p:spPr bwMode="auto">
          <a:xfrm>
            <a:off x="2124075" y="5157788"/>
            <a:ext cx="571500" cy="330200"/>
          </a:xfrm>
          <a:prstGeom prst="borderCallout1">
            <a:avLst>
              <a:gd name="adj1" fmla="val 34616"/>
              <a:gd name="adj2" fmla="val 113333"/>
              <a:gd name="adj3" fmla="val -118750"/>
              <a:gd name="adj4" fmla="val 2297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1400">
                <a:cs typeface="+mn-cs"/>
              </a:rPr>
              <a:t>WB</a:t>
            </a:r>
            <a:endParaRPr lang="en-AU" sz="1400">
              <a:cs typeface="+mn-cs"/>
            </a:endParaRPr>
          </a:p>
        </p:txBody>
      </p:sp>
      <p:sp>
        <p:nvSpPr>
          <p:cNvPr id="360454" name="AutoShape 6"/>
          <p:cNvSpPr>
            <a:spLocks/>
          </p:cNvSpPr>
          <p:nvPr/>
        </p:nvSpPr>
        <p:spPr bwMode="auto">
          <a:xfrm>
            <a:off x="395288" y="4292600"/>
            <a:ext cx="650875" cy="330200"/>
          </a:xfrm>
          <a:prstGeom prst="borderCallout1">
            <a:avLst>
              <a:gd name="adj1" fmla="val 34616"/>
              <a:gd name="adj2" fmla="val 111708"/>
              <a:gd name="adj3" fmla="val -68269"/>
              <a:gd name="adj4" fmla="val 1534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1400">
                <a:cs typeface="+mn-cs"/>
              </a:rPr>
              <a:t>MEM</a:t>
            </a:r>
            <a:endParaRPr lang="en-AU" sz="1400">
              <a:cs typeface="+mn-cs"/>
            </a:endParaRPr>
          </a:p>
        </p:txBody>
      </p:sp>
      <p:sp>
        <p:nvSpPr>
          <p:cNvPr id="360455" name="Text Box 7"/>
          <p:cNvSpPr txBox="1">
            <a:spLocks noChangeArrowheads="1"/>
          </p:cNvSpPr>
          <p:nvPr/>
        </p:nvSpPr>
        <p:spPr bwMode="auto">
          <a:xfrm>
            <a:off x="179388" y="5013325"/>
            <a:ext cx="1512887" cy="9255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sz="1800">
                <a:cs typeface="+mn-cs"/>
              </a:rPr>
              <a:t>Right-to-left flow leads to hazards</a:t>
            </a:r>
            <a:endParaRPr lang="en-AU" sz="1800"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B3335D7-96D6-D546-AC39-EB3396B0A401}" type="slidenum">
              <a:rPr lang="en-AU"/>
              <a:pPr>
                <a:defRPr/>
              </a:pPr>
              <a:t>51</a:t>
            </a:fld>
            <a:endParaRPr lang="en-AU"/>
          </a:p>
        </p:txBody>
      </p:sp>
      <p:pic>
        <p:nvPicPr>
          <p:cNvPr id="105474" name="Picture 7" descr="f04-35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92375"/>
            <a:ext cx="7993063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registers</a:t>
            </a:r>
            <a:endParaRPr lang="en-AU">
              <a:cs typeface="+mj-cs"/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351837" cy="130651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Need registers between stages</a:t>
            </a:r>
          </a:p>
          <a:p>
            <a:pPr lvl="1" eaLnBrk="1" hangingPunct="1">
              <a:defRPr/>
            </a:pPr>
            <a:r>
              <a:rPr lang="en-US"/>
              <a:t>To hold information produced in previous cycle</a:t>
            </a:r>
            <a:endParaRPr lang="en-A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0F5A1641-AF8D-2042-982E-F238BAF16527}" type="slidenum">
              <a:rPr lang="en-AU"/>
              <a:pPr>
                <a:defRPr/>
              </a:pPr>
              <a:t>52</a:t>
            </a:fld>
            <a:endParaRPr lang="en-AU"/>
          </a:p>
        </p:txBody>
      </p:sp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 Operation</a:t>
            </a:r>
            <a:endParaRPr lang="en-AU">
              <a:cs typeface="+mj-cs"/>
            </a:endParaRP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Cycle-by-cycle flow of instructions through the pipelined datapath</a:t>
            </a:r>
          </a:p>
          <a:p>
            <a:pPr lvl="1" eaLnBrk="1" hangingPunct="1">
              <a:defRPr/>
            </a:pPr>
            <a:r>
              <a:rPr lang="en-US" dirty="0"/>
              <a:t>“Single-clock-cycle” pipeline diagram</a:t>
            </a:r>
          </a:p>
          <a:p>
            <a:pPr lvl="2" eaLnBrk="1" hangingPunct="1">
              <a:defRPr/>
            </a:pPr>
            <a:r>
              <a:rPr lang="en-US" dirty="0"/>
              <a:t>Shows pipeline usage in a single cycle</a:t>
            </a:r>
          </a:p>
          <a:p>
            <a:pPr lvl="2" eaLnBrk="1" hangingPunct="1">
              <a:defRPr/>
            </a:pPr>
            <a:r>
              <a:rPr lang="en-US" dirty="0"/>
              <a:t>Highlight resources used</a:t>
            </a:r>
          </a:p>
          <a:p>
            <a:pPr lvl="1" eaLnBrk="1" hangingPunct="1">
              <a:defRPr/>
            </a:pPr>
            <a:r>
              <a:rPr lang="en-US" dirty="0"/>
              <a:t>c.f. “multi-clock-cycle” diagram</a:t>
            </a:r>
          </a:p>
          <a:p>
            <a:pPr lvl="2" eaLnBrk="1" hangingPunct="1">
              <a:defRPr/>
            </a:pPr>
            <a:r>
              <a:rPr lang="en-US" dirty="0"/>
              <a:t>Graph of operation over time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We’ll look at “single-clock-cycle” diagrams for load &amp; store</a:t>
            </a:r>
            <a:endParaRPr lang="en-AU" dirty="0"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5B1C98E-CA3B-684E-823D-F0253FF4113D}" type="slidenum">
              <a:rPr lang="en-AU"/>
              <a:pPr>
                <a:defRPr/>
              </a:pPr>
              <a:t>53</a:t>
            </a:fld>
            <a:endParaRPr lang="en-AU"/>
          </a:p>
        </p:txBody>
      </p:sp>
      <p:pic>
        <p:nvPicPr>
          <p:cNvPr id="109570" name="Picture 7" descr="f04-36-P374493-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20813"/>
            <a:ext cx="8186737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IF for Load, Store, …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28B2F06A-0F09-ED41-A741-F01C64C0EA3D}" type="slidenum">
              <a:rPr lang="en-AU"/>
              <a:pPr>
                <a:defRPr/>
              </a:pPr>
              <a:t>54</a:t>
            </a:fld>
            <a:endParaRPr lang="en-AU"/>
          </a:p>
        </p:txBody>
      </p:sp>
      <p:pic>
        <p:nvPicPr>
          <p:cNvPr id="111618" name="Picture 7" descr="f04-36-P374493-I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452563"/>
            <a:ext cx="8183562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ID for Load, Store, …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2F0CC7D1-7052-E443-815E-077CB7525C64}" type="slidenum">
              <a:rPr lang="en-AU"/>
              <a:pPr>
                <a:defRPr/>
              </a:pPr>
              <a:t>55</a:t>
            </a:fld>
            <a:endParaRPr lang="en-AU"/>
          </a:p>
        </p:txBody>
      </p:sp>
      <p:pic>
        <p:nvPicPr>
          <p:cNvPr id="113666" name="Picture 6" descr="f04-37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41438"/>
            <a:ext cx="8137525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EX for Load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27D492C4-E67D-7748-8B97-5EB51E2FB899}" type="slidenum">
              <a:rPr lang="en-AU"/>
              <a:pPr>
                <a:defRPr/>
              </a:pPr>
              <a:t>56</a:t>
            </a:fld>
            <a:endParaRPr lang="en-AU"/>
          </a:p>
        </p:txBody>
      </p:sp>
      <p:pic>
        <p:nvPicPr>
          <p:cNvPr id="115714" name="Picture 7" descr="f04-38-P374493-M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463675"/>
            <a:ext cx="8183562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MEM for Load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82B3C69-9117-F74F-9017-7313574135C8}" type="slidenum">
              <a:rPr lang="en-AU"/>
              <a:pPr>
                <a:defRPr/>
              </a:pPr>
              <a:t>57</a:t>
            </a:fld>
            <a:endParaRPr lang="en-AU"/>
          </a:p>
        </p:txBody>
      </p:sp>
      <p:pic>
        <p:nvPicPr>
          <p:cNvPr id="117762" name="Picture 10" descr="f04-38-P374493-W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511300"/>
            <a:ext cx="81915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WB for Load</a:t>
            </a:r>
            <a:endParaRPr lang="en-AU">
              <a:cs typeface="+mj-cs"/>
            </a:endParaRPr>
          </a:p>
        </p:txBody>
      </p:sp>
      <p:sp>
        <p:nvSpPr>
          <p:cNvPr id="374788" name="Oval 4"/>
          <p:cNvSpPr>
            <a:spLocks noChangeArrowheads="1"/>
          </p:cNvSpPr>
          <p:nvPr/>
        </p:nvSpPr>
        <p:spPr bwMode="auto">
          <a:xfrm>
            <a:off x="3059113" y="4076700"/>
            <a:ext cx="865187" cy="431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74789" name="AutoShape 5"/>
          <p:cNvSpPr>
            <a:spLocks/>
          </p:cNvSpPr>
          <p:nvPr/>
        </p:nvSpPr>
        <p:spPr bwMode="auto">
          <a:xfrm>
            <a:off x="1187450" y="5084763"/>
            <a:ext cx="1063625" cy="865187"/>
          </a:xfrm>
          <a:prstGeom prst="borderCallout1">
            <a:avLst>
              <a:gd name="adj1" fmla="val 13213"/>
              <a:gd name="adj2" fmla="val 107162"/>
              <a:gd name="adj3" fmla="val -52292"/>
              <a:gd name="adj4" fmla="val 16791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Wrong</a:t>
            </a:r>
            <a:br>
              <a:rPr lang="en-US">
                <a:cs typeface="+mn-cs"/>
              </a:rPr>
            </a:br>
            <a:r>
              <a:rPr lang="en-US">
                <a:cs typeface="+mn-cs"/>
              </a:rPr>
              <a:t>register</a:t>
            </a:r>
            <a:br>
              <a:rPr lang="en-US">
                <a:cs typeface="+mn-cs"/>
              </a:rPr>
            </a:br>
            <a:r>
              <a:rPr lang="en-US">
                <a:cs typeface="+mn-cs"/>
              </a:rPr>
              <a:t>number</a:t>
            </a:r>
            <a:endParaRPr lang="en-AU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8" grpId="0" animBg="1"/>
      <p:bldP spid="37478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FF55AED-EABE-9B4D-846E-1887B108198A}" type="slidenum">
              <a:rPr lang="en-AU"/>
              <a:pPr>
                <a:defRPr/>
              </a:pPr>
              <a:t>58</a:t>
            </a:fld>
            <a:endParaRPr lang="en-AU"/>
          </a:p>
        </p:txBody>
      </p:sp>
      <p:pic>
        <p:nvPicPr>
          <p:cNvPr id="119810" name="Picture 6" descr="f04-4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2057400"/>
            <a:ext cx="8183562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Corrected Datapath for Load</a:t>
            </a:r>
            <a:endParaRPr lang="en-AU" dirty="0">
              <a:cs typeface="+mj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DC3C893-EACC-EA44-98AF-D87AC3B48443}" type="slidenum">
              <a:rPr lang="en-AU"/>
              <a:pPr>
                <a:defRPr/>
              </a:pPr>
              <a:t>59</a:t>
            </a:fld>
            <a:endParaRPr lang="en-AU"/>
          </a:p>
        </p:txBody>
      </p:sp>
      <p:pic>
        <p:nvPicPr>
          <p:cNvPr id="121858" name="Picture 6" descr="f04-3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46200"/>
            <a:ext cx="8137525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EX for Store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F2CB442-3E3A-4A45-B9CC-8CB2BC7D9A6C}" type="slidenum">
              <a:rPr lang="en-AU"/>
              <a:pPr>
                <a:defRPr/>
              </a:pPr>
              <a:t>60</a:t>
            </a:fld>
            <a:endParaRPr lang="en-AU"/>
          </a:p>
        </p:txBody>
      </p:sp>
      <p:pic>
        <p:nvPicPr>
          <p:cNvPr id="123906" name="Picture 6" descr="f04-40-P374493-ME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4463"/>
            <a:ext cx="8183563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MEM for Store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28134DB6-7D98-184A-9D89-0016621AE550}" type="slidenum">
              <a:rPr lang="en-AU"/>
              <a:pPr>
                <a:defRPr/>
              </a:pPr>
              <a:t>61</a:t>
            </a:fld>
            <a:endParaRPr lang="en-AU"/>
          </a:p>
        </p:txBody>
      </p:sp>
      <p:pic>
        <p:nvPicPr>
          <p:cNvPr id="125954" name="Picture 5" descr="f04-40-P374493-W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520825"/>
            <a:ext cx="819150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WB for Store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766119B-7288-AB41-9CE6-A3BF38C97127}" type="slidenum">
              <a:rPr lang="en-AU"/>
              <a:pPr>
                <a:defRPr/>
              </a:pPr>
              <a:t>62</a:t>
            </a:fld>
            <a:endParaRPr lang="en-AU"/>
          </a:p>
        </p:txBody>
      </p:sp>
      <p:pic>
        <p:nvPicPr>
          <p:cNvPr id="128002" name="Picture 7" descr="f04-43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9438"/>
            <a:ext cx="6337300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Multi-Cycle Pipeline Diagram</a:t>
            </a:r>
            <a:endParaRPr lang="en-AU">
              <a:cs typeface="+mj-cs"/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Form showing resource usage</a:t>
            </a:r>
            <a:endParaRPr lang="en-AU"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BB4D90A4-5507-6F48-8932-AE2E2397631A}" type="slidenum">
              <a:rPr lang="en-AU"/>
              <a:pPr>
                <a:defRPr/>
              </a:pPr>
              <a:t>63</a:t>
            </a:fld>
            <a:endParaRPr lang="en-AU"/>
          </a:p>
        </p:txBody>
      </p:sp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Multi-Cycle Pipeline Diagram</a:t>
            </a:r>
            <a:endParaRPr lang="en-AU">
              <a:cs typeface="+mj-cs"/>
            </a:endParaRPr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Traditional form</a:t>
            </a:r>
            <a:endParaRPr lang="en-AU">
              <a:cs typeface="+mn-cs"/>
            </a:endParaRPr>
          </a:p>
        </p:txBody>
      </p:sp>
      <p:pic>
        <p:nvPicPr>
          <p:cNvPr id="130052" name="Picture 6" descr="f04-44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60575"/>
            <a:ext cx="6672262" cy="268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6CC1668-69D4-B746-800F-CDE74F64A941}" type="slidenum">
              <a:rPr lang="en-AU"/>
              <a:pPr>
                <a:defRPr/>
              </a:pPr>
              <a:t>64</a:t>
            </a:fld>
            <a:endParaRPr lang="en-AU"/>
          </a:p>
        </p:txBody>
      </p:sp>
      <p:pic>
        <p:nvPicPr>
          <p:cNvPr id="132098" name="Picture 5" descr="f04-45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1911350"/>
            <a:ext cx="7927975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>
                <a:cs typeface="+mj-cs"/>
              </a:rPr>
              <a:t>Single-Cycle Pipeline Diagram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47700"/>
          </a:xfrm>
        </p:spPr>
        <p:txBody>
          <a:bodyPr/>
          <a:lstStyle/>
          <a:p>
            <a:pPr eaLnBrk="1" hangingPunct="1">
              <a:defRPr/>
            </a:pPr>
            <a:r>
              <a:rPr lang="en-AU">
                <a:cs typeface="+mn-cs"/>
              </a:rPr>
              <a:t>State of pipeline in a given cycle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958CD52B-1C97-0A4C-9E9B-B0F617EA7830}" type="slidenum">
              <a:rPr lang="en-AU"/>
              <a:pPr>
                <a:defRPr/>
              </a:pPr>
              <a:t>65</a:t>
            </a:fld>
            <a:endParaRPr lang="en-AU"/>
          </a:p>
        </p:txBody>
      </p:sp>
      <p:pic>
        <p:nvPicPr>
          <p:cNvPr id="134146" name="Picture 7" descr="f04-4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84313"/>
            <a:ext cx="801528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Pipelined Control (Simplified)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DFE32CCD-76D6-BE4E-8829-3CEF590EBB7D}" type="slidenum">
              <a:rPr lang="en-AU"/>
              <a:pPr>
                <a:defRPr/>
              </a:pPr>
              <a:t>66</a:t>
            </a:fld>
            <a:endParaRPr lang="en-AU"/>
          </a:p>
        </p:txBody>
      </p:sp>
      <p:pic>
        <p:nvPicPr>
          <p:cNvPr id="136194" name="Picture 6" descr="f04-5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492375"/>
            <a:ext cx="5462588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Pipelined Control</a:t>
            </a:r>
            <a:endParaRPr lang="en-AU">
              <a:cs typeface="+mj-cs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150937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Control signals derived from instruction</a:t>
            </a:r>
          </a:p>
          <a:p>
            <a:pPr lvl="1" eaLnBrk="1" hangingPunct="1">
              <a:defRPr/>
            </a:pPr>
            <a:r>
              <a:rPr lang="en-AU"/>
              <a:t>As in single-cycle implementation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8E6945E-5916-4D46-A1AC-1B3E46D62782}" type="slidenum">
              <a:rPr lang="en-AU"/>
              <a:pPr>
                <a:defRPr/>
              </a:pPr>
              <a:t>67</a:t>
            </a:fld>
            <a:endParaRPr lang="en-AU"/>
          </a:p>
        </p:txBody>
      </p:sp>
      <p:pic>
        <p:nvPicPr>
          <p:cNvPr id="138242" name="Picture 5" descr="f04-5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125538"/>
            <a:ext cx="7362825" cy="522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Pipelined Control</a:t>
            </a:r>
            <a:endParaRPr lang="en-AU">
              <a:cs typeface="+mj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AC43E13C-9414-AB4C-89B5-4EC3C3981D17}" type="slidenum">
              <a:rPr lang="en-AU" altLang="en-US" sz="1400"/>
              <a:pPr/>
              <a:t>68</a:t>
            </a:fld>
            <a:endParaRPr lang="en-AU" altLang="en-US" sz="140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36538"/>
            <a:ext cx="8259762" cy="671512"/>
          </a:xfrm>
        </p:spPr>
        <p:txBody>
          <a:bodyPr/>
          <a:lstStyle/>
          <a:p>
            <a:pPr eaLnBrk="1" hangingPunct="1"/>
            <a:r>
              <a:rPr lang="en-US" altLang="en-US" sz="3800"/>
              <a:t>Data Hazards in ALU Instructions</a:t>
            </a:r>
            <a:endParaRPr lang="en-AU" altLang="en-US" sz="380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this sequence:</a:t>
            </a:r>
          </a:p>
          <a:p>
            <a:pPr lvl="1" eaLnBrk="1" hangingPunct="1">
              <a:buFont typeface="Wingdings" charset="2"/>
              <a:buNone/>
            </a:pPr>
            <a:r>
              <a:rPr lang="en-AU" altLang="en-US">
                <a:latin typeface="Lucida Console" charset="0"/>
              </a:rPr>
              <a:t>	sub </a:t>
            </a:r>
            <a:r>
              <a:rPr lang="en-AU" altLang="en-US">
                <a:solidFill>
                  <a:schemeClr val="hlink"/>
                </a:solidFill>
                <a:latin typeface="Lucida Console" charset="0"/>
              </a:rPr>
              <a:t>$2</a:t>
            </a:r>
            <a:r>
              <a:rPr lang="en-AU" altLang="en-US">
                <a:latin typeface="Lucida Console" charset="0"/>
              </a:rPr>
              <a:t>, $1,$3</a:t>
            </a:r>
            <a:br>
              <a:rPr lang="en-AU" altLang="en-US">
                <a:latin typeface="Lucida Console" charset="0"/>
              </a:rPr>
            </a:br>
            <a:r>
              <a:rPr lang="en-AU" altLang="en-US">
                <a:latin typeface="Lucida Console" charset="0"/>
              </a:rPr>
              <a:t>and $12,</a:t>
            </a:r>
            <a:r>
              <a:rPr lang="en-AU" altLang="en-US">
                <a:solidFill>
                  <a:schemeClr val="hlink"/>
                </a:solidFill>
                <a:latin typeface="Lucida Console" charset="0"/>
              </a:rPr>
              <a:t>$2</a:t>
            </a:r>
            <a:r>
              <a:rPr lang="en-AU" altLang="en-US">
                <a:latin typeface="Lucida Console" charset="0"/>
              </a:rPr>
              <a:t>,$5</a:t>
            </a:r>
            <a:br>
              <a:rPr lang="en-AU" altLang="en-US">
                <a:latin typeface="Lucida Console" charset="0"/>
              </a:rPr>
            </a:br>
            <a:r>
              <a:rPr lang="en-AU" altLang="en-US">
                <a:latin typeface="Lucida Console" charset="0"/>
              </a:rPr>
              <a:t>or  $13,$6,</a:t>
            </a:r>
            <a:r>
              <a:rPr lang="en-AU" altLang="en-US">
                <a:solidFill>
                  <a:schemeClr val="hlink"/>
                </a:solidFill>
                <a:latin typeface="Lucida Console" charset="0"/>
              </a:rPr>
              <a:t>$2</a:t>
            </a:r>
            <a:br>
              <a:rPr lang="en-AU" altLang="en-US">
                <a:latin typeface="Lucida Console" charset="0"/>
              </a:rPr>
            </a:br>
            <a:r>
              <a:rPr lang="en-AU" altLang="en-US">
                <a:latin typeface="Lucida Console" charset="0"/>
              </a:rPr>
              <a:t>add $14,</a:t>
            </a:r>
            <a:r>
              <a:rPr lang="en-AU" altLang="en-US">
                <a:solidFill>
                  <a:schemeClr val="hlink"/>
                </a:solidFill>
                <a:latin typeface="Lucida Console" charset="0"/>
              </a:rPr>
              <a:t>$2</a:t>
            </a:r>
            <a:r>
              <a:rPr lang="en-AU" altLang="en-US">
                <a:latin typeface="Lucida Console" charset="0"/>
              </a:rPr>
              <a:t>,</a:t>
            </a:r>
            <a:r>
              <a:rPr lang="en-AU" altLang="en-US">
                <a:solidFill>
                  <a:schemeClr val="hlink"/>
                </a:solidFill>
                <a:latin typeface="Lucida Console" charset="0"/>
              </a:rPr>
              <a:t>$2</a:t>
            </a:r>
            <a:br>
              <a:rPr lang="en-AU" altLang="en-US">
                <a:latin typeface="Lucida Console" charset="0"/>
              </a:rPr>
            </a:br>
            <a:r>
              <a:rPr lang="en-AU" altLang="en-US">
                <a:latin typeface="Lucida Console" charset="0"/>
              </a:rPr>
              <a:t>sw  $15,100(</a:t>
            </a:r>
            <a:r>
              <a:rPr lang="en-AU" altLang="en-US">
                <a:solidFill>
                  <a:schemeClr val="hlink"/>
                </a:solidFill>
                <a:latin typeface="Lucida Console" charset="0"/>
              </a:rPr>
              <a:t>$2</a:t>
            </a:r>
            <a:r>
              <a:rPr lang="en-AU" altLang="en-US">
                <a:latin typeface="Lucida Console" charset="0"/>
              </a:rPr>
              <a:t>)</a:t>
            </a:r>
          </a:p>
          <a:p>
            <a:pPr eaLnBrk="1" hangingPunct="1"/>
            <a:r>
              <a:rPr lang="en-US" altLang="en-US"/>
              <a:t>We can resolve hazards with forwarding</a:t>
            </a:r>
          </a:p>
          <a:p>
            <a:pPr lvl="1" eaLnBrk="1" hangingPunct="1"/>
            <a:r>
              <a:rPr lang="en-US" altLang="en-US"/>
              <a:t>How do we detect when to forward?</a:t>
            </a:r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 rot="5400000">
            <a:off x="6696869" y="2080419"/>
            <a:ext cx="4527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altLang="en-US" sz="1800">
                <a:solidFill>
                  <a:schemeClr val="folHlink"/>
                </a:solidFill>
              </a:rPr>
              <a:t>§4.7 Data Hazards: Forwarding vs. Stalling</a:t>
            </a:r>
          </a:p>
        </p:txBody>
      </p:sp>
    </p:spTree>
    <p:extLst>
      <p:ext uri="{BB962C8B-B14F-4D97-AF65-F5344CB8AC3E}">
        <p14:creationId xmlns:p14="http://schemas.microsoft.com/office/powerpoint/2010/main" val="10532374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2120911F-E1B5-BE49-94B0-FF85B2B8EBE1}" type="slidenum">
              <a:rPr lang="en-AU" altLang="en-US" sz="1400"/>
              <a:pPr/>
              <a:t>69</a:t>
            </a:fld>
            <a:endParaRPr lang="en-AU" altLang="en-US" sz="1400"/>
          </a:p>
        </p:txBody>
      </p:sp>
      <p:pic>
        <p:nvPicPr>
          <p:cNvPr id="71683" name="Picture 7" descr="f04-52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6200"/>
            <a:ext cx="6999288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Dependencies &amp; Forwarding</a:t>
            </a:r>
            <a:endParaRPr lang="en-AU" altLang="en-US"/>
          </a:p>
        </p:txBody>
      </p:sp>
      <p:sp>
        <p:nvSpPr>
          <p:cNvPr id="71685" name="Line 4"/>
          <p:cNvSpPr>
            <a:spLocks noChangeShapeType="1"/>
          </p:cNvSpPr>
          <p:nvPr/>
        </p:nvSpPr>
        <p:spPr bwMode="auto">
          <a:xfrm>
            <a:off x="4086225" y="2959100"/>
            <a:ext cx="136525" cy="631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6" name="Line 5"/>
          <p:cNvSpPr>
            <a:spLocks noChangeShapeType="1"/>
          </p:cNvSpPr>
          <p:nvPr/>
        </p:nvSpPr>
        <p:spPr bwMode="auto">
          <a:xfrm>
            <a:off x="4743450" y="2968625"/>
            <a:ext cx="138113" cy="1530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99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652D2E8F-66AB-934C-8EB7-1B05A1F3A9AB}" type="slidenum">
              <a:rPr lang="en-AU" altLang="en-US" sz="1400"/>
              <a:pPr/>
              <a:t>70</a:t>
            </a:fld>
            <a:endParaRPr lang="en-AU" altLang="en-US" sz="140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Detecting the Need to Forward</a:t>
            </a:r>
            <a:endParaRPr lang="en-AU" altLang="en-US" sz="400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3" y="1341438"/>
            <a:ext cx="7772400" cy="4791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Pass register numbers along pipeline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ID/</a:t>
            </a:r>
            <a:r>
              <a:rPr lang="en-US" altLang="en-US" sz="2400" dirty="0" err="1"/>
              <a:t>EX.RegisterRs</a:t>
            </a:r>
            <a:r>
              <a:rPr lang="en-US" altLang="en-US" sz="2400" dirty="0"/>
              <a:t> = register number for Rs sitting in ID/EX pipeline register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ALU operand register numbers in EX stage are given 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ID/</a:t>
            </a:r>
            <a:r>
              <a:rPr lang="en-US" altLang="en-US" sz="2400" dirty="0" err="1"/>
              <a:t>EX.RegisterRs</a:t>
            </a:r>
            <a:r>
              <a:rPr lang="en-US" altLang="en-US" sz="2400" dirty="0"/>
              <a:t>, ID/</a:t>
            </a:r>
            <a:r>
              <a:rPr lang="en-US" altLang="en-US" sz="2400" dirty="0" err="1"/>
              <a:t>EX.RegisterRt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Data hazards when</a:t>
            </a:r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1a.</a:t>
            </a:r>
            <a:r>
              <a:rPr lang="en-US" altLang="en-US" sz="2400" dirty="0"/>
              <a:t> EX/</a:t>
            </a:r>
            <a:r>
              <a:rPr lang="en-US" altLang="en-US" sz="2400" dirty="0" err="1"/>
              <a:t>MEM.RegisterRd</a:t>
            </a:r>
            <a:r>
              <a:rPr lang="en-US" altLang="en-US" sz="2400" dirty="0"/>
              <a:t> = ID/</a:t>
            </a:r>
            <a:r>
              <a:rPr lang="en-US" altLang="en-US" sz="2400" dirty="0" err="1"/>
              <a:t>EX.RegisterRs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1b.</a:t>
            </a:r>
            <a:r>
              <a:rPr lang="en-US" altLang="en-US" sz="2400" dirty="0"/>
              <a:t> EX/</a:t>
            </a:r>
            <a:r>
              <a:rPr lang="en-US" altLang="en-US" sz="2400" dirty="0" err="1"/>
              <a:t>MEM.RegisterRd</a:t>
            </a:r>
            <a:r>
              <a:rPr lang="en-US" altLang="en-US" sz="2400" dirty="0"/>
              <a:t> = ID/</a:t>
            </a:r>
            <a:r>
              <a:rPr lang="en-US" altLang="en-US" sz="2400" dirty="0" err="1"/>
              <a:t>EX.RegisterRt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2a.</a:t>
            </a:r>
            <a:r>
              <a:rPr lang="en-US" altLang="en-US" sz="2400" dirty="0"/>
              <a:t> MEM/</a:t>
            </a:r>
            <a:r>
              <a:rPr lang="en-US" altLang="en-US" sz="2400" dirty="0" err="1"/>
              <a:t>WB.RegisterRd</a:t>
            </a:r>
            <a:r>
              <a:rPr lang="en-US" altLang="en-US" sz="2400" dirty="0"/>
              <a:t> = ID/</a:t>
            </a:r>
            <a:r>
              <a:rPr lang="en-US" altLang="en-US" sz="2400" dirty="0" err="1"/>
              <a:t>EX.RegisterRs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2b.</a:t>
            </a:r>
            <a:r>
              <a:rPr lang="en-US" altLang="en-US" sz="2400" dirty="0"/>
              <a:t> MEM/</a:t>
            </a:r>
            <a:r>
              <a:rPr lang="en-US" altLang="en-US" sz="2400" dirty="0" err="1"/>
              <a:t>WB.RegisterRd</a:t>
            </a:r>
            <a:r>
              <a:rPr lang="en-US" altLang="en-US" sz="2400" dirty="0"/>
              <a:t> = ID/</a:t>
            </a:r>
            <a:r>
              <a:rPr lang="en-US" altLang="en-US" sz="2400" dirty="0" err="1"/>
              <a:t>EX.RegisterRt</a:t>
            </a:r>
            <a:endParaRPr lang="en-AU" altLang="en-US" sz="2400" dirty="0"/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7723188" y="4111625"/>
            <a:ext cx="1241425" cy="835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altLang="en-US"/>
              <a:t>Fwd from</a:t>
            </a:r>
            <a:br>
              <a:rPr lang="en-US" altLang="en-US"/>
            </a:br>
            <a:r>
              <a:rPr lang="en-US" altLang="en-US"/>
              <a:t>EX/MEM</a:t>
            </a:r>
            <a:br>
              <a:rPr lang="en-US" altLang="en-US"/>
            </a:br>
            <a:r>
              <a:rPr lang="en-US" altLang="en-US"/>
              <a:t>pipeline reg</a:t>
            </a:r>
            <a:endParaRPr lang="en-AU" altLang="en-US"/>
          </a:p>
        </p:txBody>
      </p:sp>
      <p:sp>
        <p:nvSpPr>
          <p:cNvPr id="72710" name="AutoShape 5"/>
          <p:cNvSpPr>
            <a:spLocks/>
          </p:cNvSpPr>
          <p:nvPr/>
        </p:nvSpPr>
        <p:spPr bwMode="auto">
          <a:xfrm>
            <a:off x="7473950" y="4129088"/>
            <a:ext cx="166688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72711" name="AutoShape 6"/>
          <p:cNvSpPr>
            <a:spLocks/>
          </p:cNvSpPr>
          <p:nvPr/>
        </p:nvSpPr>
        <p:spPr bwMode="auto">
          <a:xfrm>
            <a:off x="7473950" y="5033963"/>
            <a:ext cx="166688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72712" name="Text Box 7"/>
          <p:cNvSpPr txBox="1">
            <a:spLocks noChangeArrowheads="1"/>
          </p:cNvSpPr>
          <p:nvPr/>
        </p:nvSpPr>
        <p:spPr bwMode="auto">
          <a:xfrm>
            <a:off x="7723188" y="5105400"/>
            <a:ext cx="1241425" cy="835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altLang="en-US"/>
              <a:t>Fwd from</a:t>
            </a:r>
            <a:br>
              <a:rPr lang="en-US" altLang="en-US"/>
            </a:br>
            <a:r>
              <a:rPr lang="en-US" altLang="en-US"/>
              <a:t>MEM/WB</a:t>
            </a:r>
            <a:br>
              <a:rPr lang="en-US" altLang="en-US"/>
            </a:br>
            <a:r>
              <a:rPr lang="en-US" altLang="en-US"/>
              <a:t>pipeline reg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388758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81C2-3C46-4011-915E-3155337C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Dependence Detection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A13BA-CE2A-4CC2-9E4C-D19FC3DE47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6BEA6252-4203-2A47-ADA6-15D3BE0B9C10}" type="slidenum">
              <a:rPr lang="en-AU" smtClean="0"/>
              <a:pPr>
                <a:defRPr/>
              </a:pPr>
              <a:t>71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77B71-E53F-4D55-9C74-4416AC58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88" y="1291167"/>
            <a:ext cx="8467725" cy="211455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77593E6-4A9B-4AD9-908A-BA01E8545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" y="3284984"/>
            <a:ext cx="8270875" cy="295232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0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charset="0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buNone/>
            </a:pPr>
            <a:endParaRPr lang="en-US" altLang="en-US" sz="2800" kern="0" dirty="0"/>
          </a:p>
          <a:p>
            <a:pPr marL="0" indent="0" algn="ctr" eaLnBrk="1" hangingPunct="1">
              <a:buNone/>
            </a:pPr>
            <a:r>
              <a:rPr lang="en-US" altLang="en-US" sz="2800" kern="0" dirty="0"/>
              <a:t>sub-and – type 1a hazard</a:t>
            </a:r>
          </a:p>
          <a:p>
            <a:pPr marL="0" indent="0" algn="ctr" eaLnBrk="1" hangingPunct="1">
              <a:buNone/>
            </a:pPr>
            <a:r>
              <a:rPr lang="en-US" altLang="en-US" sz="2800" kern="0" dirty="0"/>
              <a:t>sub-or – type 2b hazard</a:t>
            </a:r>
          </a:p>
          <a:p>
            <a:pPr marL="0" indent="0" algn="ctr" eaLnBrk="1" hangingPunct="1">
              <a:buNone/>
            </a:pPr>
            <a:r>
              <a:rPr lang="en-US" altLang="en-US" sz="2800" kern="0" dirty="0"/>
              <a:t>sub-add – no hazard</a:t>
            </a:r>
          </a:p>
          <a:p>
            <a:pPr marL="0" indent="0" algn="ctr" eaLnBrk="1" hangingPunct="1">
              <a:buNone/>
            </a:pPr>
            <a:r>
              <a:rPr lang="en-US" altLang="en-US" sz="2800" kern="0" dirty="0"/>
              <a:t>sub-</a:t>
            </a:r>
            <a:r>
              <a:rPr lang="en-US" altLang="en-US" sz="2800" kern="0" dirty="0" err="1"/>
              <a:t>sw</a:t>
            </a:r>
            <a:r>
              <a:rPr lang="en-US" altLang="en-US" sz="2800" kern="0" dirty="0"/>
              <a:t> – no hazard</a:t>
            </a:r>
          </a:p>
        </p:txBody>
      </p:sp>
    </p:spTree>
    <p:extLst>
      <p:ext uri="{BB962C8B-B14F-4D97-AF65-F5344CB8AC3E}">
        <p14:creationId xmlns:p14="http://schemas.microsoft.com/office/powerpoint/2010/main" val="12731861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50D6C487-20EA-A74E-AB98-60B7B1A66225}" type="slidenum">
              <a:rPr lang="en-AU" altLang="en-US" sz="1400"/>
              <a:pPr/>
              <a:t>72</a:t>
            </a:fld>
            <a:endParaRPr lang="en-AU" altLang="en-US" sz="14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Detecting the Need to Forward</a:t>
            </a:r>
            <a:endParaRPr lang="en-AU" altLang="en-US" sz="4000"/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But only if forwarding instruction will write to a register!</a:t>
            </a:r>
          </a:p>
          <a:p>
            <a:pPr lvl="1" eaLnBrk="1" hangingPunct="1"/>
            <a:r>
              <a:rPr lang="en-US" altLang="en-US" dirty="0"/>
              <a:t>EX/</a:t>
            </a:r>
            <a:r>
              <a:rPr lang="en-US" altLang="en-US" dirty="0" err="1"/>
              <a:t>MEM.RegWrite</a:t>
            </a:r>
            <a:r>
              <a:rPr lang="en-US" altLang="en-US" dirty="0"/>
              <a:t>, MEM/</a:t>
            </a:r>
            <a:r>
              <a:rPr lang="en-US" altLang="en-US" dirty="0" err="1"/>
              <a:t>WB.RegWrite</a:t>
            </a:r>
            <a:endParaRPr lang="en-US" altLang="en-US" dirty="0"/>
          </a:p>
          <a:p>
            <a:pPr eaLnBrk="1" hangingPunct="1"/>
            <a:r>
              <a:rPr lang="en-US" altLang="en-US" dirty="0"/>
              <a:t>And only if Rd for that instruction is not $zero</a:t>
            </a:r>
          </a:p>
          <a:p>
            <a:pPr lvl="1" eaLnBrk="1" hangingPunct="1"/>
            <a:r>
              <a:rPr lang="en-US" altLang="en-US" dirty="0"/>
              <a:t>EX/</a:t>
            </a:r>
            <a:r>
              <a:rPr lang="en-US" altLang="en-US" dirty="0" err="1"/>
              <a:t>MEM.RegisterRd</a:t>
            </a:r>
            <a:r>
              <a:rPr lang="en-US" altLang="en-US" dirty="0"/>
              <a:t> ≠ 0,</a:t>
            </a:r>
            <a:br>
              <a:rPr lang="en-US" altLang="en-US" dirty="0"/>
            </a:br>
            <a:r>
              <a:rPr lang="en-US" altLang="en-US" dirty="0"/>
              <a:t>MEM/</a:t>
            </a:r>
            <a:r>
              <a:rPr lang="en-US" altLang="en-US" dirty="0" err="1"/>
              <a:t>WB.RegisterRd</a:t>
            </a:r>
            <a:r>
              <a:rPr lang="en-US" altLang="en-US" dirty="0"/>
              <a:t> ≠ 0</a:t>
            </a:r>
          </a:p>
        </p:txBody>
      </p:sp>
    </p:spTree>
    <p:extLst>
      <p:ext uri="{BB962C8B-B14F-4D97-AF65-F5344CB8AC3E}">
        <p14:creationId xmlns:p14="http://schemas.microsoft.com/office/powerpoint/2010/main" val="14038566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66421F5D-281B-9D4D-9466-B404598479F0}" type="slidenum">
              <a:rPr lang="en-AU" altLang="en-US" sz="1400"/>
              <a:pPr/>
              <a:t>73</a:t>
            </a:fld>
            <a:endParaRPr lang="en-AU" altLang="en-US" sz="1400"/>
          </a:p>
        </p:txBody>
      </p:sp>
      <p:pic>
        <p:nvPicPr>
          <p:cNvPr id="74755" name="Picture 6" descr="f04-54-P374493-bott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628775"/>
            <a:ext cx="6618287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Forwarding Paths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7649058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493F3F44-8B30-8849-9895-98BC403CD897}" type="slidenum">
              <a:rPr lang="en-AU" altLang="en-US" sz="1400"/>
              <a:pPr/>
              <a:t>74</a:t>
            </a:fld>
            <a:endParaRPr lang="en-AU" altLang="en-US" sz="14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Forwarding Conditions</a:t>
            </a:r>
            <a:endParaRPr lang="en-AU" altLang="en-US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 hazard</a:t>
            </a:r>
            <a:endParaRPr lang="en-AU" altLang="en-US" sz="2400"/>
          </a:p>
          <a:p>
            <a:pPr lvl="1" eaLnBrk="1" hangingPunct="1"/>
            <a:r>
              <a:rPr lang="en-AU" altLang="en-US" sz="2000"/>
              <a:t>if (EX/MEM.RegWrite and (EX/MEM.RegisterRd ≠ 0)</a:t>
            </a:r>
            <a:br>
              <a:rPr lang="en-AU" altLang="en-US" sz="2000"/>
            </a:br>
            <a:r>
              <a:rPr lang="en-AU" altLang="en-US" sz="2000"/>
              <a:t>    and (EX/MEM.RegisterRd = ID/EX.RegisterRs))</a:t>
            </a:r>
            <a:br>
              <a:rPr lang="en-AU" altLang="en-US" sz="2000"/>
            </a:br>
            <a:r>
              <a:rPr lang="en-AU" altLang="en-US" sz="2000"/>
              <a:t>  </a:t>
            </a:r>
            <a:r>
              <a:rPr lang="en-AU" altLang="en-US" sz="2000">
                <a:solidFill>
                  <a:schemeClr val="hlink"/>
                </a:solidFill>
              </a:rPr>
              <a:t>ForwardA = 10</a:t>
            </a:r>
          </a:p>
          <a:p>
            <a:pPr lvl="1" eaLnBrk="1" hangingPunct="1"/>
            <a:r>
              <a:rPr lang="en-AU" altLang="en-US" sz="2000"/>
              <a:t>if (EX/MEM.RegWrite and (EX/MEM.RegisterRd ≠ 0)</a:t>
            </a:r>
            <a:br>
              <a:rPr lang="en-AU" altLang="en-US" sz="2000"/>
            </a:br>
            <a:r>
              <a:rPr lang="en-AU" altLang="en-US" sz="2000"/>
              <a:t>    and (EX/MEM.RegisterRd = ID/EX.RegisterRt))</a:t>
            </a:r>
            <a:br>
              <a:rPr lang="en-AU" altLang="en-US" sz="2000"/>
            </a:br>
            <a:r>
              <a:rPr lang="en-AU" altLang="en-US" sz="2000"/>
              <a:t>  </a:t>
            </a:r>
            <a:r>
              <a:rPr lang="en-AU" altLang="en-US" sz="2000">
                <a:solidFill>
                  <a:schemeClr val="hlink"/>
                </a:solidFill>
              </a:rPr>
              <a:t>ForwardB = 10</a:t>
            </a:r>
          </a:p>
          <a:p>
            <a:pPr eaLnBrk="1" hangingPunct="1"/>
            <a:r>
              <a:rPr lang="en-US" altLang="en-US" sz="2400"/>
              <a:t>MEM hazard</a:t>
            </a:r>
          </a:p>
          <a:p>
            <a:pPr lvl="1" eaLnBrk="1" hangingPunct="1"/>
            <a:r>
              <a:rPr lang="en-AU" altLang="en-US" sz="2000"/>
              <a:t>if (MEM/WB.RegWrite and (MEM/WB.RegisterRd ≠ 0)</a:t>
            </a:r>
            <a:br>
              <a:rPr lang="en-AU" altLang="en-US" sz="2000"/>
            </a:br>
            <a:r>
              <a:rPr lang="en-AU" altLang="en-US" sz="2000"/>
              <a:t>    and (MEM/WB.RegisterRd = ID/EX.RegisterRs))</a:t>
            </a:r>
            <a:br>
              <a:rPr lang="en-AU" altLang="en-US" sz="2000"/>
            </a:br>
            <a:r>
              <a:rPr lang="en-AU" altLang="en-US" sz="2000"/>
              <a:t>  </a:t>
            </a:r>
            <a:r>
              <a:rPr lang="en-AU" altLang="en-US" sz="2000">
                <a:solidFill>
                  <a:schemeClr val="hlink"/>
                </a:solidFill>
              </a:rPr>
              <a:t>ForwardA = 01</a:t>
            </a:r>
          </a:p>
          <a:p>
            <a:pPr lvl="1" eaLnBrk="1" hangingPunct="1"/>
            <a:r>
              <a:rPr lang="en-AU" altLang="en-US" sz="2000"/>
              <a:t>if (MEM/WB.RegWrite and (MEM/WB.RegisterRd ≠ 0)</a:t>
            </a:r>
            <a:br>
              <a:rPr lang="en-AU" altLang="en-US" sz="2000"/>
            </a:br>
            <a:r>
              <a:rPr lang="en-AU" altLang="en-US" sz="2000"/>
              <a:t>    and (MEM/WB.RegisterRd = ID/EX.RegisterRt))</a:t>
            </a:r>
            <a:br>
              <a:rPr lang="en-AU" altLang="en-US" sz="2000"/>
            </a:br>
            <a:r>
              <a:rPr lang="en-AU" altLang="en-US" sz="2000"/>
              <a:t>  </a:t>
            </a:r>
            <a:r>
              <a:rPr lang="en-AU" altLang="en-US" sz="2000">
                <a:solidFill>
                  <a:schemeClr val="hlink"/>
                </a:solidFill>
              </a:rPr>
              <a:t>ForwardB = 01</a:t>
            </a:r>
          </a:p>
        </p:txBody>
      </p:sp>
    </p:spTree>
    <p:extLst>
      <p:ext uri="{BB962C8B-B14F-4D97-AF65-F5344CB8AC3E}">
        <p14:creationId xmlns:p14="http://schemas.microsoft.com/office/powerpoint/2010/main" val="20878067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5D419168-3B3F-C046-A3CF-EBB57750FC8E}" type="slidenum">
              <a:rPr lang="en-AU" altLang="en-US" sz="1400"/>
              <a:pPr/>
              <a:t>75</a:t>
            </a:fld>
            <a:endParaRPr lang="en-AU" altLang="en-US" sz="14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Double Data Hazard</a:t>
            </a:r>
            <a:endParaRPr lang="en-AU" altLang="en-US"/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the sequence: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en-US">
                <a:latin typeface="Lucida Console" charset="0"/>
              </a:rPr>
              <a:t>	add </a:t>
            </a:r>
            <a:r>
              <a:rPr lang="en-US" altLang="en-US">
                <a:solidFill>
                  <a:schemeClr val="hlink"/>
                </a:solidFill>
                <a:latin typeface="Lucida Console" charset="0"/>
              </a:rPr>
              <a:t>$1</a:t>
            </a:r>
            <a:r>
              <a:rPr lang="en-US" altLang="en-US">
                <a:latin typeface="Lucida Console" charset="0"/>
              </a:rPr>
              <a:t>,$1,$2</a:t>
            </a:r>
            <a:br>
              <a:rPr lang="en-US" altLang="en-US">
                <a:latin typeface="Lucida Console" charset="0"/>
              </a:rPr>
            </a:br>
            <a:r>
              <a:rPr lang="en-US" altLang="en-US">
                <a:latin typeface="Lucida Console" charset="0"/>
              </a:rPr>
              <a:t>add </a:t>
            </a:r>
            <a:r>
              <a:rPr lang="en-US" altLang="en-US">
                <a:solidFill>
                  <a:schemeClr val="hlink"/>
                </a:solidFill>
                <a:latin typeface="Lucida Console" charset="0"/>
              </a:rPr>
              <a:t>$1</a:t>
            </a:r>
            <a:r>
              <a:rPr lang="en-US" altLang="en-US">
                <a:latin typeface="Lucida Console" charset="0"/>
              </a:rPr>
              <a:t>,</a:t>
            </a:r>
            <a:r>
              <a:rPr lang="en-US" altLang="en-US">
                <a:solidFill>
                  <a:schemeClr val="hlink"/>
                </a:solidFill>
                <a:latin typeface="Lucida Console" charset="0"/>
              </a:rPr>
              <a:t>$1</a:t>
            </a:r>
            <a:r>
              <a:rPr lang="en-US" altLang="en-US">
                <a:latin typeface="Lucida Console" charset="0"/>
              </a:rPr>
              <a:t>,$3</a:t>
            </a:r>
            <a:br>
              <a:rPr lang="en-US" altLang="en-US">
                <a:latin typeface="Lucida Console" charset="0"/>
              </a:rPr>
            </a:br>
            <a:r>
              <a:rPr lang="en-US" altLang="en-US">
                <a:latin typeface="Lucida Console" charset="0"/>
              </a:rPr>
              <a:t>add $1,</a:t>
            </a:r>
            <a:r>
              <a:rPr lang="en-US" altLang="en-US">
                <a:solidFill>
                  <a:schemeClr val="hlink"/>
                </a:solidFill>
                <a:latin typeface="Lucida Console" charset="0"/>
              </a:rPr>
              <a:t>$1</a:t>
            </a:r>
            <a:r>
              <a:rPr lang="en-US" altLang="en-US">
                <a:latin typeface="Lucida Console" charset="0"/>
              </a:rPr>
              <a:t>,$4</a:t>
            </a:r>
          </a:p>
          <a:p>
            <a:pPr eaLnBrk="1" hangingPunct="1"/>
            <a:r>
              <a:rPr lang="en-US" altLang="en-US"/>
              <a:t>Both hazards occur</a:t>
            </a:r>
          </a:p>
          <a:p>
            <a:pPr lvl="1" eaLnBrk="1" hangingPunct="1"/>
            <a:r>
              <a:rPr lang="en-US" altLang="en-US"/>
              <a:t>Want to use the most recent</a:t>
            </a:r>
          </a:p>
          <a:p>
            <a:pPr eaLnBrk="1" hangingPunct="1"/>
            <a:r>
              <a:rPr lang="en-US" altLang="en-US"/>
              <a:t>Revise MEM hazard condition</a:t>
            </a:r>
          </a:p>
          <a:p>
            <a:pPr lvl="1" eaLnBrk="1" hangingPunct="1"/>
            <a:r>
              <a:rPr lang="en-US" altLang="en-US"/>
              <a:t>Only fwd if EX hazard condition isn’t true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555388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CB58C802-6509-FB44-A915-C3AA5142AA7A}" type="slidenum">
              <a:rPr lang="en-AU" altLang="en-US" sz="1400"/>
              <a:pPr/>
              <a:t>76</a:t>
            </a:fld>
            <a:endParaRPr lang="en-AU" altLang="en-US" sz="14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en-US" sz="4000"/>
              <a:t>Revised Forwarding Condition</a:t>
            </a:r>
            <a:endParaRPr lang="en-AU" altLang="en-US" sz="4000"/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MEM hazard</a:t>
            </a:r>
          </a:p>
          <a:p>
            <a:pPr lvl="1" eaLnBrk="1" hangingPunct="1">
              <a:lnSpc>
                <a:spcPct val="120000"/>
              </a:lnSpc>
            </a:pPr>
            <a:r>
              <a:rPr lang="en-AU" altLang="en-US" sz="2000"/>
              <a:t>if (MEM/WB.RegWrite and (MEM/WB.RegisterRd ≠ 0)</a:t>
            </a:r>
            <a:br>
              <a:rPr lang="en-AU" altLang="en-US" sz="2000"/>
            </a:br>
            <a:r>
              <a:rPr lang="en-AU" altLang="en-US" sz="2000"/>
              <a:t>    </a:t>
            </a:r>
            <a:r>
              <a:rPr lang="en-AU" altLang="en-US" sz="2000">
                <a:solidFill>
                  <a:schemeClr val="hlink"/>
                </a:solidFill>
              </a:rPr>
              <a:t>and not (EX/MEM.RegWrite and (EX/MEM.RegisterRd ≠ 0)</a:t>
            </a:r>
            <a:br>
              <a:rPr lang="en-AU" altLang="en-US" sz="2000">
                <a:solidFill>
                  <a:schemeClr val="hlink"/>
                </a:solidFill>
              </a:rPr>
            </a:br>
            <a:r>
              <a:rPr lang="en-AU" altLang="en-US" sz="2000">
                <a:solidFill>
                  <a:schemeClr val="hlink"/>
                </a:solidFill>
              </a:rPr>
              <a:t>                 and (EX/MEM.RegisterRd = ID/EX.RegisterRs))</a:t>
            </a:r>
            <a:br>
              <a:rPr lang="en-AU" altLang="en-US" sz="2000"/>
            </a:br>
            <a:r>
              <a:rPr lang="en-AU" altLang="en-US" sz="2000"/>
              <a:t>    and (MEM/WB.RegisterRd = ID/EX.RegisterRs))</a:t>
            </a:r>
            <a:br>
              <a:rPr lang="en-AU" altLang="en-US" sz="2000"/>
            </a:br>
            <a:r>
              <a:rPr lang="en-AU" altLang="en-US" sz="2000"/>
              <a:t>  ForwardA = 01</a:t>
            </a:r>
          </a:p>
          <a:p>
            <a:pPr lvl="1" eaLnBrk="1" hangingPunct="1">
              <a:lnSpc>
                <a:spcPct val="120000"/>
              </a:lnSpc>
            </a:pPr>
            <a:r>
              <a:rPr lang="en-AU" altLang="en-US" sz="2000"/>
              <a:t>if (MEM/WB.RegWrite and (MEM/WB.RegisterRd ≠ 0)</a:t>
            </a:r>
            <a:br>
              <a:rPr lang="en-AU" altLang="en-US" sz="2000"/>
            </a:br>
            <a:r>
              <a:rPr lang="en-AU" altLang="en-US" sz="2000"/>
              <a:t>    </a:t>
            </a:r>
            <a:r>
              <a:rPr lang="en-AU" altLang="en-US" sz="2000">
                <a:solidFill>
                  <a:schemeClr val="hlink"/>
                </a:solidFill>
              </a:rPr>
              <a:t>and not (EX/MEM.RegWrite and (EX/MEM.RegisterRd ≠ 0)</a:t>
            </a:r>
            <a:br>
              <a:rPr lang="en-AU" altLang="en-US" sz="2000">
                <a:solidFill>
                  <a:schemeClr val="hlink"/>
                </a:solidFill>
              </a:rPr>
            </a:br>
            <a:r>
              <a:rPr lang="en-AU" altLang="en-US" sz="2000">
                <a:solidFill>
                  <a:schemeClr val="hlink"/>
                </a:solidFill>
              </a:rPr>
              <a:t>                 and (EX/MEM.RegisterRd = ID/EX.RegisterRt))</a:t>
            </a:r>
            <a:br>
              <a:rPr lang="en-AU" altLang="en-US" sz="2000"/>
            </a:br>
            <a:r>
              <a:rPr lang="en-AU" altLang="en-US" sz="2000"/>
              <a:t>    and (MEM/WB.RegisterRd = ID/EX.RegisterRt))</a:t>
            </a:r>
            <a:br>
              <a:rPr lang="en-AU" altLang="en-US" sz="2000"/>
            </a:br>
            <a:r>
              <a:rPr lang="en-AU" altLang="en-US" sz="2000"/>
              <a:t>  ForwardB = 01</a:t>
            </a:r>
          </a:p>
        </p:txBody>
      </p:sp>
    </p:spTree>
    <p:extLst>
      <p:ext uri="{BB962C8B-B14F-4D97-AF65-F5344CB8AC3E}">
        <p14:creationId xmlns:p14="http://schemas.microsoft.com/office/powerpoint/2010/main" val="3280677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38D33AC2-6615-2343-A559-FAD460B6364C}" type="slidenum">
              <a:rPr lang="en-AU" altLang="en-US" sz="1400"/>
              <a:pPr/>
              <a:t>77</a:t>
            </a:fld>
            <a:endParaRPr lang="en-AU" altLang="en-US" sz="1400"/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323850" y="1773238"/>
            <a:ext cx="360363" cy="1871662"/>
          </a:xfrm>
          <a:prstGeom prst="rect">
            <a:avLst/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8852" name="Picture 6" descr="f04-56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341438"/>
            <a:ext cx="8648700" cy="481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Datapath with Forwarding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20162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A6A4455C-E2E6-A044-A7E6-95DD3BCCAB5E}" type="slidenum">
              <a:rPr lang="en-AU" altLang="en-US" sz="1400"/>
              <a:pPr/>
              <a:t>78</a:t>
            </a:fld>
            <a:endParaRPr lang="en-AU" altLang="en-US" sz="1400"/>
          </a:p>
        </p:txBody>
      </p:sp>
      <p:pic>
        <p:nvPicPr>
          <p:cNvPr id="79875" name="Picture 8" descr="f04-58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346200"/>
            <a:ext cx="6834187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Load-Use Data Hazard</a:t>
            </a:r>
            <a:endParaRPr lang="en-AU" altLang="en-US"/>
          </a:p>
        </p:txBody>
      </p:sp>
      <p:sp>
        <p:nvSpPr>
          <p:cNvPr id="79877" name="Oval 6"/>
          <p:cNvSpPr>
            <a:spLocks noChangeArrowheads="1"/>
          </p:cNvSpPr>
          <p:nvPr/>
        </p:nvSpPr>
        <p:spPr bwMode="auto">
          <a:xfrm rot="2714808">
            <a:off x="4352131" y="2715419"/>
            <a:ext cx="360363" cy="10699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79878" name="AutoShape 7"/>
          <p:cNvSpPr>
            <a:spLocks/>
          </p:cNvSpPr>
          <p:nvPr/>
        </p:nvSpPr>
        <p:spPr bwMode="auto">
          <a:xfrm>
            <a:off x="6953250" y="2593975"/>
            <a:ext cx="1579563" cy="690563"/>
          </a:xfrm>
          <a:prstGeom prst="borderCallout1">
            <a:avLst>
              <a:gd name="adj1" fmla="val 16551"/>
              <a:gd name="adj2" fmla="val -4824"/>
              <a:gd name="adj3" fmla="val 76324"/>
              <a:gd name="adj4" fmla="val -1016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800"/>
              <a:t>Need to stall for one cycle</a:t>
            </a:r>
          </a:p>
        </p:txBody>
      </p:sp>
    </p:spTree>
    <p:extLst>
      <p:ext uri="{BB962C8B-B14F-4D97-AF65-F5344CB8AC3E}">
        <p14:creationId xmlns:p14="http://schemas.microsoft.com/office/powerpoint/2010/main" val="1997104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D493C171-7E7C-5B41-A323-8A2F56309A0A}" type="slidenum">
              <a:rPr lang="en-AU" altLang="en-US" sz="1400"/>
              <a:pPr/>
              <a:t>79</a:t>
            </a:fld>
            <a:endParaRPr lang="en-AU" altLang="en-US" sz="140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Load-Use Hazard Detection</a:t>
            </a:r>
            <a:endParaRPr lang="en-AU" altLang="en-US"/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Check when using instruction is decoded in ID stage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ALU operand register numbers in ID stage are given 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IF/ID.RegisterRs, IF/ID.RegisterRt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Load-use hazard when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ID/EX.MemRead and</a:t>
            </a:r>
            <a:br>
              <a:rPr lang="en-US" altLang="en-US"/>
            </a:br>
            <a:r>
              <a:rPr lang="en-US" altLang="en-US"/>
              <a:t>  ((ID/EX.RegisterRt = IF/ID.RegisterRs) or</a:t>
            </a:r>
            <a:br>
              <a:rPr lang="en-US" altLang="en-US"/>
            </a:br>
            <a:r>
              <a:rPr lang="en-US" altLang="en-US"/>
              <a:t>   (ID/EX.RegisterRt = IF/ID.RegisterRt))</a:t>
            </a:r>
            <a:endParaRPr lang="en-AU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detected, stall and insert bubble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11663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FDFB0757-DD10-F64B-99C7-9F7A395486BC}" type="slidenum">
              <a:rPr lang="en-AU" altLang="en-US" sz="1400"/>
              <a:pPr/>
              <a:t>80</a:t>
            </a:fld>
            <a:endParaRPr lang="en-AU" altLang="en-US" sz="140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Stall the Pipeline</a:t>
            </a:r>
            <a:endParaRPr lang="en-AU" altLang="en-US"/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Force control values in ID/EX register</a:t>
            </a:r>
            <a:br>
              <a:rPr lang="en-US" altLang="en-US"/>
            </a:br>
            <a:r>
              <a:rPr lang="en-US" altLang="en-US"/>
              <a:t>to 0</a:t>
            </a:r>
          </a:p>
          <a:p>
            <a:pPr lvl="1" eaLnBrk="1" hangingPunct="1"/>
            <a:r>
              <a:rPr lang="en-US" altLang="en-US"/>
              <a:t>EX, MEM and WB do </a:t>
            </a:r>
            <a:r>
              <a:rPr lang="en-US" altLang="en-US">
                <a:latin typeface="Lucida Console" charset="0"/>
              </a:rPr>
              <a:t>nop</a:t>
            </a:r>
            <a:r>
              <a:rPr lang="en-US" altLang="en-US"/>
              <a:t> (no-operation)</a:t>
            </a:r>
            <a:endParaRPr lang="en-AU" altLang="en-US"/>
          </a:p>
          <a:p>
            <a:pPr eaLnBrk="1" hangingPunct="1"/>
            <a:r>
              <a:rPr lang="en-US" altLang="en-US"/>
              <a:t>Prevent update of PC and IF/ID register</a:t>
            </a:r>
          </a:p>
          <a:p>
            <a:pPr lvl="1" eaLnBrk="1" hangingPunct="1"/>
            <a:r>
              <a:rPr lang="en-US" altLang="en-US"/>
              <a:t>Using instruction is decoded again</a:t>
            </a:r>
          </a:p>
          <a:p>
            <a:pPr lvl="1" eaLnBrk="1" hangingPunct="1"/>
            <a:r>
              <a:rPr lang="en-US" altLang="en-US"/>
              <a:t>Following instruction is fetched again</a:t>
            </a:r>
          </a:p>
          <a:p>
            <a:pPr lvl="1" eaLnBrk="1" hangingPunct="1"/>
            <a:r>
              <a:rPr lang="en-US" altLang="en-US"/>
              <a:t>1-cycle stall allows MEM to read data for </a:t>
            </a:r>
            <a:r>
              <a:rPr lang="en-US" altLang="en-US">
                <a:latin typeface="Lucida Console" charset="0"/>
              </a:rPr>
              <a:t>lw</a:t>
            </a:r>
          </a:p>
          <a:p>
            <a:pPr lvl="2" eaLnBrk="1" hangingPunct="1"/>
            <a:r>
              <a:rPr lang="en-US" altLang="en-US"/>
              <a:t>Can subsequently forward to EX stage</a:t>
            </a:r>
          </a:p>
        </p:txBody>
      </p:sp>
    </p:spTree>
    <p:extLst>
      <p:ext uri="{BB962C8B-B14F-4D97-AF65-F5344CB8AC3E}">
        <p14:creationId xmlns:p14="http://schemas.microsoft.com/office/powerpoint/2010/main" val="15926865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95B6E279-7354-2646-9E77-A60083DD46C5}" type="slidenum">
              <a:rPr lang="en-AU" altLang="en-US" sz="1400"/>
              <a:pPr/>
              <a:t>81</a:t>
            </a:fld>
            <a:endParaRPr lang="en-AU" altLang="en-US" sz="1400"/>
          </a:p>
        </p:txBody>
      </p:sp>
      <p:pic>
        <p:nvPicPr>
          <p:cNvPr id="82947" name="Picture 7" descr="f04-59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66838"/>
            <a:ext cx="7524750" cy="483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Stall/Bubble in the Pipeline</a:t>
            </a:r>
            <a:endParaRPr lang="en-AU" altLang="en-US"/>
          </a:p>
        </p:txBody>
      </p:sp>
      <p:sp>
        <p:nvSpPr>
          <p:cNvPr id="82949" name="AutoShape 6"/>
          <p:cNvSpPr>
            <a:spLocks/>
          </p:cNvSpPr>
          <p:nvPr/>
        </p:nvSpPr>
        <p:spPr bwMode="auto">
          <a:xfrm>
            <a:off x="7235825" y="3068638"/>
            <a:ext cx="1579563" cy="690562"/>
          </a:xfrm>
          <a:prstGeom prst="borderCallout1">
            <a:avLst>
              <a:gd name="adj1" fmla="val 16551"/>
              <a:gd name="adj2" fmla="val -4824"/>
              <a:gd name="adj3" fmla="val 73792"/>
              <a:gd name="adj4" fmla="val -634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800"/>
              <a:t>Stall inserted here</a:t>
            </a:r>
          </a:p>
        </p:txBody>
      </p:sp>
    </p:spTree>
    <p:extLst>
      <p:ext uri="{BB962C8B-B14F-4D97-AF65-F5344CB8AC3E}">
        <p14:creationId xmlns:p14="http://schemas.microsoft.com/office/powerpoint/2010/main" val="18452650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9154E0FF-D71C-8A45-B372-5D3CBAFB2D6C}" type="slidenum">
              <a:rPr lang="en-AU" altLang="en-US" sz="1400"/>
              <a:pPr/>
              <a:t>82</a:t>
            </a:fld>
            <a:endParaRPr lang="en-AU" altLang="en-US" sz="1400"/>
          </a:p>
        </p:txBody>
      </p:sp>
      <p:pic>
        <p:nvPicPr>
          <p:cNvPr id="83971" name="Picture 7" descr="f04-59-P374493-what-really-happe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79538"/>
            <a:ext cx="7597775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Stall/Bubble in the Pipeline</a:t>
            </a:r>
            <a:endParaRPr lang="en-AU" altLang="en-US"/>
          </a:p>
        </p:txBody>
      </p:sp>
      <p:sp>
        <p:nvSpPr>
          <p:cNvPr id="83973" name="AutoShape 6"/>
          <p:cNvSpPr>
            <a:spLocks/>
          </p:cNvSpPr>
          <p:nvPr/>
        </p:nvSpPr>
        <p:spPr bwMode="auto">
          <a:xfrm>
            <a:off x="2051050" y="5949950"/>
            <a:ext cx="1579563" cy="690563"/>
          </a:xfrm>
          <a:prstGeom prst="borderCallout1">
            <a:avLst>
              <a:gd name="adj1" fmla="val 16551"/>
              <a:gd name="adj2" fmla="val 104824"/>
              <a:gd name="adj3" fmla="val -80000"/>
              <a:gd name="adj4" fmla="val 1110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800"/>
              <a:t>Or, more accurately…</a:t>
            </a:r>
          </a:p>
        </p:txBody>
      </p:sp>
    </p:spTree>
    <p:extLst>
      <p:ext uri="{BB962C8B-B14F-4D97-AF65-F5344CB8AC3E}">
        <p14:creationId xmlns:p14="http://schemas.microsoft.com/office/powerpoint/2010/main" val="5159505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5FA2F6A1-B56D-4B41-AAED-7B6CE9DC673E}" type="slidenum">
              <a:rPr lang="en-AU" altLang="en-US" sz="1400"/>
              <a:pPr/>
              <a:t>83</a:t>
            </a:fld>
            <a:endParaRPr lang="en-AU" altLang="en-US" sz="1400"/>
          </a:p>
        </p:txBody>
      </p:sp>
      <p:pic>
        <p:nvPicPr>
          <p:cNvPr id="84995" name="Picture 5" descr="f04-60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1273175"/>
            <a:ext cx="8201025" cy="499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Datapath with Hazard Detection</a:t>
            </a:r>
            <a:endParaRPr lang="en-AU" altLang="en-US" sz="4000"/>
          </a:p>
        </p:txBody>
      </p:sp>
    </p:spTree>
    <p:extLst>
      <p:ext uri="{BB962C8B-B14F-4D97-AF65-F5344CB8AC3E}">
        <p14:creationId xmlns:p14="http://schemas.microsoft.com/office/powerpoint/2010/main" val="3547283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C13863A4-E8DF-6E4D-9985-FBC52D3367E1}" type="slidenum">
              <a:rPr lang="en-AU" altLang="en-US" sz="1400"/>
              <a:pPr/>
              <a:t>84</a:t>
            </a:fld>
            <a:endParaRPr lang="en-AU" altLang="en-US" sz="140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Stalls and Performance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en-AU" altLang="en-US"/>
              <a:t>Stalls reduce performance</a:t>
            </a:r>
          </a:p>
          <a:p>
            <a:pPr lvl="1" eaLnBrk="1" hangingPunct="1"/>
            <a:r>
              <a:rPr lang="en-AU" altLang="en-US"/>
              <a:t>But are required to get correct results</a:t>
            </a:r>
          </a:p>
          <a:p>
            <a:pPr eaLnBrk="1" hangingPunct="1"/>
            <a:r>
              <a:rPr lang="en-AU" altLang="en-US"/>
              <a:t>Compiler can arrange code to avoid hazards and stalls</a:t>
            </a:r>
          </a:p>
          <a:p>
            <a:pPr lvl="1" eaLnBrk="1" hangingPunct="1"/>
            <a:r>
              <a:rPr lang="en-AU" altLang="en-US"/>
              <a:t>Requires knowledge of the pipeline structure</a:t>
            </a:r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altLang="en-US" sz="2400" b="1">
                <a:solidFill>
                  <a:schemeClr val="folHlink"/>
                </a:solidFill>
                <a:latin typeface="Arial Black" charset="0"/>
              </a:rPr>
              <a:t>The BIG Picture</a:t>
            </a:r>
          </a:p>
        </p:txBody>
      </p:sp>
    </p:spTree>
    <p:extLst>
      <p:ext uri="{BB962C8B-B14F-4D97-AF65-F5344CB8AC3E}">
        <p14:creationId xmlns:p14="http://schemas.microsoft.com/office/powerpoint/2010/main" val="20266323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667CBC9-4791-CA4E-A726-26FE54120724}" type="slidenum">
              <a:rPr lang="en-AU"/>
              <a:pPr>
                <a:defRPr/>
              </a:pPr>
              <a:t>85</a:t>
            </a:fld>
            <a:endParaRPr lang="en-AU"/>
          </a:p>
        </p:txBody>
      </p:sp>
      <p:pic>
        <p:nvPicPr>
          <p:cNvPr id="173058" name="Picture 10" descr="f04-61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98650"/>
            <a:ext cx="6021387" cy="422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Branch Hazards</a:t>
            </a:r>
            <a:endParaRPr lang="en-AU">
              <a:cs typeface="+mj-cs"/>
            </a:endParaRP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If branch outcome determined in MEM</a:t>
            </a:r>
            <a:endParaRPr lang="en-AU">
              <a:cs typeface="+mn-cs"/>
            </a:endParaRPr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 rot="5400000">
            <a:off x="7789069" y="988219"/>
            <a:ext cx="2343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solidFill>
                  <a:schemeClr val="folHlink"/>
                </a:solidFill>
                <a:cs typeface="+mn-cs"/>
              </a:rPr>
              <a:t>§4.8 Control Hazards</a:t>
            </a:r>
          </a:p>
        </p:txBody>
      </p:sp>
      <p:sp>
        <p:nvSpPr>
          <p:cNvPr id="428038" name="AutoShape 6"/>
          <p:cNvSpPr>
            <a:spLocks/>
          </p:cNvSpPr>
          <p:nvPr/>
        </p:nvSpPr>
        <p:spPr bwMode="auto">
          <a:xfrm>
            <a:off x="3203575" y="5949950"/>
            <a:ext cx="501650" cy="330200"/>
          </a:xfrm>
          <a:prstGeom prst="borderCallout1">
            <a:avLst>
              <a:gd name="adj1" fmla="val 34616"/>
              <a:gd name="adj2" fmla="val 115190"/>
              <a:gd name="adj3" fmla="val -43269"/>
              <a:gd name="adj4" fmla="val 243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1400">
                <a:cs typeface="+mn-cs"/>
              </a:rPr>
              <a:t>PC</a:t>
            </a:r>
            <a:endParaRPr lang="en-AU" sz="1400">
              <a:cs typeface="+mn-cs"/>
            </a:endParaRPr>
          </a:p>
        </p:txBody>
      </p:sp>
      <p:sp>
        <p:nvSpPr>
          <p:cNvPr id="428039" name="Text Box 7"/>
          <p:cNvSpPr txBox="1">
            <a:spLocks noChangeArrowheads="1"/>
          </p:cNvSpPr>
          <p:nvPr/>
        </p:nvSpPr>
        <p:spPr bwMode="auto">
          <a:xfrm>
            <a:off x="7451725" y="4010025"/>
            <a:ext cx="1244600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>
                <a:cs typeface="+mn-cs"/>
              </a:rPr>
              <a:t>Flush these</a:t>
            </a:r>
            <a:br>
              <a:rPr lang="en-US">
                <a:cs typeface="+mn-cs"/>
              </a:rPr>
            </a:br>
            <a:r>
              <a:rPr lang="en-US">
                <a:cs typeface="+mn-cs"/>
              </a:rPr>
              <a:t>instructions</a:t>
            </a:r>
          </a:p>
          <a:p>
            <a:pPr algn="l">
              <a:defRPr/>
            </a:pPr>
            <a:r>
              <a:rPr lang="en-US">
                <a:cs typeface="+mn-cs"/>
              </a:rPr>
              <a:t>(Set control</a:t>
            </a:r>
            <a:br>
              <a:rPr lang="en-US">
                <a:cs typeface="+mn-cs"/>
              </a:rPr>
            </a:br>
            <a:r>
              <a:rPr lang="en-US">
                <a:cs typeface="+mn-cs"/>
              </a:rPr>
              <a:t>values to 0)</a:t>
            </a:r>
            <a:endParaRPr lang="en-AU">
              <a:cs typeface="+mn-cs"/>
            </a:endParaRPr>
          </a:p>
        </p:txBody>
      </p:sp>
      <p:sp>
        <p:nvSpPr>
          <p:cNvPr id="428040" name="AutoShape 8"/>
          <p:cNvSpPr>
            <a:spLocks/>
          </p:cNvSpPr>
          <p:nvPr/>
        </p:nvSpPr>
        <p:spPr bwMode="auto">
          <a:xfrm>
            <a:off x="7092950" y="3644900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EDD1C1F-3933-6E46-A3F5-67FA327C1DAC}" type="slidenum">
              <a:rPr lang="en-AU"/>
              <a:pPr>
                <a:defRPr/>
              </a:pPr>
              <a:t>86</a:t>
            </a:fld>
            <a:endParaRPr lang="en-AU"/>
          </a:p>
        </p:txBody>
      </p:sp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Reducing Branch Delay</a:t>
            </a:r>
            <a:endParaRPr lang="en-AU">
              <a:cs typeface="+mj-cs"/>
            </a:endParaRP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n-cs"/>
              </a:rPr>
              <a:t>Move hardware to determine outcome to ID stage</a:t>
            </a:r>
          </a:p>
          <a:p>
            <a:pPr lvl="1" eaLnBrk="1" hangingPunct="1">
              <a:defRPr/>
            </a:pPr>
            <a:r>
              <a:rPr lang="en-US" sz="2400" dirty="0"/>
              <a:t>Target address adder</a:t>
            </a:r>
          </a:p>
          <a:p>
            <a:pPr lvl="1" eaLnBrk="1" hangingPunct="1">
              <a:defRPr/>
            </a:pPr>
            <a:r>
              <a:rPr lang="en-US" sz="2400" dirty="0"/>
              <a:t>Register comparator</a:t>
            </a:r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Example: branch taken</a:t>
            </a:r>
          </a:p>
          <a:p>
            <a:pPr lvl="1" eaLnBrk="1" hangingPunct="1">
              <a:buFont typeface="Wingdings" charset="0"/>
              <a:buNone/>
              <a:defRPr/>
            </a:pPr>
            <a:r>
              <a:rPr lang="en-US" sz="2000" dirty="0"/>
              <a:t>	</a:t>
            </a:r>
            <a:r>
              <a:rPr lang="en-US" sz="2000" dirty="0">
                <a:latin typeface="Lucida Console" charset="0"/>
              </a:rPr>
              <a:t>36:  sub  $10, $4, $8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40:  </a:t>
            </a:r>
            <a:r>
              <a:rPr lang="en-US" sz="2000" dirty="0" err="1">
                <a:latin typeface="Lucida Console" charset="0"/>
              </a:rPr>
              <a:t>beq</a:t>
            </a:r>
            <a:r>
              <a:rPr lang="en-US" sz="2000" dirty="0">
                <a:latin typeface="Lucida Console" charset="0"/>
              </a:rPr>
              <a:t>  $1,  $3, 7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44:  and  $12, $2, $5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48:  or   $13, $2, $6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52:  add  $14, $4, $2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56:  </a:t>
            </a:r>
            <a:r>
              <a:rPr lang="en-US" sz="2000" dirty="0" err="1">
                <a:latin typeface="Lucida Console" charset="0"/>
              </a:rPr>
              <a:t>slt</a:t>
            </a:r>
            <a:r>
              <a:rPr lang="en-US" sz="2000" dirty="0">
                <a:latin typeface="Lucida Console" charset="0"/>
              </a:rPr>
              <a:t>  $15, $6, $7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     ...</a:t>
            </a:r>
            <a:br>
              <a:rPr lang="en-US" sz="2000" dirty="0">
                <a:latin typeface="Lucida Console" charset="0"/>
              </a:rPr>
            </a:br>
            <a:r>
              <a:rPr lang="en-US" sz="2000" dirty="0">
                <a:latin typeface="Lucida Console" charset="0"/>
              </a:rPr>
              <a:t>72:  </a:t>
            </a:r>
            <a:r>
              <a:rPr lang="en-US" sz="2000" dirty="0" err="1">
                <a:latin typeface="Lucida Console" charset="0"/>
              </a:rPr>
              <a:t>lw</a:t>
            </a:r>
            <a:r>
              <a:rPr lang="en-US" sz="2000" dirty="0">
                <a:latin typeface="Lucida Console" charset="0"/>
              </a:rPr>
              <a:t>   $4, 50($7)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F89799B-8E61-144D-B6B7-D49067A90AED}" type="slidenum">
              <a:rPr lang="en-AU"/>
              <a:pPr>
                <a:defRPr/>
              </a:pPr>
              <a:t>87</a:t>
            </a:fld>
            <a:endParaRPr lang="en-AU"/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Data Hazards for Branches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28725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If a comparison register is a destination of 2</a:t>
            </a:r>
            <a:r>
              <a:rPr lang="en-US" baseline="30000">
                <a:cs typeface="+mn-cs"/>
              </a:rPr>
              <a:t>nd</a:t>
            </a:r>
            <a:r>
              <a:rPr lang="en-US">
                <a:cs typeface="+mn-cs"/>
              </a:rPr>
              <a:t> or 3</a:t>
            </a:r>
            <a:r>
              <a:rPr lang="en-US" baseline="30000">
                <a:cs typeface="+mn-cs"/>
              </a:rPr>
              <a:t>rd</a:t>
            </a:r>
            <a:r>
              <a:rPr lang="en-US">
                <a:cs typeface="+mn-cs"/>
              </a:rPr>
              <a:t> preceding ALU instruction</a:t>
            </a:r>
          </a:p>
        </p:txBody>
      </p:sp>
      <p:sp>
        <p:nvSpPr>
          <p:cNvPr id="436228" name="Rectangle 4"/>
          <p:cNvSpPr>
            <a:spLocks noChangeArrowheads="1"/>
          </p:cNvSpPr>
          <p:nvPr/>
        </p:nvSpPr>
        <p:spPr bwMode="auto">
          <a:xfrm>
            <a:off x="755650" y="3870325"/>
            <a:ext cx="322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…</a:t>
            </a:r>
            <a:endParaRPr lang="en-AU" sz="1800">
              <a:latin typeface="Lucida Console" charset="0"/>
              <a:cs typeface="+mn-cs"/>
            </a:endParaRPr>
          </a:p>
        </p:txBody>
      </p:sp>
      <p:grpSp>
        <p:nvGrpSpPr>
          <p:cNvPr id="181253" name="Group 5"/>
          <p:cNvGrpSpPr>
            <a:grpSpLocks/>
          </p:cNvGrpSpPr>
          <p:nvPr/>
        </p:nvGrpSpPr>
        <p:grpSpPr bwMode="auto">
          <a:xfrm>
            <a:off x="3132138" y="2636838"/>
            <a:ext cx="3024187" cy="504825"/>
            <a:chOff x="2018" y="2341"/>
            <a:chExt cx="1905" cy="318"/>
          </a:xfrm>
        </p:grpSpPr>
        <p:sp>
          <p:nvSpPr>
            <p:cNvPr id="436230" name="Rectangle 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36231" name="Rectangle 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36232" name="Rectangle 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36233" name="Rectangle 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36234" name="Rectangle 1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36235" name="Rectangle 1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36" name="Rectangle 1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37" name="Rectangle 1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38" name="Rectangle 1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81254" name="Group 15"/>
          <p:cNvGrpSpPr>
            <a:grpSpLocks/>
          </p:cNvGrpSpPr>
          <p:nvPr/>
        </p:nvGrpSpPr>
        <p:grpSpPr bwMode="auto">
          <a:xfrm>
            <a:off x="3779838" y="3213100"/>
            <a:ext cx="3024187" cy="504825"/>
            <a:chOff x="2018" y="2341"/>
            <a:chExt cx="1905" cy="318"/>
          </a:xfrm>
        </p:grpSpPr>
        <p:sp>
          <p:nvSpPr>
            <p:cNvPr id="436240" name="Rectangle 1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36241" name="Rectangle 1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36242" name="Rectangle 1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36243" name="Rectangle 1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36244" name="Rectangle 2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36245" name="Rectangle 2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46" name="Rectangle 2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47" name="Rectangle 2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48" name="Rectangle 2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81255" name="Group 25"/>
          <p:cNvGrpSpPr>
            <a:grpSpLocks/>
          </p:cNvGrpSpPr>
          <p:nvPr/>
        </p:nvGrpSpPr>
        <p:grpSpPr bwMode="auto">
          <a:xfrm>
            <a:off x="4427538" y="3787775"/>
            <a:ext cx="3024187" cy="504825"/>
            <a:chOff x="2018" y="2341"/>
            <a:chExt cx="1905" cy="318"/>
          </a:xfrm>
        </p:grpSpPr>
        <p:sp>
          <p:nvSpPr>
            <p:cNvPr id="436250" name="Rectangle 2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36251" name="Rectangle 2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36252" name="Rectangle 2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36253" name="Rectangle 2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36254" name="Rectangle 3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36255" name="Rectangle 3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56" name="Rectangle 3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57" name="Rectangle 3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58" name="Rectangle 3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81256" name="Group 35"/>
          <p:cNvGrpSpPr>
            <a:grpSpLocks/>
          </p:cNvGrpSpPr>
          <p:nvPr/>
        </p:nvGrpSpPr>
        <p:grpSpPr bwMode="auto">
          <a:xfrm>
            <a:off x="5076825" y="4364038"/>
            <a:ext cx="3024188" cy="504825"/>
            <a:chOff x="2018" y="2341"/>
            <a:chExt cx="1905" cy="318"/>
          </a:xfrm>
        </p:grpSpPr>
        <p:sp>
          <p:nvSpPr>
            <p:cNvPr id="436260" name="Rectangle 3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36261" name="Rectangle 3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36262" name="Rectangle 3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36263" name="Rectangle 3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36264" name="Rectangle 4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36265" name="Rectangle 4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66" name="Rectangle 4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67" name="Rectangle 4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6268" name="Rectangle 4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436269" name="Rectangle 45"/>
          <p:cNvSpPr>
            <a:spLocks noChangeArrowheads="1"/>
          </p:cNvSpPr>
          <p:nvPr/>
        </p:nvSpPr>
        <p:spPr bwMode="auto">
          <a:xfrm>
            <a:off x="755650" y="3294063"/>
            <a:ext cx="2117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add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$4</a:t>
            </a:r>
            <a:r>
              <a:rPr lang="en-US" sz="1800">
                <a:latin typeface="Lucida Console" charset="0"/>
                <a:cs typeface="+mn-cs"/>
              </a:rPr>
              <a:t>, $5, $6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36270" name="Rectangle 46"/>
          <p:cNvSpPr>
            <a:spLocks noChangeArrowheads="1"/>
          </p:cNvSpPr>
          <p:nvPr/>
        </p:nvSpPr>
        <p:spPr bwMode="auto">
          <a:xfrm>
            <a:off x="755650" y="2717800"/>
            <a:ext cx="2117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add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$1</a:t>
            </a:r>
            <a:r>
              <a:rPr lang="en-US" sz="1800">
                <a:latin typeface="Lucida Console" charset="0"/>
                <a:cs typeface="+mn-cs"/>
              </a:rPr>
              <a:t>, $2, $3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36271" name="Rectangle 47"/>
          <p:cNvSpPr>
            <a:spLocks noChangeArrowheads="1"/>
          </p:cNvSpPr>
          <p:nvPr/>
        </p:nvSpPr>
        <p:spPr bwMode="auto">
          <a:xfrm>
            <a:off x="755650" y="4446588"/>
            <a:ext cx="2670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beq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$1</a:t>
            </a:r>
            <a:r>
              <a:rPr lang="en-US" sz="1800">
                <a:latin typeface="Lucida Console" charset="0"/>
                <a:cs typeface="+mn-cs"/>
              </a:rPr>
              <a:t>,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$4</a:t>
            </a:r>
            <a:r>
              <a:rPr lang="en-US" sz="1800">
                <a:latin typeface="Lucida Console" charset="0"/>
                <a:cs typeface="+mn-cs"/>
              </a:rPr>
              <a:t>, target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36272" name="Line 48"/>
          <p:cNvSpPr>
            <a:spLocks noChangeShapeType="1"/>
          </p:cNvSpPr>
          <p:nvPr/>
        </p:nvSpPr>
        <p:spPr bwMode="auto">
          <a:xfrm>
            <a:off x="5651500" y="2852738"/>
            <a:ext cx="433388" cy="1727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6273" name="Line 49"/>
          <p:cNvSpPr>
            <a:spLocks noChangeShapeType="1"/>
          </p:cNvSpPr>
          <p:nvPr/>
        </p:nvSpPr>
        <p:spPr bwMode="auto">
          <a:xfrm>
            <a:off x="5651500" y="3429000"/>
            <a:ext cx="433388" cy="1223963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6274" name="Rectangle 50"/>
          <p:cNvSpPr>
            <a:spLocks noChangeArrowheads="1"/>
          </p:cNvSpPr>
          <p:nvPr/>
        </p:nvSpPr>
        <p:spPr bwMode="auto">
          <a:xfrm>
            <a:off x="684213" y="5157788"/>
            <a:ext cx="77724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0"/>
              <a:buChar char="n"/>
              <a:defRPr/>
            </a:pPr>
            <a:r>
              <a:rPr lang="en-US" sz="3200">
                <a:cs typeface="+mn-cs"/>
              </a:rPr>
              <a:t>Can resolve using forwarding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3FAC176B-4363-D54F-9E10-8A91563FAD27}" type="slidenum">
              <a:rPr lang="en-AU"/>
              <a:pPr>
                <a:defRPr/>
              </a:pPr>
              <a:t>88</a:t>
            </a:fld>
            <a:endParaRPr lang="en-AU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Data Hazards for Branches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8125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If a comparison register is a destination of preceding ALU instruction or 2</a:t>
            </a:r>
            <a:r>
              <a:rPr lang="en-US" baseline="30000">
                <a:cs typeface="+mn-cs"/>
              </a:rPr>
              <a:t>nd</a:t>
            </a:r>
            <a:r>
              <a:rPr lang="en-US">
                <a:cs typeface="+mn-cs"/>
              </a:rPr>
              <a:t> preceding load instruction</a:t>
            </a:r>
          </a:p>
          <a:p>
            <a:pPr lvl="1" eaLnBrk="1" hangingPunct="1">
              <a:defRPr/>
            </a:pPr>
            <a:r>
              <a:rPr lang="en-US"/>
              <a:t>Need 1 stall cycle</a:t>
            </a:r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755650" y="4878388"/>
            <a:ext cx="1703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beq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stalled</a:t>
            </a:r>
            <a:endParaRPr lang="en-AU" sz="1800">
              <a:latin typeface="Lucida Console" charset="0"/>
              <a:cs typeface="+mn-cs"/>
            </a:endParaRPr>
          </a:p>
        </p:txBody>
      </p:sp>
      <p:grpSp>
        <p:nvGrpSpPr>
          <p:cNvPr id="183301" name="Group 5"/>
          <p:cNvGrpSpPr>
            <a:grpSpLocks/>
          </p:cNvGrpSpPr>
          <p:nvPr/>
        </p:nvGrpSpPr>
        <p:grpSpPr bwMode="auto">
          <a:xfrm>
            <a:off x="3132138" y="3644900"/>
            <a:ext cx="3024187" cy="504825"/>
            <a:chOff x="2018" y="2341"/>
            <a:chExt cx="1905" cy="318"/>
          </a:xfrm>
        </p:grpSpPr>
        <p:sp>
          <p:nvSpPr>
            <p:cNvPr id="438278" name="Rectangle 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38279" name="Rectangle 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38280" name="Rectangle 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38281" name="Rectangle 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38282" name="Rectangle 1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38283" name="Rectangle 1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8284" name="Rectangle 1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8285" name="Rectangle 1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8286" name="Rectangle 1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83302" name="Group 15"/>
          <p:cNvGrpSpPr>
            <a:grpSpLocks/>
          </p:cNvGrpSpPr>
          <p:nvPr/>
        </p:nvGrpSpPr>
        <p:grpSpPr bwMode="auto">
          <a:xfrm>
            <a:off x="3779838" y="4221163"/>
            <a:ext cx="3024187" cy="504825"/>
            <a:chOff x="2018" y="2341"/>
            <a:chExt cx="1905" cy="318"/>
          </a:xfrm>
        </p:grpSpPr>
        <p:sp>
          <p:nvSpPr>
            <p:cNvPr id="438288" name="Rectangle 1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38289" name="Rectangle 1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38290" name="Rectangle 1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38291" name="Rectangle 1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38292" name="Rectangle 2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38293" name="Rectangle 2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8294" name="Rectangle 2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8295" name="Rectangle 2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38296" name="Rectangle 2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438297" name="Rectangle 25"/>
          <p:cNvSpPr>
            <a:spLocks noChangeArrowheads="1"/>
          </p:cNvSpPr>
          <p:nvPr/>
        </p:nvSpPr>
        <p:spPr bwMode="auto">
          <a:xfrm>
            <a:off x="4427538" y="4868863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IF</a:t>
            </a:r>
            <a:endParaRPr lang="en-AU" sz="1400">
              <a:cs typeface="+mn-cs"/>
            </a:endParaRPr>
          </a:p>
        </p:txBody>
      </p:sp>
      <p:sp>
        <p:nvSpPr>
          <p:cNvPr id="438298" name="Rectangle 26"/>
          <p:cNvSpPr>
            <a:spLocks noChangeArrowheads="1"/>
          </p:cNvSpPr>
          <p:nvPr/>
        </p:nvSpPr>
        <p:spPr bwMode="auto">
          <a:xfrm>
            <a:off x="5075238" y="4868863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ID</a:t>
            </a:r>
            <a:endParaRPr lang="en-AU" sz="1400">
              <a:cs typeface="+mn-cs"/>
            </a:endParaRPr>
          </a:p>
        </p:txBody>
      </p:sp>
      <p:sp>
        <p:nvSpPr>
          <p:cNvPr id="438299" name="Rectangle 27"/>
          <p:cNvSpPr>
            <a:spLocks noChangeArrowheads="1"/>
          </p:cNvSpPr>
          <p:nvPr/>
        </p:nvSpPr>
        <p:spPr bwMode="auto">
          <a:xfrm>
            <a:off x="49323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00" name="Rectangle 28"/>
          <p:cNvSpPr>
            <a:spLocks noChangeArrowheads="1"/>
          </p:cNvSpPr>
          <p:nvPr/>
        </p:nvSpPr>
        <p:spPr bwMode="auto">
          <a:xfrm>
            <a:off x="55800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01" name="Rectangle 29"/>
          <p:cNvSpPr>
            <a:spLocks noChangeArrowheads="1"/>
          </p:cNvSpPr>
          <p:nvPr/>
        </p:nvSpPr>
        <p:spPr bwMode="auto">
          <a:xfrm>
            <a:off x="62277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02" name="Rectangle 30"/>
          <p:cNvSpPr>
            <a:spLocks noChangeArrowheads="1"/>
          </p:cNvSpPr>
          <p:nvPr/>
        </p:nvSpPr>
        <p:spPr bwMode="auto">
          <a:xfrm>
            <a:off x="68754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03" name="Rectangle 31"/>
          <p:cNvSpPr>
            <a:spLocks noChangeArrowheads="1"/>
          </p:cNvSpPr>
          <p:nvPr/>
        </p:nvSpPr>
        <p:spPr bwMode="auto">
          <a:xfrm>
            <a:off x="5724525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ID</a:t>
            </a:r>
            <a:endParaRPr lang="en-AU" sz="1400">
              <a:cs typeface="+mn-cs"/>
            </a:endParaRPr>
          </a:p>
        </p:txBody>
      </p:sp>
      <p:sp>
        <p:nvSpPr>
          <p:cNvPr id="438304" name="Rectangle 32"/>
          <p:cNvSpPr>
            <a:spLocks noChangeArrowheads="1"/>
          </p:cNvSpPr>
          <p:nvPr/>
        </p:nvSpPr>
        <p:spPr bwMode="auto">
          <a:xfrm>
            <a:off x="63738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EX</a:t>
            </a:r>
            <a:endParaRPr lang="en-AU" sz="1400">
              <a:cs typeface="+mn-cs"/>
            </a:endParaRPr>
          </a:p>
        </p:txBody>
      </p:sp>
      <p:sp>
        <p:nvSpPr>
          <p:cNvPr id="438305" name="Rectangle 33"/>
          <p:cNvSpPr>
            <a:spLocks noChangeArrowheads="1"/>
          </p:cNvSpPr>
          <p:nvPr/>
        </p:nvSpPr>
        <p:spPr bwMode="auto">
          <a:xfrm>
            <a:off x="70215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MEM</a:t>
            </a:r>
            <a:endParaRPr lang="en-AU" sz="1400">
              <a:cs typeface="+mn-cs"/>
            </a:endParaRPr>
          </a:p>
        </p:txBody>
      </p:sp>
      <p:sp>
        <p:nvSpPr>
          <p:cNvPr id="438306" name="Rectangle 34"/>
          <p:cNvSpPr>
            <a:spLocks noChangeArrowheads="1"/>
          </p:cNvSpPr>
          <p:nvPr/>
        </p:nvSpPr>
        <p:spPr bwMode="auto">
          <a:xfrm>
            <a:off x="76692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WB</a:t>
            </a:r>
            <a:endParaRPr lang="en-AU" sz="1400">
              <a:cs typeface="+mn-cs"/>
            </a:endParaRPr>
          </a:p>
        </p:txBody>
      </p:sp>
      <p:sp>
        <p:nvSpPr>
          <p:cNvPr id="438307" name="Rectangle 35"/>
          <p:cNvSpPr>
            <a:spLocks noChangeArrowheads="1"/>
          </p:cNvSpPr>
          <p:nvPr/>
        </p:nvSpPr>
        <p:spPr bwMode="auto">
          <a:xfrm>
            <a:off x="55816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08" name="Rectangle 36"/>
          <p:cNvSpPr>
            <a:spLocks noChangeArrowheads="1"/>
          </p:cNvSpPr>
          <p:nvPr/>
        </p:nvSpPr>
        <p:spPr bwMode="auto">
          <a:xfrm>
            <a:off x="62293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09" name="Rectangle 37"/>
          <p:cNvSpPr>
            <a:spLocks noChangeArrowheads="1"/>
          </p:cNvSpPr>
          <p:nvPr/>
        </p:nvSpPr>
        <p:spPr bwMode="auto">
          <a:xfrm>
            <a:off x="68770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10" name="Rectangle 38"/>
          <p:cNvSpPr>
            <a:spLocks noChangeArrowheads="1"/>
          </p:cNvSpPr>
          <p:nvPr/>
        </p:nvSpPr>
        <p:spPr bwMode="auto">
          <a:xfrm>
            <a:off x="75247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11" name="Rectangle 39"/>
          <p:cNvSpPr>
            <a:spLocks noChangeArrowheads="1"/>
          </p:cNvSpPr>
          <p:nvPr/>
        </p:nvSpPr>
        <p:spPr bwMode="auto">
          <a:xfrm>
            <a:off x="755650" y="4302125"/>
            <a:ext cx="2117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add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$4</a:t>
            </a:r>
            <a:r>
              <a:rPr lang="en-US" sz="1800">
                <a:latin typeface="Lucida Console" charset="0"/>
                <a:cs typeface="+mn-cs"/>
              </a:rPr>
              <a:t>, $5, $6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38312" name="Rectangle 40"/>
          <p:cNvSpPr>
            <a:spLocks noChangeArrowheads="1"/>
          </p:cNvSpPr>
          <p:nvPr/>
        </p:nvSpPr>
        <p:spPr bwMode="auto">
          <a:xfrm>
            <a:off x="755650" y="3725863"/>
            <a:ext cx="1841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lw 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$1</a:t>
            </a:r>
            <a:r>
              <a:rPr lang="en-US" sz="1800">
                <a:latin typeface="Lucida Console" charset="0"/>
                <a:cs typeface="+mn-cs"/>
              </a:rPr>
              <a:t>, addr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38313" name="Rectangle 41"/>
          <p:cNvSpPr>
            <a:spLocks noChangeArrowheads="1"/>
          </p:cNvSpPr>
          <p:nvPr/>
        </p:nvSpPr>
        <p:spPr bwMode="auto">
          <a:xfrm>
            <a:off x="755650" y="5454650"/>
            <a:ext cx="2670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beq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$1</a:t>
            </a:r>
            <a:r>
              <a:rPr lang="en-US" sz="1800">
                <a:latin typeface="Lucida Console" charset="0"/>
                <a:cs typeface="+mn-cs"/>
              </a:rPr>
              <a:t>,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$4</a:t>
            </a:r>
            <a:r>
              <a:rPr lang="en-US" sz="1800">
                <a:latin typeface="Lucida Console" charset="0"/>
                <a:cs typeface="+mn-cs"/>
              </a:rPr>
              <a:t>, target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38314" name="Line 42"/>
          <p:cNvSpPr>
            <a:spLocks noChangeShapeType="1"/>
          </p:cNvSpPr>
          <p:nvPr/>
        </p:nvSpPr>
        <p:spPr bwMode="auto">
          <a:xfrm>
            <a:off x="5651500" y="3860800"/>
            <a:ext cx="433388" cy="1727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15" name="Line 43"/>
          <p:cNvSpPr>
            <a:spLocks noChangeShapeType="1"/>
          </p:cNvSpPr>
          <p:nvPr/>
        </p:nvSpPr>
        <p:spPr bwMode="auto">
          <a:xfrm>
            <a:off x="5651500" y="4437063"/>
            <a:ext cx="433388" cy="1223962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38316" name="AutoShape 44"/>
          <p:cNvSpPr>
            <a:spLocks noChangeArrowheads="1"/>
          </p:cNvSpPr>
          <p:nvPr/>
        </p:nvSpPr>
        <p:spPr bwMode="auto">
          <a:xfrm>
            <a:off x="5724525" y="4940300"/>
            <a:ext cx="360363" cy="287338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38317" name="AutoShape 45"/>
          <p:cNvSpPr>
            <a:spLocks noChangeArrowheads="1"/>
          </p:cNvSpPr>
          <p:nvPr/>
        </p:nvSpPr>
        <p:spPr bwMode="auto">
          <a:xfrm>
            <a:off x="63722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38318" name="AutoShape 46"/>
          <p:cNvSpPr>
            <a:spLocks noChangeArrowheads="1"/>
          </p:cNvSpPr>
          <p:nvPr/>
        </p:nvSpPr>
        <p:spPr bwMode="auto">
          <a:xfrm>
            <a:off x="70199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C602C3C9-9F86-074F-85F5-FB6B077366A3}" type="slidenum">
              <a:rPr lang="en-AU"/>
              <a:pPr>
                <a:defRPr/>
              </a:pPr>
              <a:t>89</a:t>
            </a:fld>
            <a:endParaRPr lang="en-AU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Data Hazards for Branches</a:t>
            </a: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8125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If a comparison register is a destination of immediately preceding load instruction</a:t>
            </a:r>
          </a:p>
          <a:p>
            <a:pPr lvl="1" eaLnBrk="1" hangingPunct="1">
              <a:defRPr/>
            </a:pPr>
            <a:r>
              <a:rPr lang="en-US"/>
              <a:t>Need 2 stall cycles</a:t>
            </a:r>
          </a:p>
        </p:txBody>
      </p:sp>
      <p:sp>
        <p:nvSpPr>
          <p:cNvPr id="440324" name="Rectangle 4"/>
          <p:cNvSpPr>
            <a:spLocks noChangeArrowheads="1"/>
          </p:cNvSpPr>
          <p:nvPr/>
        </p:nvSpPr>
        <p:spPr bwMode="auto">
          <a:xfrm>
            <a:off x="755650" y="4878388"/>
            <a:ext cx="17033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beq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stalled</a:t>
            </a:r>
            <a:endParaRPr lang="en-AU" sz="1800">
              <a:latin typeface="Lucida Console" charset="0"/>
              <a:cs typeface="+mn-cs"/>
            </a:endParaRPr>
          </a:p>
        </p:txBody>
      </p:sp>
      <p:grpSp>
        <p:nvGrpSpPr>
          <p:cNvPr id="185349" name="Group 5"/>
          <p:cNvGrpSpPr>
            <a:grpSpLocks/>
          </p:cNvGrpSpPr>
          <p:nvPr/>
        </p:nvGrpSpPr>
        <p:grpSpPr bwMode="auto">
          <a:xfrm>
            <a:off x="3132138" y="3644900"/>
            <a:ext cx="3024187" cy="504825"/>
            <a:chOff x="2018" y="2341"/>
            <a:chExt cx="1905" cy="318"/>
          </a:xfrm>
        </p:grpSpPr>
        <p:sp>
          <p:nvSpPr>
            <p:cNvPr id="440326" name="Rectangle 6"/>
            <p:cNvSpPr>
              <a:spLocks noChangeArrowheads="1"/>
            </p:cNvSpPr>
            <p:nvPr/>
          </p:nvSpPr>
          <p:spPr bwMode="auto">
            <a:xfrm>
              <a:off x="2018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IF</a:t>
              </a:r>
              <a:endParaRPr lang="en-AU" sz="1400">
                <a:cs typeface="+mn-cs"/>
              </a:endParaRPr>
            </a:p>
          </p:txBody>
        </p:sp>
        <p:sp>
          <p:nvSpPr>
            <p:cNvPr id="440327" name="Rectangle 7"/>
            <p:cNvSpPr>
              <a:spLocks noChangeArrowheads="1"/>
            </p:cNvSpPr>
            <p:nvPr/>
          </p:nvSpPr>
          <p:spPr bwMode="auto">
            <a:xfrm>
              <a:off x="2426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ID</a:t>
              </a:r>
              <a:endParaRPr lang="en-AU" sz="1400">
                <a:cs typeface="+mn-cs"/>
              </a:endParaRPr>
            </a:p>
          </p:txBody>
        </p:sp>
        <p:sp>
          <p:nvSpPr>
            <p:cNvPr id="440328" name="Rectangle 8"/>
            <p:cNvSpPr>
              <a:spLocks noChangeArrowheads="1"/>
            </p:cNvSpPr>
            <p:nvPr/>
          </p:nvSpPr>
          <p:spPr bwMode="auto">
            <a:xfrm>
              <a:off x="2835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EX</a:t>
              </a:r>
              <a:endParaRPr lang="en-AU" sz="1400">
                <a:cs typeface="+mn-cs"/>
              </a:endParaRPr>
            </a:p>
          </p:txBody>
        </p:sp>
        <p:sp>
          <p:nvSpPr>
            <p:cNvPr id="440329" name="Rectangle 9"/>
            <p:cNvSpPr>
              <a:spLocks noChangeArrowheads="1"/>
            </p:cNvSpPr>
            <p:nvPr/>
          </p:nvSpPr>
          <p:spPr bwMode="auto">
            <a:xfrm>
              <a:off x="3243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MEM</a:t>
              </a:r>
              <a:endParaRPr lang="en-AU" sz="1400">
                <a:cs typeface="+mn-cs"/>
              </a:endParaRPr>
            </a:p>
          </p:txBody>
        </p:sp>
        <p:sp>
          <p:nvSpPr>
            <p:cNvPr id="440330" name="Rectangle 10"/>
            <p:cNvSpPr>
              <a:spLocks noChangeArrowheads="1"/>
            </p:cNvSpPr>
            <p:nvPr/>
          </p:nvSpPr>
          <p:spPr bwMode="auto">
            <a:xfrm>
              <a:off x="3651" y="2387"/>
              <a:ext cx="272" cy="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sz="1400">
                  <a:cs typeface="+mn-cs"/>
                </a:rPr>
                <a:t>WB</a:t>
              </a:r>
              <a:endParaRPr lang="en-AU" sz="1400">
                <a:cs typeface="+mn-cs"/>
              </a:endParaRPr>
            </a:p>
          </p:txBody>
        </p:sp>
        <p:sp>
          <p:nvSpPr>
            <p:cNvPr id="440331" name="Rectangle 11"/>
            <p:cNvSpPr>
              <a:spLocks noChangeArrowheads="1"/>
            </p:cNvSpPr>
            <p:nvPr/>
          </p:nvSpPr>
          <p:spPr bwMode="auto">
            <a:xfrm>
              <a:off x="2336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0332" name="Rectangle 12"/>
            <p:cNvSpPr>
              <a:spLocks noChangeArrowheads="1"/>
            </p:cNvSpPr>
            <p:nvPr/>
          </p:nvSpPr>
          <p:spPr bwMode="auto">
            <a:xfrm>
              <a:off x="2744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0333" name="Rectangle 13"/>
            <p:cNvSpPr>
              <a:spLocks noChangeArrowheads="1"/>
            </p:cNvSpPr>
            <p:nvPr/>
          </p:nvSpPr>
          <p:spPr bwMode="auto">
            <a:xfrm>
              <a:off x="3152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0334" name="Rectangle 14"/>
            <p:cNvSpPr>
              <a:spLocks noChangeArrowheads="1"/>
            </p:cNvSpPr>
            <p:nvPr/>
          </p:nvSpPr>
          <p:spPr bwMode="auto">
            <a:xfrm>
              <a:off x="3560" y="2341"/>
              <a:ext cx="45" cy="3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440335" name="Rectangle 15"/>
          <p:cNvSpPr>
            <a:spLocks noChangeArrowheads="1"/>
          </p:cNvSpPr>
          <p:nvPr/>
        </p:nvSpPr>
        <p:spPr bwMode="auto">
          <a:xfrm>
            <a:off x="3779838" y="4294188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IF</a:t>
            </a:r>
            <a:endParaRPr lang="en-AU" sz="1400">
              <a:cs typeface="+mn-cs"/>
            </a:endParaRPr>
          </a:p>
        </p:txBody>
      </p:sp>
      <p:sp>
        <p:nvSpPr>
          <p:cNvPr id="440336" name="Rectangle 16"/>
          <p:cNvSpPr>
            <a:spLocks noChangeArrowheads="1"/>
          </p:cNvSpPr>
          <p:nvPr/>
        </p:nvSpPr>
        <p:spPr bwMode="auto">
          <a:xfrm>
            <a:off x="4427538" y="4294188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ID</a:t>
            </a:r>
            <a:endParaRPr lang="en-AU" sz="1400">
              <a:cs typeface="+mn-cs"/>
            </a:endParaRPr>
          </a:p>
        </p:txBody>
      </p:sp>
      <p:sp>
        <p:nvSpPr>
          <p:cNvPr id="440337" name="Rectangle 17"/>
          <p:cNvSpPr>
            <a:spLocks noChangeArrowheads="1"/>
          </p:cNvSpPr>
          <p:nvPr/>
        </p:nvSpPr>
        <p:spPr bwMode="auto">
          <a:xfrm>
            <a:off x="4284663" y="4221163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38" name="Rectangle 18"/>
          <p:cNvSpPr>
            <a:spLocks noChangeArrowheads="1"/>
          </p:cNvSpPr>
          <p:nvPr/>
        </p:nvSpPr>
        <p:spPr bwMode="auto">
          <a:xfrm>
            <a:off x="4932363" y="4221163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39" name="Rectangle 19"/>
          <p:cNvSpPr>
            <a:spLocks noChangeArrowheads="1"/>
          </p:cNvSpPr>
          <p:nvPr/>
        </p:nvSpPr>
        <p:spPr bwMode="auto">
          <a:xfrm>
            <a:off x="5580063" y="4221163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40" name="Rectangle 20"/>
          <p:cNvSpPr>
            <a:spLocks noChangeArrowheads="1"/>
          </p:cNvSpPr>
          <p:nvPr/>
        </p:nvSpPr>
        <p:spPr bwMode="auto">
          <a:xfrm>
            <a:off x="6227763" y="4221163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41" name="Rectangle 21"/>
          <p:cNvSpPr>
            <a:spLocks noChangeArrowheads="1"/>
          </p:cNvSpPr>
          <p:nvPr/>
        </p:nvSpPr>
        <p:spPr bwMode="auto">
          <a:xfrm>
            <a:off x="5075238" y="4868863"/>
            <a:ext cx="431800" cy="3603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ID</a:t>
            </a:r>
            <a:endParaRPr lang="en-AU" sz="1400">
              <a:cs typeface="+mn-cs"/>
            </a:endParaRPr>
          </a:p>
        </p:txBody>
      </p:sp>
      <p:sp>
        <p:nvSpPr>
          <p:cNvPr id="440342" name="Rectangle 22"/>
          <p:cNvSpPr>
            <a:spLocks noChangeArrowheads="1"/>
          </p:cNvSpPr>
          <p:nvPr/>
        </p:nvSpPr>
        <p:spPr bwMode="auto">
          <a:xfrm>
            <a:off x="49323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43" name="Rectangle 23"/>
          <p:cNvSpPr>
            <a:spLocks noChangeArrowheads="1"/>
          </p:cNvSpPr>
          <p:nvPr/>
        </p:nvSpPr>
        <p:spPr bwMode="auto">
          <a:xfrm>
            <a:off x="55800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44" name="Rectangle 24"/>
          <p:cNvSpPr>
            <a:spLocks noChangeArrowheads="1"/>
          </p:cNvSpPr>
          <p:nvPr/>
        </p:nvSpPr>
        <p:spPr bwMode="auto">
          <a:xfrm>
            <a:off x="62277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45" name="Rectangle 25"/>
          <p:cNvSpPr>
            <a:spLocks noChangeArrowheads="1"/>
          </p:cNvSpPr>
          <p:nvPr/>
        </p:nvSpPr>
        <p:spPr bwMode="auto">
          <a:xfrm>
            <a:off x="6875463" y="4795838"/>
            <a:ext cx="71437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46" name="Rectangle 26"/>
          <p:cNvSpPr>
            <a:spLocks noChangeArrowheads="1"/>
          </p:cNvSpPr>
          <p:nvPr/>
        </p:nvSpPr>
        <p:spPr bwMode="auto">
          <a:xfrm>
            <a:off x="5724525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ID</a:t>
            </a:r>
            <a:endParaRPr lang="en-AU" sz="1400">
              <a:cs typeface="+mn-cs"/>
            </a:endParaRPr>
          </a:p>
        </p:txBody>
      </p:sp>
      <p:sp>
        <p:nvSpPr>
          <p:cNvPr id="440347" name="Rectangle 27"/>
          <p:cNvSpPr>
            <a:spLocks noChangeArrowheads="1"/>
          </p:cNvSpPr>
          <p:nvPr/>
        </p:nvSpPr>
        <p:spPr bwMode="auto">
          <a:xfrm>
            <a:off x="63738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EX</a:t>
            </a:r>
            <a:endParaRPr lang="en-AU" sz="1400">
              <a:cs typeface="+mn-cs"/>
            </a:endParaRPr>
          </a:p>
        </p:txBody>
      </p:sp>
      <p:sp>
        <p:nvSpPr>
          <p:cNvPr id="440348" name="Rectangle 28"/>
          <p:cNvSpPr>
            <a:spLocks noChangeArrowheads="1"/>
          </p:cNvSpPr>
          <p:nvPr/>
        </p:nvSpPr>
        <p:spPr bwMode="auto">
          <a:xfrm>
            <a:off x="70215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MEM</a:t>
            </a:r>
            <a:endParaRPr lang="en-AU" sz="1400">
              <a:cs typeface="+mn-cs"/>
            </a:endParaRPr>
          </a:p>
        </p:txBody>
      </p:sp>
      <p:sp>
        <p:nvSpPr>
          <p:cNvPr id="440349" name="Rectangle 29"/>
          <p:cNvSpPr>
            <a:spLocks noChangeArrowheads="1"/>
          </p:cNvSpPr>
          <p:nvPr/>
        </p:nvSpPr>
        <p:spPr bwMode="auto">
          <a:xfrm>
            <a:off x="7669213" y="5445125"/>
            <a:ext cx="431800" cy="3603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sz="1400">
                <a:cs typeface="+mn-cs"/>
              </a:rPr>
              <a:t>WB</a:t>
            </a:r>
            <a:endParaRPr lang="en-AU" sz="1400">
              <a:cs typeface="+mn-cs"/>
            </a:endParaRPr>
          </a:p>
        </p:txBody>
      </p:sp>
      <p:sp>
        <p:nvSpPr>
          <p:cNvPr id="440350" name="Rectangle 30"/>
          <p:cNvSpPr>
            <a:spLocks noChangeArrowheads="1"/>
          </p:cNvSpPr>
          <p:nvPr/>
        </p:nvSpPr>
        <p:spPr bwMode="auto">
          <a:xfrm>
            <a:off x="55816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51" name="Rectangle 31"/>
          <p:cNvSpPr>
            <a:spLocks noChangeArrowheads="1"/>
          </p:cNvSpPr>
          <p:nvPr/>
        </p:nvSpPr>
        <p:spPr bwMode="auto">
          <a:xfrm>
            <a:off x="62293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52" name="Rectangle 32"/>
          <p:cNvSpPr>
            <a:spLocks noChangeArrowheads="1"/>
          </p:cNvSpPr>
          <p:nvPr/>
        </p:nvSpPr>
        <p:spPr bwMode="auto">
          <a:xfrm>
            <a:off x="68770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53" name="Rectangle 33"/>
          <p:cNvSpPr>
            <a:spLocks noChangeArrowheads="1"/>
          </p:cNvSpPr>
          <p:nvPr/>
        </p:nvSpPr>
        <p:spPr bwMode="auto">
          <a:xfrm>
            <a:off x="7524750" y="5372100"/>
            <a:ext cx="71438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54" name="Rectangle 34"/>
          <p:cNvSpPr>
            <a:spLocks noChangeArrowheads="1"/>
          </p:cNvSpPr>
          <p:nvPr/>
        </p:nvSpPr>
        <p:spPr bwMode="auto">
          <a:xfrm>
            <a:off x="755650" y="4302125"/>
            <a:ext cx="1703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beq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stalled</a:t>
            </a:r>
            <a:endParaRPr lang="en-AU" sz="1800">
              <a:solidFill>
                <a:schemeClr val="hlink"/>
              </a:solidFill>
              <a:latin typeface="Lucida Console" charset="0"/>
              <a:cs typeface="+mn-cs"/>
            </a:endParaRPr>
          </a:p>
        </p:txBody>
      </p:sp>
      <p:sp>
        <p:nvSpPr>
          <p:cNvPr id="440355" name="Rectangle 35"/>
          <p:cNvSpPr>
            <a:spLocks noChangeArrowheads="1"/>
          </p:cNvSpPr>
          <p:nvPr/>
        </p:nvSpPr>
        <p:spPr bwMode="auto">
          <a:xfrm>
            <a:off x="755650" y="3725863"/>
            <a:ext cx="1841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lw 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$1</a:t>
            </a:r>
            <a:r>
              <a:rPr lang="en-US" sz="1800">
                <a:latin typeface="Lucida Console" charset="0"/>
                <a:cs typeface="+mn-cs"/>
              </a:rPr>
              <a:t>, addr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40356" name="Rectangle 36"/>
          <p:cNvSpPr>
            <a:spLocks noChangeArrowheads="1"/>
          </p:cNvSpPr>
          <p:nvPr/>
        </p:nvSpPr>
        <p:spPr bwMode="auto">
          <a:xfrm>
            <a:off x="755650" y="5454650"/>
            <a:ext cx="2670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>
                <a:latin typeface="Lucida Console" charset="0"/>
                <a:cs typeface="+mn-cs"/>
              </a:rPr>
              <a:t>beq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$1</a:t>
            </a:r>
            <a:r>
              <a:rPr lang="en-US" sz="1800">
                <a:latin typeface="Lucida Console" charset="0"/>
                <a:cs typeface="+mn-cs"/>
              </a:rPr>
              <a:t>, </a:t>
            </a:r>
            <a:r>
              <a:rPr lang="en-US" sz="1800">
                <a:solidFill>
                  <a:schemeClr val="hlink"/>
                </a:solidFill>
                <a:latin typeface="Lucida Console" charset="0"/>
                <a:cs typeface="+mn-cs"/>
              </a:rPr>
              <a:t>$0</a:t>
            </a:r>
            <a:r>
              <a:rPr lang="en-US" sz="1800">
                <a:latin typeface="Lucida Console" charset="0"/>
                <a:cs typeface="+mn-cs"/>
              </a:rPr>
              <a:t>, target</a:t>
            </a:r>
            <a:endParaRPr lang="en-AU" sz="1800">
              <a:latin typeface="Lucida Console" charset="0"/>
              <a:cs typeface="+mn-cs"/>
            </a:endParaRPr>
          </a:p>
        </p:txBody>
      </p:sp>
      <p:sp>
        <p:nvSpPr>
          <p:cNvPr id="440357" name="Line 37"/>
          <p:cNvSpPr>
            <a:spLocks noChangeShapeType="1"/>
          </p:cNvSpPr>
          <p:nvPr/>
        </p:nvSpPr>
        <p:spPr bwMode="auto">
          <a:xfrm>
            <a:off x="5651500" y="3860800"/>
            <a:ext cx="433388" cy="17272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0358" name="AutoShape 38"/>
          <p:cNvSpPr>
            <a:spLocks noChangeArrowheads="1"/>
          </p:cNvSpPr>
          <p:nvPr/>
        </p:nvSpPr>
        <p:spPr bwMode="auto">
          <a:xfrm>
            <a:off x="5724525" y="4940300"/>
            <a:ext cx="360363" cy="287338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40359" name="AutoShape 39"/>
          <p:cNvSpPr>
            <a:spLocks noChangeArrowheads="1"/>
          </p:cNvSpPr>
          <p:nvPr/>
        </p:nvSpPr>
        <p:spPr bwMode="auto">
          <a:xfrm>
            <a:off x="63722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40360" name="AutoShape 40"/>
          <p:cNvSpPr>
            <a:spLocks noChangeArrowheads="1"/>
          </p:cNvSpPr>
          <p:nvPr/>
        </p:nvSpPr>
        <p:spPr bwMode="auto">
          <a:xfrm>
            <a:off x="7019925" y="4940300"/>
            <a:ext cx="358775" cy="287338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40361" name="AutoShape 41"/>
          <p:cNvSpPr>
            <a:spLocks noChangeArrowheads="1"/>
          </p:cNvSpPr>
          <p:nvPr/>
        </p:nvSpPr>
        <p:spPr bwMode="auto">
          <a:xfrm>
            <a:off x="5076825" y="4364038"/>
            <a:ext cx="360363" cy="287337"/>
          </a:xfrm>
          <a:prstGeom prst="cloudCallout">
            <a:avLst>
              <a:gd name="adj1" fmla="val -12995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40362" name="AutoShape 42"/>
          <p:cNvSpPr>
            <a:spLocks noChangeArrowheads="1"/>
          </p:cNvSpPr>
          <p:nvPr/>
        </p:nvSpPr>
        <p:spPr bwMode="auto">
          <a:xfrm>
            <a:off x="5724525" y="4364038"/>
            <a:ext cx="358775" cy="287337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  <p:sp>
        <p:nvSpPr>
          <p:cNvPr id="440363" name="AutoShape 43"/>
          <p:cNvSpPr>
            <a:spLocks noChangeArrowheads="1"/>
          </p:cNvSpPr>
          <p:nvPr/>
        </p:nvSpPr>
        <p:spPr bwMode="auto">
          <a:xfrm>
            <a:off x="6372225" y="4364038"/>
            <a:ext cx="358775" cy="287337"/>
          </a:xfrm>
          <a:prstGeom prst="cloudCallout">
            <a:avLst>
              <a:gd name="adj1" fmla="val -12833"/>
              <a:gd name="adj2" fmla="val 3619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sz="1800">
              <a:cs typeface="+mn-c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4CF7D873-7885-1940-B91B-D0112CAACB1D}" type="slidenum">
              <a:rPr lang="en-AU"/>
              <a:pPr>
                <a:defRPr/>
              </a:pPr>
              <a:t>90</a:t>
            </a:fld>
            <a:endParaRPr lang="en-AU"/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Dynamic Branch Prediction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cs typeface="+mn-cs"/>
              </a:rPr>
              <a:t>In deeper and superscalar pipelines, branch penalty is more significant</a:t>
            </a:r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Use dynamic prediction</a:t>
            </a:r>
          </a:p>
          <a:p>
            <a:pPr lvl="1" eaLnBrk="1" hangingPunct="1">
              <a:defRPr/>
            </a:pPr>
            <a:r>
              <a:rPr lang="en-US" sz="2400" dirty="0"/>
              <a:t>Branch prediction buffer (aka branch history table)</a:t>
            </a:r>
          </a:p>
          <a:p>
            <a:pPr lvl="1" eaLnBrk="1" hangingPunct="1">
              <a:defRPr/>
            </a:pPr>
            <a:r>
              <a:rPr lang="en-US" sz="2400" dirty="0"/>
              <a:t>Indexed by recent branch instruction addresses</a:t>
            </a:r>
          </a:p>
          <a:p>
            <a:pPr lvl="1" eaLnBrk="1" hangingPunct="1">
              <a:defRPr/>
            </a:pPr>
            <a:r>
              <a:rPr lang="en-US" sz="2400" dirty="0"/>
              <a:t>Stores outcome (taken/not taken)</a:t>
            </a:r>
          </a:p>
          <a:p>
            <a:pPr lvl="1" eaLnBrk="1" hangingPunct="1">
              <a:defRPr/>
            </a:pPr>
            <a:r>
              <a:rPr lang="en-US" sz="2400" dirty="0"/>
              <a:t>To execute a branch</a:t>
            </a:r>
          </a:p>
          <a:p>
            <a:pPr lvl="2" eaLnBrk="1" hangingPunct="1">
              <a:defRPr/>
            </a:pPr>
            <a:r>
              <a:rPr lang="en-US" sz="2000" dirty="0"/>
              <a:t>Check table, expect the same outcome</a:t>
            </a:r>
          </a:p>
          <a:p>
            <a:pPr lvl="2" eaLnBrk="1" hangingPunct="1">
              <a:defRPr/>
            </a:pPr>
            <a:r>
              <a:rPr lang="en-US" sz="2000" dirty="0"/>
              <a:t>Start fetching from fall-through or target</a:t>
            </a:r>
          </a:p>
          <a:p>
            <a:pPr lvl="2" eaLnBrk="1" hangingPunct="1">
              <a:defRPr/>
            </a:pPr>
            <a:r>
              <a:rPr lang="en-US" sz="2000" dirty="0"/>
              <a:t>If wrong, flush pipeline and flip prediction</a:t>
            </a:r>
            <a:endParaRPr lang="en-AU" sz="2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8ABBC2F2-B4C5-2348-9266-65E98E2809B9}" type="slidenum">
              <a:rPr lang="en-AU"/>
              <a:pPr>
                <a:defRPr/>
              </a:pPr>
              <a:t>91</a:t>
            </a:fld>
            <a:endParaRPr lang="en-AU"/>
          </a:p>
        </p:txBody>
      </p:sp>
      <p:sp>
        <p:nvSpPr>
          <p:cNvPr id="444418" name="Rectangle 2"/>
          <p:cNvSpPr>
            <a:spLocks noChangeArrowheads="1"/>
          </p:cNvSpPr>
          <p:nvPr/>
        </p:nvSpPr>
        <p:spPr bwMode="auto">
          <a:xfrm>
            <a:off x="2700338" y="3140075"/>
            <a:ext cx="24479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1-Bit Predictor: Shortcoming</a:t>
            </a:r>
            <a:endParaRPr lang="en-AU">
              <a:cs typeface="+mj-cs"/>
            </a:endParaRPr>
          </a:p>
        </p:txBody>
      </p:sp>
      <p:sp>
        <p:nvSpPr>
          <p:cNvPr id="4444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1913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Inner loop branches </a:t>
            </a:r>
            <a:r>
              <a:rPr lang="en-US" dirty="0" err="1">
                <a:cs typeface="+mn-cs"/>
              </a:rPr>
              <a:t>mispredicted</a:t>
            </a:r>
            <a:r>
              <a:rPr lang="en-US" dirty="0">
                <a:cs typeface="+mn-cs"/>
              </a:rPr>
              <a:t> twice!</a:t>
            </a:r>
            <a:endParaRPr lang="en-AU" dirty="0">
              <a:cs typeface="+mn-cs"/>
            </a:endParaRPr>
          </a:p>
        </p:txBody>
      </p:sp>
      <p:sp>
        <p:nvSpPr>
          <p:cNvPr id="444421" name="Text Box 5"/>
          <p:cNvSpPr txBox="1">
            <a:spLocks noChangeArrowheads="1"/>
          </p:cNvSpPr>
          <p:nvPr/>
        </p:nvSpPr>
        <p:spPr bwMode="auto">
          <a:xfrm>
            <a:off x="1617663" y="1916113"/>
            <a:ext cx="353695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000" dirty="0">
                <a:latin typeface="Lucida Console" charset="0"/>
                <a:cs typeface="+mn-cs"/>
              </a:rPr>
              <a:t>outer: …</a:t>
            </a:r>
            <a:br>
              <a:rPr lang="en-US" sz="2000" dirty="0">
                <a:latin typeface="Lucida Console" charset="0"/>
                <a:cs typeface="+mn-cs"/>
              </a:rPr>
            </a:br>
            <a:r>
              <a:rPr lang="en-US" sz="2000" dirty="0">
                <a:latin typeface="Lucida Console" charset="0"/>
                <a:cs typeface="+mn-cs"/>
              </a:rPr>
              <a:t>       …</a:t>
            </a:r>
            <a:br>
              <a:rPr lang="en-US" sz="2000" dirty="0">
                <a:latin typeface="Lucida Console" charset="0"/>
                <a:cs typeface="+mn-cs"/>
              </a:rPr>
            </a:br>
            <a:r>
              <a:rPr lang="en-US" sz="2000" dirty="0">
                <a:latin typeface="Lucida Console" charset="0"/>
                <a:cs typeface="+mn-cs"/>
              </a:rPr>
              <a:t>inner: …</a:t>
            </a:r>
          </a:p>
          <a:p>
            <a:pPr algn="l">
              <a:defRPr/>
            </a:pPr>
            <a:r>
              <a:rPr lang="en-US" sz="2000" dirty="0">
                <a:latin typeface="Lucida Console" charset="0"/>
                <a:cs typeface="+mn-cs"/>
              </a:rPr>
              <a:t>       …</a:t>
            </a:r>
          </a:p>
          <a:p>
            <a:pPr algn="l">
              <a:defRPr/>
            </a:pPr>
            <a:r>
              <a:rPr lang="en-US" sz="2000" dirty="0">
                <a:latin typeface="Lucida Console" charset="0"/>
                <a:cs typeface="+mn-cs"/>
              </a:rPr>
              <a:t>       </a:t>
            </a:r>
            <a:r>
              <a:rPr lang="en-US" sz="2000" dirty="0" err="1">
                <a:latin typeface="Lucida Console" charset="0"/>
                <a:cs typeface="+mn-cs"/>
              </a:rPr>
              <a:t>beq</a:t>
            </a:r>
            <a:r>
              <a:rPr lang="en-US" sz="2000" dirty="0">
                <a:latin typeface="Lucida Console" charset="0"/>
                <a:cs typeface="+mn-cs"/>
              </a:rPr>
              <a:t> …, …, inner</a:t>
            </a:r>
            <a:br>
              <a:rPr lang="en-US" sz="2000" dirty="0">
                <a:latin typeface="Lucida Console" charset="0"/>
                <a:cs typeface="+mn-cs"/>
              </a:rPr>
            </a:br>
            <a:r>
              <a:rPr lang="en-US" sz="2000" dirty="0">
                <a:latin typeface="Lucida Console" charset="0"/>
                <a:cs typeface="+mn-cs"/>
              </a:rPr>
              <a:t>       …</a:t>
            </a:r>
            <a:br>
              <a:rPr lang="en-US" sz="2000" dirty="0">
                <a:latin typeface="Lucida Console" charset="0"/>
                <a:cs typeface="+mn-cs"/>
              </a:rPr>
            </a:br>
            <a:r>
              <a:rPr lang="en-US" sz="2000" dirty="0">
                <a:latin typeface="Lucida Console" charset="0"/>
                <a:cs typeface="+mn-cs"/>
              </a:rPr>
              <a:t>       </a:t>
            </a:r>
            <a:r>
              <a:rPr lang="en-US" sz="2000" dirty="0" err="1">
                <a:latin typeface="Lucida Console" charset="0"/>
                <a:cs typeface="+mn-cs"/>
              </a:rPr>
              <a:t>beq</a:t>
            </a:r>
            <a:r>
              <a:rPr lang="en-US" sz="2000" dirty="0">
                <a:latin typeface="Lucida Console" charset="0"/>
                <a:cs typeface="+mn-cs"/>
              </a:rPr>
              <a:t> …, …, outer</a:t>
            </a:r>
            <a:endParaRPr lang="en-AU" sz="2000" dirty="0">
              <a:latin typeface="Lucida Console" charset="0"/>
              <a:cs typeface="+mn-cs"/>
            </a:endParaRPr>
          </a:p>
        </p:txBody>
      </p:sp>
      <p:sp>
        <p:nvSpPr>
          <p:cNvPr id="444422" name="Line 6"/>
          <p:cNvSpPr>
            <a:spLocks noChangeShapeType="1"/>
          </p:cNvSpPr>
          <p:nvPr/>
        </p:nvSpPr>
        <p:spPr bwMode="auto">
          <a:xfrm>
            <a:off x="5219700" y="337820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23" name="Line 7"/>
          <p:cNvSpPr>
            <a:spLocks noChangeShapeType="1"/>
          </p:cNvSpPr>
          <p:nvPr/>
        </p:nvSpPr>
        <p:spPr bwMode="auto">
          <a:xfrm flipV="1">
            <a:off x="5580063" y="27305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24" name="Line 8"/>
          <p:cNvSpPr>
            <a:spLocks noChangeShapeType="1"/>
          </p:cNvSpPr>
          <p:nvPr/>
        </p:nvSpPr>
        <p:spPr bwMode="auto">
          <a:xfrm flipH="1">
            <a:off x="4356100" y="27305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25" name="Line 9"/>
          <p:cNvSpPr>
            <a:spLocks noChangeShapeType="1"/>
          </p:cNvSpPr>
          <p:nvPr/>
        </p:nvSpPr>
        <p:spPr bwMode="auto">
          <a:xfrm>
            <a:off x="5219700" y="3954463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26" name="Line 10"/>
          <p:cNvSpPr>
            <a:spLocks noChangeShapeType="1"/>
          </p:cNvSpPr>
          <p:nvPr/>
        </p:nvSpPr>
        <p:spPr bwMode="auto">
          <a:xfrm flipV="1">
            <a:off x="5940425" y="2082800"/>
            <a:ext cx="0" cy="1871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27" name="Line 11"/>
          <p:cNvSpPr>
            <a:spLocks noChangeShapeType="1"/>
          </p:cNvSpPr>
          <p:nvPr/>
        </p:nvSpPr>
        <p:spPr bwMode="auto">
          <a:xfrm flipH="1">
            <a:off x="4356100" y="208280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444428" name="Rectangle 12"/>
          <p:cNvSpPr>
            <a:spLocks noChangeArrowheads="1"/>
          </p:cNvSpPr>
          <p:nvPr/>
        </p:nvSpPr>
        <p:spPr bwMode="auto">
          <a:xfrm>
            <a:off x="684213" y="4364038"/>
            <a:ext cx="77724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800" dirty="0" err="1">
                <a:cs typeface="+mn-cs"/>
              </a:rPr>
              <a:t>Mispredict</a:t>
            </a:r>
            <a:r>
              <a:rPr lang="en-US" sz="2800" dirty="0">
                <a:cs typeface="+mn-cs"/>
              </a:rPr>
              <a:t> as taken on last iteration of inner loop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charset="0"/>
              <a:buChar char="n"/>
              <a:defRPr/>
            </a:pPr>
            <a:r>
              <a:rPr lang="en-US" sz="2800" dirty="0">
                <a:cs typeface="+mn-cs"/>
              </a:rPr>
              <a:t>Then </a:t>
            </a:r>
            <a:r>
              <a:rPr lang="en-US" sz="2800" dirty="0" err="1">
                <a:cs typeface="+mn-cs"/>
              </a:rPr>
              <a:t>mispredict</a:t>
            </a:r>
            <a:r>
              <a:rPr lang="en-US" sz="2800" dirty="0">
                <a:cs typeface="+mn-cs"/>
              </a:rPr>
              <a:t> as not taken on first iteration of inner loop next time around</a:t>
            </a:r>
            <a:endParaRPr lang="en-AU" sz="2800" dirty="0">
              <a:cs typeface="+mn-c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FCB8DA49-4D11-4B44-9832-162462E2C8C8}" type="slidenum">
              <a:rPr lang="en-AU"/>
              <a:pPr>
                <a:defRPr/>
              </a:pPr>
              <a:t>92</a:t>
            </a:fld>
            <a:endParaRPr lang="en-AU"/>
          </a:p>
        </p:txBody>
      </p:sp>
      <p:pic>
        <p:nvPicPr>
          <p:cNvPr id="191490" name="Picture 6" descr="f04-63-P3744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349500"/>
            <a:ext cx="6132513" cy="372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2-Bit Predictor</a:t>
            </a:r>
            <a:endParaRPr lang="en-AU">
              <a:cs typeface="+mj-cs"/>
            </a:endParaRP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n-cs"/>
              </a:rPr>
              <a:t>Only change prediction on two successive mispredictions</a:t>
            </a:r>
            <a:endParaRPr lang="en-AU">
              <a:cs typeface="+mn-c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Chapter 4 — The Processor — </a:t>
            </a:r>
            <a:fld id="{1720445A-7DA1-014E-96D2-033DFEA50365}" type="slidenum">
              <a:rPr lang="en-AU"/>
              <a:pPr>
                <a:defRPr/>
              </a:pPr>
              <a:t>93</a:t>
            </a:fld>
            <a:endParaRPr lang="en-AU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Calculating the Branch Target</a:t>
            </a:r>
            <a:endParaRPr lang="en-AU" dirty="0">
              <a:cs typeface="+mj-cs"/>
            </a:endParaRP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Even with predictor, still need to calculate the target address</a:t>
            </a:r>
          </a:p>
          <a:p>
            <a:pPr lvl="1" eaLnBrk="1" hangingPunct="1">
              <a:defRPr/>
            </a:pPr>
            <a:r>
              <a:rPr lang="en-US" dirty="0"/>
              <a:t>1-cycle penalty for a taken branch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Branch target buffer</a:t>
            </a:r>
          </a:p>
          <a:p>
            <a:pPr lvl="1" eaLnBrk="1" hangingPunct="1">
              <a:defRPr/>
            </a:pPr>
            <a:r>
              <a:rPr lang="en-US" dirty="0"/>
              <a:t>Cache of target addresses</a:t>
            </a:r>
          </a:p>
          <a:p>
            <a:pPr lvl="1" eaLnBrk="1" hangingPunct="1">
              <a:defRPr/>
            </a:pPr>
            <a:r>
              <a:rPr lang="en-US" dirty="0"/>
              <a:t>Indexed by PC when instruction fetched</a:t>
            </a:r>
          </a:p>
          <a:p>
            <a:pPr lvl="2" eaLnBrk="1" hangingPunct="1">
              <a:defRPr/>
            </a:pPr>
            <a:r>
              <a:rPr lang="en-US" dirty="0"/>
              <a:t>If hit and instruction is branch predicted taken, can fetch target immediately</a:t>
            </a:r>
            <a:endParaRPr lang="en-AU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82217F35-D63D-45A6-8629-CCF8226E10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66777ADA-A28A-42AD-AB69-3B8477211944}" type="slidenum">
              <a:rPr lang="en-AU" altLang="en-US" sz="1400"/>
              <a:pPr/>
              <a:t>94</a:t>
            </a:fld>
            <a:endParaRPr lang="en-AU" altLang="en-US" sz="14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F138EA7-4447-49A3-B8A5-7ADAE92E3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Instruction-Level Parallelism (ILP)</a:t>
            </a:r>
            <a:endParaRPr lang="en-AU" altLang="en-US" sz="3600"/>
          </a:p>
        </p:txBody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568E2E7B-F7C1-4AC9-8A9A-39F511844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Pipelining: executing multiple instructions in parallel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To increase ILP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Deeper pipeline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Less work per stage </a:t>
            </a:r>
            <a:r>
              <a:rPr lang="en-US" altLang="en-US" sz="2000">
                <a:sym typeface="Symbol" panose="05050102010706020507" pitchFamily="18" charset="2"/>
              </a:rPr>
              <a:t> shorter clock cycle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Multiple issue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>
                <a:sym typeface="Symbol" panose="05050102010706020507" pitchFamily="18" charset="2"/>
              </a:rPr>
              <a:t>Replicate pipeline stages  multiple pipelines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>
                <a:sym typeface="Symbol" panose="05050102010706020507" pitchFamily="18" charset="2"/>
              </a:rPr>
              <a:t>Start multiple instructions per clock cycle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>
                <a:sym typeface="Symbol" panose="05050102010706020507" pitchFamily="18" charset="2"/>
              </a:rPr>
              <a:t>CPI &lt; 1, so use Instructions Per Cycle (IPC)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>
                <a:sym typeface="Symbol" panose="05050102010706020507" pitchFamily="18" charset="2"/>
              </a:rPr>
              <a:t>E.g., 4GHz 4-way multiple-issue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>
                <a:sym typeface="Symbol" panose="05050102010706020507" pitchFamily="18" charset="2"/>
              </a:rPr>
              <a:t>16 BIPS, peak CPI = 0.25, peak IPC = 4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>
                <a:sym typeface="Symbol" panose="05050102010706020507" pitchFamily="18" charset="2"/>
              </a:rPr>
              <a:t>But dependencies reduce this in practice</a:t>
            </a:r>
          </a:p>
        </p:txBody>
      </p:sp>
      <p:sp>
        <p:nvSpPr>
          <p:cNvPr id="110597" name="Text Box 4">
            <a:extLst>
              <a:ext uri="{FF2B5EF4-FFF2-40B4-BE49-F238E27FC236}">
                <a16:creationId xmlns:a16="http://schemas.microsoft.com/office/drawing/2014/main" id="{BE0436A9-3502-4822-B16E-9D82986C6342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181850" y="1593850"/>
            <a:ext cx="3557588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>
                <a:solidFill>
                  <a:schemeClr val="folHlink"/>
                </a:solidFill>
              </a:rPr>
              <a:t>§4.10 </a:t>
            </a:r>
            <a:r>
              <a:rPr lang="en-AU" altLang="en-US" sz="1800">
                <a:solidFill>
                  <a:schemeClr val="folHlink"/>
                </a:solidFill>
              </a:rPr>
              <a:t>Parallelism via Instructions</a:t>
            </a:r>
            <a:endParaRPr lang="en-US" altLang="en-US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9961907D-1EC7-4BFF-92E2-D7B6A7FC1B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ED3266B9-9082-4BFA-8FB5-FA44C76C5275}" type="slidenum">
              <a:rPr lang="en-AU" altLang="en-US" sz="1400"/>
              <a:pPr/>
              <a:t>95</a:t>
            </a:fld>
            <a:endParaRPr lang="en-AU" altLang="en-US" sz="14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53931FBA-5383-4386-8335-C2572C753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Issue</a:t>
            </a:r>
            <a:endParaRPr lang="en-AU" altLang="en-US"/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AABE56C8-10F0-4C74-989B-ACD1A5F6E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Static multiple issue</a:t>
            </a:r>
          </a:p>
          <a:p>
            <a:pPr lvl="1" eaLnBrk="1" hangingPunct="1"/>
            <a:r>
              <a:rPr lang="en-US" altLang="en-US" sz="2400"/>
              <a:t>Compiler groups instructions to be issued together</a:t>
            </a:r>
          </a:p>
          <a:p>
            <a:pPr lvl="1" eaLnBrk="1" hangingPunct="1"/>
            <a:r>
              <a:rPr lang="en-US" altLang="en-US" sz="2400"/>
              <a:t>Packages them into “issue slots”</a:t>
            </a:r>
          </a:p>
          <a:p>
            <a:pPr lvl="1" eaLnBrk="1" hangingPunct="1"/>
            <a:r>
              <a:rPr lang="en-US" altLang="en-US" sz="2400"/>
              <a:t>Compiler detects and avoids hazards</a:t>
            </a:r>
          </a:p>
          <a:p>
            <a:pPr eaLnBrk="1" hangingPunct="1"/>
            <a:r>
              <a:rPr lang="en-US" altLang="en-US" sz="2800"/>
              <a:t>Dynamic multiple issue</a:t>
            </a:r>
          </a:p>
          <a:p>
            <a:pPr lvl="1" eaLnBrk="1" hangingPunct="1"/>
            <a:r>
              <a:rPr lang="en-US" altLang="en-US" sz="2400"/>
              <a:t>CPU examines instruction stream and chooses instructions to issue each cycle</a:t>
            </a:r>
          </a:p>
          <a:p>
            <a:pPr lvl="1" eaLnBrk="1" hangingPunct="1"/>
            <a:r>
              <a:rPr lang="en-US" altLang="en-US" sz="2400"/>
              <a:t>Compiler can help by reordering instructions</a:t>
            </a:r>
          </a:p>
          <a:p>
            <a:pPr lvl="1" eaLnBrk="1" hangingPunct="1"/>
            <a:r>
              <a:rPr lang="en-US" altLang="en-US" sz="2400"/>
              <a:t>CPU resolves hazards using advanced techniques at runtime</a:t>
            </a:r>
            <a:endParaRPr lang="en-AU" altLang="en-US" sz="24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92619C44-8F28-4EA3-B425-B8A89912BC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721655BD-13BC-4210-9E7E-36FF486CAAFF}" type="slidenum">
              <a:rPr lang="en-AU" altLang="en-US" sz="1400"/>
              <a:pPr/>
              <a:t>96</a:t>
            </a:fld>
            <a:endParaRPr lang="en-AU" altLang="en-US" sz="14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13FF7222-FBA3-45D6-B263-C28958DAD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Speculation</a:t>
            </a:r>
            <a:endParaRPr lang="en-AU" altLang="en-US"/>
          </a:p>
        </p:txBody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31462FB9-BBF1-4BA6-8DCB-83D514EF3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“Guess” what to do with an instruction</a:t>
            </a:r>
          </a:p>
          <a:p>
            <a:pPr lvl="1" eaLnBrk="1" hangingPunct="1"/>
            <a:r>
              <a:rPr lang="en-US" altLang="en-US" sz="2400"/>
              <a:t>Start operation as soon as possible</a:t>
            </a:r>
          </a:p>
          <a:p>
            <a:pPr lvl="1" eaLnBrk="1" hangingPunct="1"/>
            <a:r>
              <a:rPr lang="en-US" altLang="en-US" sz="2400"/>
              <a:t>Check whether guess was right</a:t>
            </a:r>
          </a:p>
          <a:p>
            <a:pPr lvl="2" eaLnBrk="1" hangingPunct="1"/>
            <a:r>
              <a:rPr lang="en-US" altLang="en-US" sz="2000"/>
              <a:t>If so, complete the operation</a:t>
            </a:r>
          </a:p>
          <a:p>
            <a:pPr lvl="2" eaLnBrk="1" hangingPunct="1"/>
            <a:r>
              <a:rPr lang="en-US" altLang="en-US" sz="2000"/>
              <a:t>If not, roll-back and do the right thing</a:t>
            </a:r>
          </a:p>
          <a:p>
            <a:pPr eaLnBrk="1" hangingPunct="1"/>
            <a:r>
              <a:rPr lang="en-US" altLang="en-US" sz="2800"/>
              <a:t>Common to static and dynamic multiple issue</a:t>
            </a:r>
          </a:p>
          <a:p>
            <a:pPr eaLnBrk="1" hangingPunct="1"/>
            <a:r>
              <a:rPr lang="en-US" altLang="en-US" sz="2800"/>
              <a:t>Examples</a:t>
            </a:r>
          </a:p>
          <a:p>
            <a:pPr lvl="1" eaLnBrk="1" hangingPunct="1"/>
            <a:r>
              <a:rPr lang="en-US" altLang="en-US" sz="2400"/>
              <a:t>Speculate on branch outcome</a:t>
            </a:r>
          </a:p>
          <a:p>
            <a:pPr lvl="2" eaLnBrk="1" hangingPunct="1"/>
            <a:r>
              <a:rPr lang="en-US" altLang="en-US" sz="2000"/>
              <a:t>Roll back if path taken is different</a:t>
            </a:r>
          </a:p>
          <a:p>
            <a:pPr lvl="1" eaLnBrk="1" hangingPunct="1"/>
            <a:r>
              <a:rPr lang="en-US" altLang="en-US" sz="2400"/>
              <a:t>Speculate on load</a:t>
            </a:r>
          </a:p>
          <a:p>
            <a:pPr lvl="2" eaLnBrk="1" hangingPunct="1"/>
            <a:r>
              <a:rPr lang="en-US" altLang="en-US" sz="2000"/>
              <a:t>Roll back if location is updated</a:t>
            </a:r>
            <a:endParaRPr lang="en-AU" altLang="en-US" sz="20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890A77D4-562B-4952-9922-E8CD2EE98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9010DAF6-E8DA-4711-BDA4-A2F53BA719F0}" type="slidenum">
              <a:rPr lang="en-AU" altLang="en-US" sz="1400"/>
              <a:pPr/>
              <a:t>97</a:t>
            </a:fld>
            <a:endParaRPr lang="en-AU" altLang="en-US" sz="14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12A8A99A-BE9F-49F8-9237-57D94891B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Compiler/Hardware Speculation</a:t>
            </a:r>
            <a:endParaRPr lang="en-AU" altLang="en-US" sz="4000"/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2586A6CB-D1C6-42AB-9CD5-0828EECAF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Compiler can reorder instructions</a:t>
            </a:r>
          </a:p>
          <a:p>
            <a:pPr lvl="1" eaLnBrk="1" hangingPunct="1"/>
            <a:r>
              <a:rPr lang="en-US" altLang="en-US"/>
              <a:t>e.g., move load before branch</a:t>
            </a:r>
          </a:p>
          <a:p>
            <a:pPr lvl="1" eaLnBrk="1" hangingPunct="1"/>
            <a:r>
              <a:rPr lang="en-US" altLang="en-US"/>
              <a:t>Can include “fix-up” instructions to recover from incorrect guess</a:t>
            </a:r>
          </a:p>
          <a:p>
            <a:pPr eaLnBrk="1" hangingPunct="1"/>
            <a:r>
              <a:rPr lang="en-US" altLang="en-US"/>
              <a:t>Hardware can look ahead for instructions to execute</a:t>
            </a:r>
          </a:p>
          <a:p>
            <a:pPr lvl="1" eaLnBrk="1" hangingPunct="1"/>
            <a:r>
              <a:rPr lang="en-US" altLang="en-US"/>
              <a:t>Buffer results until it determines they are actually needed</a:t>
            </a:r>
          </a:p>
          <a:p>
            <a:pPr lvl="1" eaLnBrk="1" hangingPunct="1"/>
            <a:r>
              <a:rPr lang="en-US" altLang="en-US"/>
              <a:t>Flush buffers on incorrect speculation</a:t>
            </a:r>
            <a:endParaRPr lang="en-AU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3">
            <a:extLst>
              <a:ext uri="{FF2B5EF4-FFF2-40B4-BE49-F238E27FC236}">
                <a16:creationId xmlns:a16="http://schemas.microsoft.com/office/drawing/2014/main" id="{070FFB9A-543F-4EF0-A259-63E9D8FB6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B6E79BC0-827A-4AC9-A523-F0734DC50C3D}" type="slidenum">
              <a:rPr lang="en-AU" altLang="en-US" sz="1400"/>
              <a:pPr/>
              <a:t>98</a:t>
            </a:fld>
            <a:endParaRPr lang="en-AU" altLang="en-US" sz="14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88AB7F3-F888-4FA2-9C40-547CB6127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Multiple Issue</a:t>
            </a:r>
            <a:endParaRPr lang="en-AU" altLang="en-US"/>
          </a:p>
        </p:txBody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5C36345B-E998-4A19-8D5D-B526B43E4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Compiler groups instructions into “issue packets”</a:t>
            </a:r>
          </a:p>
          <a:p>
            <a:pPr lvl="1" eaLnBrk="1" hangingPunct="1"/>
            <a:r>
              <a:rPr lang="en-US" altLang="en-US"/>
              <a:t>Group of instructions that can be issued on a single cycle</a:t>
            </a:r>
          </a:p>
          <a:p>
            <a:pPr lvl="1" eaLnBrk="1" hangingPunct="1"/>
            <a:r>
              <a:rPr lang="en-US" altLang="en-US"/>
              <a:t>Determined by pipeline resources required</a:t>
            </a:r>
          </a:p>
          <a:p>
            <a:pPr eaLnBrk="1" hangingPunct="1"/>
            <a:r>
              <a:rPr lang="en-US" altLang="en-US"/>
              <a:t>Think of an issue packet as a very long instruction</a:t>
            </a:r>
          </a:p>
          <a:p>
            <a:pPr lvl="1" eaLnBrk="1" hangingPunct="1"/>
            <a:r>
              <a:rPr lang="en-US" altLang="en-US"/>
              <a:t>Specifies multiple concurrent operations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 Very Long Instruction Word (</a:t>
            </a:r>
            <a:r>
              <a:rPr lang="en-US" altLang="en-US"/>
              <a:t>VLIW)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Footer Placeholder 3">
            <a:extLst>
              <a:ext uri="{FF2B5EF4-FFF2-40B4-BE49-F238E27FC236}">
                <a16:creationId xmlns:a16="http://schemas.microsoft.com/office/drawing/2014/main" id="{E976E783-29F6-4413-9575-49C6C2A73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457C7556-30A8-4CDE-A881-F412A68517CD}" type="slidenum">
              <a:rPr lang="en-AU" altLang="en-US" sz="1400"/>
              <a:pPr/>
              <a:t>99</a:t>
            </a:fld>
            <a:endParaRPr lang="en-AU" altLang="en-US" sz="14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BE3FD6A4-614C-404B-82B2-0D945C198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Scheduling Static Multiple Issue</a:t>
            </a:r>
            <a:endParaRPr lang="en-AU" altLang="en-US" sz="4000"/>
          </a:p>
        </p:txBody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96EE7423-7119-42D9-8E17-CEAD1DD72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Compiler must remove some/all hazards</a:t>
            </a:r>
          </a:p>
          <a:p>
            <a:pPr lvl="1" eaLnBrk="1" hangingPunct="1"/>
            <a:r>
              <a:rPr lang="en-US" altLang="en-US"/>
              <a:t>Reorder instructions into issue packets</a:t>
            </a:r>
          </a:p>
          <a:p>
            <a:pPr lvl="1" eaLnBrk="1" hangingPunct="1"/>
            <a:r>
              <a:rPr lang="en-US" altLang="en-US"/>
              <a:t>No dependencies with a packet</a:t>
            </a:r>
          </a:p>
          <a:p>
            <a:pPr lvl="1" eaLnBrk="1" hangingPunct="1"/>
            <a:r>
              <a:rPr lang="en-US" altLang="en-US"/>
              <a:t>Possibly some dependencies between packets</a:t>
            </a:r>
          </a:p>
          <a:p>
            <a:pPr lvl="2" eaLnBrk="1" hangingPunct="1"/>
            <a:r>
              <a:rPr lang="en-US" altLang="en-US"/>
              <a:t>Varies between ISAs; compiler must know!</a:t>
            </a:r>
          </a:p>
          <a:p>
            <a:pPr lvl="1" eaLnBrk="1" hangingPunct="1"/>
            <a:r>
              <a:rPr lang="en-US" altLang="en-US"/>
              <a:t>Pad with nop if necessary</a:t>
            </a:r>
            <a:endParaRPr lang="en-AU" altLang="en-US"/>
          </a:p>
          <a:p>
            <a:pPr eaLnBrk="1" hangingPunct="1"/>
            <a:endParaRPr lang="en-AU" alt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3">
            <a:extLst>
              <a:ext uri="{FF2B5EF4-FFF2-40B4-BE49-F238E27FC236}">
                <a16:creationId xmlns:a16="http://schemas.microsoft.com/office/drawing/2014/main" id="{E14C9790-CA62-43AF-B583-9A61E4DCE3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A39395A3-832F-4CE6-8F73-379A2FC4DAF0}" type="slidenum">
              <a:rPr lang="en-AU" altLang="en-US" sz="1400"/>
              <a:pPr/>
              <a:t>100</a:t>
            </a:fld>
            <a:endParaRPr lang="en-AU" altLang="en-US" sz="140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A1AEED61-71C0-4249-9A89-BEF61D779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MIPS with Static Dual Issue</a:t>
            </a:r>
            <a:endParaRPr lang="en-AU" altLang="en-US"/>
          </a:p>
        </p:txBody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D04377D1-6537-435F-B538-1FF99DBC6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765425"/>
          </a:xfrm>
        </p:spPr>
        <p:txBody>
          <a:bodyPr/>
          <a:lstStyle/>
          <a:p>
            <a:pPr eaLnBrk="1" hangingPunct="1"/>
            <a:r>
              <a:rPr lang="en-US" altLang="en-US" sz="2800"/>
              <a:t>Two-issue packets</a:t>
            </a:r>
          </a:p>
          <a:p>
            <a:pPr lvl="1" eaLnBrk="1" hangingPunct="1"/>
            <a:r>
              <a:rPr lang="en-US" altLang="en-US" sz="2400"/>
              <a:t>One ALU/branch instruction</a:t>
            </a:r>
          </a:p>
          <a:p>
            <a:pPr lvl="1" eaLnBrk="1" hangingPunct="1"/>
            <a:r>
              <a:rPr lang="en-US" altLang="en-US" sz="2400"/>
              <a:t>One load/store instruction</a:t>
            </a:r>
          </a:p>
          <a:p>
            <a:pPr lvl="1" eaLnBrk="1" hangingPunct="1"/>
            <a:r>
              <a:rPr lang="en-US" altLang="en-US" sz="2400"/>
              <a:t>64-bit aligned</a:t>
            </a:r>
          </a:p>
          <a:p>
            <a:pPr lvl="2" eaLnBrk="1" hangingPunct="1"/>
            <a:r>
              <a:rPr lang="en-US" altLang="en-US" sz="2000"/>
              <a:t>ALU/branch, then load/store</a:t>
            </a:r>
          </a:p>
          <a:p>
            <a:pPr lvl="2" eaLnBrk="1" hangingPunct="1"/>
            <a:r>
              <a:rPr lang="en-US" altLang="en-US" sz="2000"/>
              <a:t>Pad an unused instruction with nop</a:t>
            </a:r>
            <a:endParaRPr lang="en-AU" altLang="en-US" sz="2000"/>
          </a:p>
        </p:txBody>
      </p:sp>
      <p:graphicFrame>
        <p:nvGraphicFramePr>
          <p:cNvPr id="493656" name="Group 88">
            <a:extLst>
              <a:ext uri="{FF2B5EF4-FFF2-40B4-BE49-F238E27FC236}">
                <a16:creationId xmlns:a16="http://schemas.microsoft.com/office/drawing/2014/main" id="{8517637B-09CB-42A1-BF49-AD73B560F2C8}"/>
              </a:ext>
            </a:extLst>
          </p:cNvPr>
          <p:cNvGraphicFramePr>
            <a:graphicFrameLocks noGrp="1"/>
          </p:cNvGraphicFramePr>
          <p:nvPr/>
        </p:nvGraphicFramePr>
        <p:xfrm>
          <a:off x="1258888" y="4005263"/>
          <a:ext cx="7231062" cy="213360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Instruction type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Pipeline Stages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ALU/branch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+ 4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Load/store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+ 8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ALU/branch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+ 12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Load/store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+ 16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ALU/branch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+ 20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Load/store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</a:t>
                      </a:r>
                      <a:endParaRPr kumimoji="0" lang="en-A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2">
            <a:extLst>
              <a:ext uri="{FF2B5EF4-FFF2-40B4-BE49-F238E27FC236}">
                <a16:creationId xmlns:a16="http://schemas.microsoft.com/office/drawing/2014/main" id="{A2CD63DE-CF0A-4B42-AE95-9717040D24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D1EF5847-0691-4EF9-A713-73DB701170D8}" type="slidenum">
              <a:rPr lang="en-AU" altLang="en-US" sz="1400"/>
              <a:pPr/>
              <a:t>101</a:t>
            </a:fld>
            <a:endParaRPr lang="en-AU" altLang="en-US" sz="1400"/>
          </a:p>
        </p:txBody>
      </p:sp>
      <p:pic>
        <p:nvPicPr>
          <p:cNvPr id="118787" name="Picture 5" descr="f04-69-P374493">
            <a:extLst>
              <a:ext uri="{FF2B5EF4-FFF2-40B4-BE49-F238E27FC236}">
                <a16:creationId xmlns:a16="http://schemas.microsoft.com/office/drawing/2014/main" id="{882C7329-9C11-4A24-AD47-A4C24EFDB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80010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Rectangle 2">
            <a:extLst>
              <a:ext uri="{FF2B5EF4-FFF2-40B4-BE49-F238E27FC236}">
                <a16:creationId xmlns:a16="http://schemas.microsoft.com/office/drawing/2014/main" id="{6F87A02C-5D10-417D-8CDD-FFA4CEFD8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MIPS with Static Dual Issue</a:t>
            </a:r>
            <a:endParaRPr lang="en-AU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3">
            <a:extLst>
              <a:ext uri="{FF2B5EF4-FFF2-40B4-BE49-F238E27FC236}">
                <a16:creationId xmlns:a16="http://schemas.microsoft.com/office/drawing/2014/main" id="{B0C42B03-BB90-4ED7-956C-CC1A8B5C9E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75C0F303-EFBB-472C-82A3-519C0BBE949F}" type="slidenum">
              <a:rPr lang="en-AU" altLang="en-US" sz="1400"/>
              <a:pPr/>
              <a:t>102</a:t>
            </a:fld>
            <a:endParaRPr lang="en-AU" altLang="en-US" sz="14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F329A4A9-2270-4861-8BD8-91C8EE8DB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Hazards in the Dual-Issue MIPS</a:t>
            </a:r>
            <a:endParaRPr lang="en-AU" altLang="en-US" sz="4000"/>
          </a:p>
        </p:txBody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09231C96-2061-4145-A6B2-7D1DBE75F3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More instructions executing in parallel</a:t>
            </a:r>
          </a:p>
          <a:p>
            <a:pPr eaLnBrk="1" hangingPunct="1"/>
            <a:r>
              <a:rPr lang="en-US" altLang="en-US" sz="2800" dirty="0"/>
              <a:t>EX data hazard</a:t>
            </a:r>
          </a:p>
          <a:p>
            <a:pPr lvl="1" eaLnBrk="1" hangingPunct="1"/>
            <a:r>
              <a:rPr lang="en-US" altLang="en-US" sz="2400" dirty="0"/>
              <a:t>Forwarding avoided stalls with single-issue</a:t>
            </a:r>
          </a:p>
          <a:p>
            <a:pPr lvl="1" eaLnBrk="1" hangingPunct="1"/>
            <a:r>
              <a:rPr lang="en-US" altLang="en-US" sz="2400" dirty="0"/>
              <a:t>Now can’t use ALU result in load/store in same packet</a:t>
            </a:r>
          </a:p>
          <a:p>
            <a:pPr lvl="2" eaLnBrk="1" hangingPunct="1"/>
            <a:r>
              <a:rPr lang="en-US" altLang="en-US" sz="2000" dirty="0">
                <a:latin typeface="Lucida Console" panose="020B0609040504020204" pitchFamily="49" charset="0"/>
              </a:rPr>
              <a:t>add  </a:t>
            </a:r>
            <a:r>
              <a:rPr lang="en-US" altLang="en-US" sz="2000" dirty="0">
                <a:solidFill>
                  <a:schemeClr val="hlink"/>
                </a:solidFill>
                <a:latin typeface="Lucida Console" panose="020B0609040504020204" pitchFamily="49" charset="0"/>
              </a:rPr>
              <a:t>$t0</a:t>
            </a:r>
            <a:r>
              <a:rPr lang="en-US" altLang="en-US" sz="2000" dirty="0">
                <a:latin typeface="Lucida Console" panose="020B0609040504020204" pitchFamily="49" charset="0"/>
              </a:rPr>
              <a:t>, $s0, $s1</a:t>
            </a:r>
            <a:br>
              <a:rPr lang="en-US" altLang="en-US" sz="2000" dirty="0">
                <a:latin typeface="Lucida Console" panose="020B0609040504020204" pitchFamily="49" charset="0"/>
              </a:rPr>
            </a:br>
            <a:r>
              <a:rPr lang="en-US" altLang="en-US" sz="2000" dirty="0">
                <a:latin typeface="Lucida Console" panose="020B0609040504020204" pitchFamily="49" charset="0"/>
              </a:rPr>
              <a:t>load $s2, 0(</a:t>
            </a:r>
            <a:r>
              <a:rPr lang="en-US" altLang="en-US" sz="2000" dirty="0">
                <a:solidFill>
                  <a:schemeClr val="hlink"/>
                </a:solidFill>
                <a:latin typeface="Lucida Console" panose="020B0609040504020204" pitchFamily="49" charset="0"/>
              </a:rPr>
              <a:t>$t0</a:t>
            </a:r>
            <a:r>
              <a:rPr lang="en-US" altLang="en-US" sz="2000" dirty="0">
                <a:latin typeface="Lucida Console" panose="020B0609040504020204" pitchFamily="49" charset="0"/>
              </a:rPr>
              <a:t>)</a:t>
            </a:r>
          </a:p>
          <a:p>
            <a:pPr lvl="2" eaLnBrk="1" hangingPunct="1"/>
            <a:r>
              <a:rPr lang="en-US" altLang="en-US" sz="2000" dirty="0"/>
              <a:t>Split into two packets, effectively a stall</a:t>
            </a:r>
          </a:p>
          <a:p>
            <a:pPr eaLnBrk="1" hangingPunct="1"/>
            <a:r>
              <a:rPr lang="en-US" altLang="en-US" sz="2800" dirty="0"/>
              <a:t>Load-use hazard</a:t>
            </a:r>
          </a:p>
          <a:p>
            <a:pPr lvl="1" eaLnBrk="1" hangingPunct="1"/>
            <a:r>
              <a:rPr lang="en-US" altLang="en-US" sz="2400" dirty="0"/>
              <a:t>Still one cycle use latency, but now two instructions</a:t>
            </a:r>
          </a:p>
          <a:p>
            <a:pPr eaLnBrk="1" hangingPunct="1"/>
            <a:r>
              <a:rPr lang="en-US" altLang="en-US" sz="2800" dirty="0"/>
              <a:t>More aggressive scheduling required</a:t>
            </a:r>
            <a:endParaRPr lang="en-AU" altLang="en-US" sz="2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Footer Placeholder 3">
            <a:extLst>
              <a:ext uri="{FF2B5EF4-FFF2-40B4-BE49-F238E27FC236}">
                <a16:creationId xmlns:a16="http://schemas.microsoft.com/office/drawing/2014/main" id="{462B86A0-E0B1-4889-8908-434B66DF27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AEA474F5-8636-4321-B872-D3B01F477F8D}" type="slidenum">
              <a:rPr lang="en-AU" altLang="en-US" sz="1400"/>
              <a:pPr/>
              <a:t>103</a:t>
            </a:fld>
            <a:endParaRPr lang="en-AU" altLang="en-US" sz="1400"/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848F16C4-9957-45A4-8452-AA1A94E50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Scheduling Example</a:t>
            </a:r>
            <a:endParaRPr lang="en-AU" altLang="en-US"/>
          </a:p>
        </p:txBody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CB2ABA1A-3809-43BD-80EC-8E46637AC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en-US" altLang="en-US"/>
              <a:t>Schedule this for dual-issue MIPS</a:t>
            </a:r>
            <a:endParaRPr lang="en-AU" altLang="en-US" sz="2400">
              <a:latin typeface="Lucida Console" panose="020B0609040504020204" pitchFamily="49" charset="0"/>
            </a:endParaRPr>
          </a:p>
        </p:txBody>
      </p:sp>
      <p:sp>
        <p:nvSpPr>
          <p:cNvPr id="120837" name="Rectangle 4">
            <a:extLst>
              <a:ext uri="{FF2B5EF4-FFF2-40B4-BE49-F238E27FC236}">
                <a16:creationId xmlns:a16="http://schemas.microsoft.com/office/drawing/2014/main" id="{01458109-11B5-47D5-942A-C36BD9B79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989138"/>
            <a:ext cx="73469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AU" altLang="en-US" sz="2000">
                <a:latin typeface="Lucida Console" panose="020B0609040504020204" pitchFamily="49" charset="0"/>
              </a:rPr>
              <a:t>Loop: lw   </a:t>
            </a:r>
            <a:r>
              <a:rPr lang="en-AU" altLang="en-US" sz="2000">
                <a:solidFill>
                  <a:schemeClr val="hlink"/>
                </a:solidFill>
                <a:latin typeface="Lucida Console" panose="020B0609040504020204" pitchFamily="49" charset="0"/>
              </a:rPr>
              <a:t>$t0</a:t>
            </a:r>
            <a:r>
              <a:rPr lang="en-AU" altLang="en-US" sz="2000">
                <a:latin typeface="Lucida Console" panose="020B0609040504020204" pitchFamily="49" charset="0"/>
              </a:rPr>
              <a:t>, 0($s1)      # $t0=array element</a:t>
            </a:r>
            <a:br>
              <a:rPr lang="en-AU" altLang="en-US" sz="2000">
                <a:latin typeface="Lucida Console" panose="020B0609040504020204" pitchFamily="49" charset="0"/>
              </a:rPr>
            </a:br>
            <a:r>
              <a:rPr lang="en-AU" altLang="en-US" sz="2000">
                <a:latin typeface="Lucida Console" panose="020B0609040504020204" pitchFamily="49" charset="0"/>
              </a:rPr>
              <a:t>      addu </a:t>
            </a:r>
            <a:r>
              <a:rPr lang="en-AU" altLang="en-US" sz="2000">
                <a:solidFill>
                  <a:srgbClr val="009900"/>
                </a:solidFill>
                <a:latin typeface="Lucida Console" panose="020B0609040504020204" pitchFamily="49" charset="0"/>
              </a:rPr>
              <a:t>$t0</a:t>
            </a:r>
            <a:r>
              <a:rPr lang="en-AU" altLang="en-US" sz="2000">
                <a:latin typeface="Lucida Console" panose="020B0609040504020204" pitchFamily="49" charset="0"/>
              </a:rPr>
              <a:t>, </a:t>
            </a:r>
            <a:r>
              <a:rPr lang="en-AU" altLang="en-US" sz="2000">
                <a:solidFill>
                  <a:schemeClr val="hlink"/>
                </a:solidFill>
                <a:latin typeface="Lucida Console" panose="020B0609040504020204" pitchFamily="49" charset="0"/>
              </a:rPr>
              <a:t>$t0</a:t>
            </a:r>
            <a:r>
              <a:rPr lang="en-AU" altLang="en-US" sz="2000">
                <a:latin typeface="Lucida Console" panose="020B0609040504020204" pitchFamily="49" charset="0"/>
              </a:rPr>
              <a:t>, $s2    # add scalar in $s2</a:t>
            </a:r>
            <a:br>
              <a:rPr lang="en-AU" altLang="en-US" sz="2000">
                <a:latin typeface="Lucida Console" panose="020B0609040504020204" pitchFamily="49" charset="0"/>
              </a:rPr>
            </a:br>
            <a:r>
              <a:rPr lang="en-AU" altLang="en-US" sz="2000">
                <a:latin typeface="Lucida Console" panose="020B0609040504020204" pitchFamily="49" charset="0"/>
              </a:rPr>
              <a:t>      sw   </a:t>
            </a:r>
            <a:r>
              <a:rPr lang="en-AU" altLang="en-US" sz="2000">
                <a:solidFill>
                  <a:srgbClr val="009900"/>
                </a:solidFill>
                <a:latin typeface="Lucida Console" panose="020B0609040504020204" pitchFamily="49" charset="0"/>
              </a:rPr>
              <a:t>$t0</a:t>
            </a:r>
            <a:r>
              <a:rPr lang="en-AU" altLang="en-US" sz="2000">
                <a:latin typeface="Lucida Console" panose="020B0609040504020204" pitchFamily="49" charset="0"/>
              </a:rPr>
              <a:t>, 0($s1)      # store result</a:t>
            </a:r>
            <a:br>
              <a:rPr lang="en-AU" altLang="en-US" sz="2000">
                <a:latin typeface="Lucida Console" panose="020B0609040504020204" pitchFamily="49" charset="0"/>
              </a:rPr>
            </a:br>
            <a:r>
              <a:rPr lang="en-AU" altLang="en-US" sz="2000">
                <a:latin typeface="Lucida Console" panose="020B0609040504020204" pitchFamily="49" charset="0"/>
              </a:rPr>
              <a:t>      addi </a:t>
            </a:r>
            <a:r>
              <a:rPr lang="en-AU" altLang="en-US" sz="2000">
                <a:solidFill>
                  <a:srgbClr val="A47B38"/>
                </a:solidFill>
                <a:latin typeface="Lucida Console" panose="020B0609040504020204" pitchFamily="49" charset="0"/>
              </a:rPr>
              <a:t>$s1</a:t>
            </a:r>
            <a:r>
              <a:rPr lang="en-AU" altLang="en-US" sz="2000">
                <a:latin typeface="Lucida Console" panose="020B0609040504020204" pitchFamily="49" charset="0"/>
              </a:rPr>
              <a:t>, $s1,–4      # decrement pointer</a:t>
            </a:r>
            <a:br>
              <a:rPr lang="en-AU" altLang="en-US" sz="2000">
                <a:latin typeface="Lucida Console" panose="020B0609040504020204" pitchFamily="49" charset="0"/>
              </a:rPr>
            </a:br>
            <a:r>
              <a:rPr lang="en-AU" altLang="en-US" sz="2000">
                <a:latin typeface="Lucida Console" panose="020B0609040504020204" pitchFamily="49" charset="0"/>
              </a:rPr>
              <a:t>      bne  </a:t>
            </a:r>
            <a:r>
              <a:rPr lang="en-AU" altLang="en-US" sz="2000">
                <a:solidFill>
                  <a:srgbClr val="A47B38"/>
                </a:solidFill>
                <a:latin typeface="Lucida Console" panose="020B0609040504020204" pitchFamily="49" charset="0"/>
              </a:rPr>
              <a:t>$s1</a:t>
            </a:r>
            <a:r>
              <a:rPr lang="en-AU" altLang="en-US" sz="2000">
                <a:latin typeface="Lucida Console" panose="020B0609040504020204" pitchFamily="49" charset="0"/>
              </a:rPr>
              <a:t>, $zero, Loop # branch $s1!=0</a:t>
            </a:r>
          </a:p>
        </p:txBody>
      </p:sp>
      <p:graphicFrame>
        <p:nvGraphicFramePr>
          <p:cNvPr id="499754" name="Group 42">
            <a:extLst>
              <a:ext uri="{FF2B5EF4-FFF2-40B4-BE49-F238E27FC236}">
                <a16:creationId xmlns:a16="http://schemas.microsoft.com/office/drawing/2014/main" id="{DE9464B4-4449-4A43-B7BD-1A7A0B957677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3789363"/>
          <a:ext cx="7272338" cy="1676400"/>
        </p:xfrm>
        <a:graphic>
          <a:graphicData uri="http://schemas.openxmlformats.org/drawingml/2006/table">
            <a:tbl>
              <a:tblPr/>
              <a:tblGrid>
                <a:gridCol w="81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ALU/branch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Load/store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cycle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Loop: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itchFamily="49" charset="0"/>
                        </a:rPr>
                        <a:t>nop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0($s1)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addi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itchFamily="49" charset="0"/>
                        </a:rPr>
                        <a:t>$s1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$s1,–4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itchFamily="49" charset="0"/>
                        </a:rPr>
                        <a:t>nop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addu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itchFamily="49" charset="0"/>
                        </a:rPr>
                        <a:t>nop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bne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itchFamily="49" charset="0"/>
                        </a:rPr>
                        <a:t>$s1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$zero, Loop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4($s1)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0870" name="Rectangle 37">
            <a:extLst>
              <a:ext uri="{FF2B5EF4-FFF2-40B4-BE49-F238E27FC236}">
                <a16:creationId xmlns:a16="http://schemas.microsoft.com/office/drawing/2014/main" id="{D6BA05BC-6024-47F1-9668-88963405B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5661025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/>
              <a:t>IPC = 5/4 = 1.25 (c.f. peak IPC = 2)</a:t>
            </a:r>
            <a:endParaRPr lang="en-AU" altLang="en-US" sz="200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Footer Placeholder 3">
            <a:extLst>
              <a:ext uri="{FF2B5EF4-FFF2-40B4-BE49-F238E27FC236}">
                <a16:creationId xmlns:a16="http://schemas.microsoft.com/office/drawing/2014/main" id="{8034AF77-DD98-4F84-ADC8-35CB249EBC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D374C7B7-6037-4FB4-8AC6-C297E4DFE910}" type="slidenum">
              <a:rPr lang="en-AU" altLang="en-US" sz="1400"/>
              <a:pPr/>
              <a:t>104</a:t>
            </a:fld>
            <a:endParaRPr lang="en-AU" altLang="en-US" sz="14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B1569BCD-A2FC-4FC0-B40B-CA5F3652D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Loop Unrolling</a:t>
            </a:r>
            <a:endParaRPr lang="en-AU" altLang="en-US"/>
          </a:p>
        </p:txBody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DCA7B428-2897-46C1-A936-A1752F062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Replicate loop body to expose more parallelism</a:t>
            </a:r>
          </a:p>
          <a:p>
            <a:pPr lvl="1" eaLnBrk="1" hangingPunct="1"/>
            <a:r>
              <a:rPr lang="en-US" altLang="en-US"/>
              <a:t>Reduces loop-control overhead</a:t>
            </a:r>
          </a:p>
          <a:p>
            <a:pPr eaLnBrk="1" hangingPunct="1"/>
            <a:r>
              <a:rPr lang="en-US" altLang="en-US"/>
              <a:t>Use different registers per replication</a:t>
            </a:r>
          </a:p>
          <a:p>
            <a:pPr lvl="1" eaLnBrk="1" hangingPunct="1"/>
            <a:r>
              <a:rPr lang="en-US" altLang="en-US"/>
              <a:t>Called “register renaming”</a:t>
            </a:r>
            <a:endParaRPr lang="en-AU" altLang="en-US"/>
          </a:p>
          <a:p>
            <a:pPr lvl="1" eaLnBrk="1" hangingPunct="1"/>
            <a:r>
              <a:rPr lang="en-US" altLang="en-US"/>
              <a:t>Avoid loop-carried “anti-dependencies”</a:t>
            </a:r>
          </a:p>
          <a:p>
            <a:pPr lvl="2" eaLnBrk="1" hangingPunct="1"/>
            <a:r>
              <a:rPr lang="en-US" altLang="en-US"/>
              <a:t>Store followed by a load of the same register</a:t>
            </a:r>
          </a:p>
          <a:p>
            <a:pPr lvl="2" eaLnBrk="1" hangingPunct="1"/>
            <a:r>
              <a:rPr lang="en-US" altLang="en-US"/>
              <a:t>Aka “name dependence”</a:t>
            </a:r>
            <a:r>
              <a:rPr lang="en-US" altLang="en-US">
                <a:cs typeface="Arial" panose="020B0604020202020204" pitchFamily="34" charset="0"/>
              </a:rPr>
              <a:t> </a:t>
            </a:r>
          </a:p>
          <a:p>
            <a:pPr lvl="3" eaLnBrk="1" hangingPunct="1"/>
            <a:r>
              <a:rPr lang="en-US" altLang="en-US"/>
              <a:t>Reuse of a register name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ooter Placeholder 3">
            <a:extLst>
              <a:ext uri="{FF2B5EF4-FFF2-40B4-BE49-F238E27FC236}">
                <a16:creationId xmlns:a16="http://schemas.microsoft.com/office/drawing/2014/main" id="{367F3568-C7B8-4649-9945-6B333770DB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9EE8C735-EE9D-4C41-82EA-8C0A58778C99}" type="slidenum">
              <a:rPr lang="en-AU" altLang="en-US" sz="1400"/>
              <a:pPr/>
              <a:t>105</a:t>
            </a:fld>
            <a:endParaRPr lang="en-AU" altLang="en-US" sz="1400"/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4D864032-63D6-4664-9A15-9F023BD19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Loop Unrolling Example</a:t>
            </a:r>
            <a:endParaRPr lang="en-AU" altLang="en-US"/>
          </a:p>
        </p:txBody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9F5557B-4236-445A-8798-D49EACBD0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889500"/>
            <a:ext cx="8270875" cy="1347788"/>
          </a:xfrm>
        </p:spPr>
        <p:txBody>
          <a:bodyPr/>
          <a:lstStyle/>
          <a:p>
            <a:pPr eaLnBrk="1" hangingPunct="1"/>
            <a:r>
              <a:rPr lang="en-US" altLang="en-US" sz="2800"/>
              <a:t>IPC = 14/8 = 1.75</a:t>
            </a:r>
          </a:p>
          <a:p>
            <a:pPr lvl="1" eaLnBrk="1" hangingPunct="1"/>
            <a:r>
              <a:rPr lang="en-US" altLang="en-US" sz="2400"/>
              <a:t>Closer to 2, but at cost of registers and code size</a:t>
            </a:r>
            <a:endParaRPr lang="en-AU" altLang="en-US" sz="2400"/>
          </a:p>
        </p:txBody>
      </p:sp>
      <p:graphicFrame>
        <p:nvGraphicFramePr>
          <p:cNvPr id="503867" name="Group 59">
            <a:extLst>
              <a:ext uri="{FF2B5EF4-FFF2-40B4-BE49-F238E27FC236}">
                <a16:creationId xmlns:a16="http://schemas.microsoft.com/office/drawing/2014/main" id="{DEF09A98-9684-4FFA-891F-E04015788B7F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1557338"/>
          <a:ext cx="7272338" cy="3017835"/>
        </p:xfrm>
        <a:graphic>
          <a:graphicData uri="http://schemas.openxmlformats.org/drawingml/2006/table">
            <a:tbl>
              <a:tblPr/>
              <a:tblGrid>
                <a:gridCol w="81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ALU/branch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Load/store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cycle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Loop: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addi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itchFamily="49" charset="0"/>
                        </a:rPr>
                        <a:t>$s1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$s1,–16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0($s1)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1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itchFamily="49" charset="0"/>
                        </a:rPr>
                        <a:t>nop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12($s1)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2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addu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$t2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8($s1)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3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addu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lw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$t3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4($s1)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4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addu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$t2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$t2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$t0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16($s1)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5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addu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$t3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Lucida Console" pitchFamily="49" charset="0"/>
                        </a:rPr>
                        <a:t>$t4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12($s1)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6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Lucida Console" pitchFamily="49" charset="0"/>
                        </a:rPr>
                        <a:t>nop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rgbClr val="C0C0C0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$t2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8($s1)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7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bne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A47B38"/>
                          </a:solidFill>
                          <a:effectLst/>
                          <a:latin typeface="Lucida Console" pitchFamily="49" charset="0"/>
                        </a:rPr>
                        <a:t>$s1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$zero, Loop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sw   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Lucida Console" pitchFamily="49" charset="0"/>
                        </a:rPr>
                        <a:t>$t3</a:t>
                      </a: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4($s1)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8</a:t>
                      </a:r>
                      <a:endParaRPr kumimoji="0" lang="en-A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Footer Placeholder 3">
            <a:extLst>
              <a:ext uri="{FF2B5EF4-FFF2-40B4-BE49-F238E27FC236}">
                <a16:creationId xmlns:a16="http://schemas.microsoft.com/office/drawing/2014/main" id="{A08AD4B6-7466-4CE9-BD1F-C07A980C85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ED9DFC0C-2A4C-43D5-A352-C63BD8A2F440}" type="slidenum">
              <a:rPr lang="en-AU" altLang="en-US" sz="1400"/>
              <a:pPr/>
              <a:t>106</a:t>
            </a:fld>
            <a:endParaRPr lang="en-AU" altLang="en-US" sz="14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B6D8D4F3-B4ED-4853-9B3B-EBFDF9D5C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Dynamic Multiple Issue</a:t>
            </a:r>
            <a:endParaRPr lang="en-AU" altLang="en-US"/>
          </a:p>
        </p:txBody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FF792F13-D76F-4715-8E0F-92DADDBEE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“Superscalar” processors</a:t>
            </a:r>
          </a:p>
          <a:p>
            <a:pPr eaLnBrk="1" hangingPunct="1"/>
            <a:r>
              <a:rPr lang="en-US" altLang="en-US"/>
              <a:t>CPU decides whether to issue 0, 1, 2, … each cycle</a:t>
            </a:r>
          </a:p>
          <a:p>
            <a:pPr lvl="1" eaLnBrk="1" hangingPunct="1"/>
            <a:r>
              <a:rPr lang="en-US" altLang="en-US"/>
              <a:t>Avoiding structural and data hazards</a:t>
            </a:r>
          </a:p>
          <a:p>
            <a:pPr eaLnBrk="1" hangingPunct="1"/>
            <a:r>
              <a:rPr lang="en-US" altLang="en-US"/>
              <a:t>Avoids the need for compiler scheduling</a:t>
            </a:r>
          </a:p>
          <a:p>
            <a:pPr lvl="1" eaLnBrk="1" hangingPunct="1"/>
            <a:r>
              <a:rPr lang="en-US" altLang="en-US"/>
              <a:t>Though it may still help</a:t>
            </a:r>
          </a:p>
          <a:p>
            <a:pPr lvl="1" eaLnBrk="1" hangingPunct="1"/>
            <a:r>
              <a:rPr lang="en-US" altLang="en-US"/>
              <a:t>Code semantics ensured by the CPU</a:t>
            </a:r>
            <a:endParaRPr lang="en-AU" alt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Footer Placeholder 3">
            <a:extLst>
              <a:ext uri="{FF2B5EF4-FFF2-40B4-BE49-F238E27FC236}">
                <a16:creationId xmlns:a16="http://schemas.microsoft.com/office/drawing/2014/main" id="{41DE0FFC-BF46-4D19-8458-562D118EA0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F83EC471-0568-4F5B-AECD-9E18EDB47CD0}" type="slidenum">
              <a:rPr lang="en-AU" altLang="en-US" sz="1400"/>
              <a:pPr/>
              <a:t>107</a:t>
            </a:fld>
            <a:endParaRPr lang="en-AU" altLang="en-US" sz="14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2CED1DFB-8697-467F-A0C9-A70E8FEE0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Dynamic Pipeline Scheduling</a:t>
            </a:r>
            <a:endParaRPr lang="en-AU" altLang="en-US"/>
          </a:p>
        </p:txBody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C6FAC4DC-BBD7-46BF-AFAC-7F703D007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Allow the CPU to execute instructions out of order to avoid stalls</a:t>
            </a:r>
          </a:p>
          <a:p>
            <a:pPr lvl="1" eaLnBrk="1" hangingPunct="1"/>
            <a:r>
              <a:rPr lang="en-US" altLang="en-US"/>
              <a:t>But commit result to registers in order</a:t>
            </a:r>
          </a:p>
          <a:p>
            <a:pPr eaLnBrk="1" hangingPunct="1"/>
            <a:r>
              <a:rPr lang="en-US" altLang="en-US"/>
              <a:t>Example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fr-FR" altLang="en-US">
                <a:latin typeface="Lucida Console" panose="020B0609040504020204" pitchFamily="49" charset="0"/>
              </a:rPr>
              <a:t>lw    </a:t>
            </a:r>
            <a:r>
              <a:rPr lang="fr-FR" altLang="en-US">
                <a:solidFill>
                  <a:schemeClr val="hlink"/>
                </a:solidFill>
                <a:latin typeface="Lucida Console" panose="020B0609040504020204" pitchFamily="49" charset="0"/>
              </a:rPr>
              <a:t>$t0</a:t>
            </a:r>
            <a:r>
              <a:rPr lang="fr-FR" altLang="en-US">
                <a:latin typeface="Lucida Console" panose="020B0609040504020204" pitchFamily="49" charset="0"/>
              </a:rPr>
              <a:t>, 20($s2)</a:t>
            </a:r>
            <a:br>
              <a:rPr lang="fr-FR" altLang="en-US">
                <a:latin typeface="Lucida Console" panose="020B0609040504020204" pitchFamily="49" charset="0"/>
              </a:rPr>
            </a:br>
            <a:r>
              <a:rPr lang="fr-FR" altLang="en-US">
                <a:latin typeface="Lucida Console" panose="020B0609040504020204" pitchFamily="49" charset="0"/>
              </a:rPr>
              <a:t>addu  $t1, </a:t>
            </a:r>
            <a:r>
              <a:rPr lang="fr-FR" altLang="en-US">
                <a:solidFill>
                  <a:schemeClr val="hlink"/>
                </a:solidFill>
                <a:latin typeface="Lucida Console" panose="020B0609040504020204" pitchFamily="49" charset="0"/>
              </a:rPr>
              <a:t>$t0</a:t>
            </a:r>
            <a:r>
              <a:rPr lang="fr-FR" altLang="en-US">
                <a:latin typeface="Lucida Console" panose="020B0609040504020204" pitchFamily="49" charset="0"/>
              </a:rPr>
              <a:t>, $t2</a:t>
            </a:r>
            <a:br>
              <a:rPr lang="fr-FR" altLang="en-US">
                <a:latin typeface="Lucida Console" panose="020B0609040504020204" pitchFamily="49" charset="0"/>
              </a:rPr>
            </a:br>
            <a:r>
              <a:rPr lang="fr-FR" altLang="en-US">
                <a:latin typeface="Lucida Console" panose="020B0609040504020204" pitchFamily="49" charset="0"/>
              </a:rPr>
              <a:t>sub   $s4, $s4, $t3</a:t>
            </a:r>
            <a:br>
              <a:rPr lang="fr-FR" altLang="en-US">
                <a:latin typeface="Lucida Console" panose="020B0609040504020204" pitchFamily="49" charset="0"/>
              </a:rPr>
            </a:br>
            <a:r>
              <a:rPr lang="fr-FR" altLang="en-US">
                <a:latin typeface="Lucida Console" panose="020B0609040504020204" pitchFamily="49" charset="0"/>
              </a:rPr>
              <a:t>slti  $t5, $s4, 20</a:t>
            </a:r>
          </a:p>
          <a:p>
            <a:pPr lvl="1" eaLnBrk="1" hangingPunct="1"/>
            <a:r>
              <a:rPr lang="en-US" altLang="en-US"/>
              <a:t>Can start </a:t>
            </a:r>
            <a:r>
              <a:rPr lang="en-US" altLang="en-US">
                <a:latin typeface="Lucida Console" panose="020B0609040504020204" pitchFamily="49" charset="0"/>
              </a:rPr>
              <a:t>sub</a:t>
            </a:r>
            <a:r>
              <a:rPr lang="en-US" altLang="en-US"/>
              <a:t> while </a:t>
            </a:r>
            <a:r>
              <a:rPr lang="en-US" altLang="en-US">
                <a:latin typeface="Lucida Console" panose="020B0609040504020204" pitchFamily="49" charset="0"/>
              </a:rPr>
              <a:t>addu</a:t>
            </a:r>
            <a:r>
              <a:rPr lang="en-US" altLang="en-US"/>
              <a:t> is waiting for lw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Footer Placeholder 2">
            <a:extLst>
              <a:ext uri="{FF2B5EF4-FFF2-40B4-BE49-F238E27FC236}">
                <a16:creationId xmlns:a16="http://schemas.microsoft.com/office/drawing/2014/main" id="{4E219F87-1B91-4C02-9796-5A0AC1972F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9DD293F0-7C9C-45BF-BFC1-CD6880B220B5}" type="slidenum">
              <a:rPr lang="en-AU" altLang="en-US" sz="1400"/>
              <a:pPr/>
              <a:t>108</a:t>
            </a:fld>
            <a:endParaRPr lang="en-AU" altLang="en-US" sz="1400"/>
          </a:p>
        </p:txBody>
      </p:sp>
      <p:sp>
        <p:nvSpPr>
          <p:cNvPr id="125955" name="Freeform 9">
            <a:extLst>
              <a:ext uri="{FF2B5EF4-FFF2-40B4-BE49-F238E27FC236}">
                <a16:creationId xmlns:a16="http://schemas.microsoft.com/office/drawing/2014/main" id="{D2A2465A-47D7-484D-8D7B-3DABB5572259}"/>
              </a:ext>
            </a:extLst>
          </p:cNvPr>
          <p:cNvSpPr>
            <a:spLocks/>
          </p:cNvSpPr>
          <p:nvPr/>
        </p:nvSpPr>
        <p:spPr bwMode="auto">
          <a:xfrm>
            <a:off x="5295900" y="3194050"/>
            <a:ext cx="1065213" cy="1362075"/>
          </a:xfrm>
          <a:custGeom>
            <a:avLst/>
            <a:gdLst>
              <a:gd name="T0" fmla="*/ 0 w 671"/>
              <a:gd name="T1" fmla="*/ 2147483647 h 858"/>
              <a:gd name="T2" fmla="*/ 2147483647 w 671"/>
              <a:gd name="T3" fmla="*/ 2147483647 h 858"/>
              <a:gd name="T4" fmla="*/ 2147483647 w 671"/>
              <a:gd name="T5" fmla="*/ 2147483647 h 858"/>
              <a:gd name="T6" fmla="*/ 2147483647 w 671"/>
              <a:gd name="T7" fmla="*/ 0 h 858"/>
              <a:gd name="T8" fmla="*/ 0 60000 65536"/>
              <a:gd name="T9" fmla="*/ 0 60000 65536"/>
              <a:gd name="T10" fmla="*/ 0 60000 65536"/>
              <a:gd name="T11" fmla="*/ 0 60000 65536"/>
              <a:gd name="T12" fmla="*/ 0 w 671"/>
              <a:gd name="T13" fmla="*/ 0 h 858"/>
              <a:gd name="T14" fmla="*/ 671 w 671"/>
              <a:gd name="T15" fmla="*/ 858 h 8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1" h="858">
                <a:moveTo>
                  <a:pt x="0" y="858"/>
                </a:moveTo>
                <a:cubicBezTo>
                  <a:pt x="95" y="838"/>
                  <a:pt x="469" y="850"/>
                  <a:pt x="570" y="738"/>
                </a:cubicBezTo>
                <a:cubicBezTo>
                  <a:pt x="671" y="626"/>
                  <a:pt x="652" y="309"/>
                  <a:pt x="606" y="186"/>
                </a:cubicBezTo>
                <a:cubicBezTo>
                  <a:pt x="560" y="63"/>
                  <a:pt x="359" y="39"/>
                  <a:pt x="294" y="0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6" name="Freeform 13">
            <a:extLst>
              <a:ext uri="{FF2B5EF4-FFF2-40B4-BE49-F238E27FC236}">
                <a16:creationId xmlns:a16="http://schemas.microsoft.com/office/drawing/2014/main" id="{F867D879-E3A3-4E46-8B27-C6BAA4287F09}"/>
              </a:ext>
            </a:extLst>
          </p:cNvPr>
          <p:cNvSpPr>
            <a:spLocks/>
          </p:cNvSpPr>
          <p:nvPr/>
        </p:nvSpPr>
        <p:spPr bwMode="auto">
          <a:xfrm>
            <a:off x="4257675" y="3041650"/>
            <a:ext cx="2459038" cy="2152650"/>
          </a:xfrm>
          <a:custGeom>
            <a:avLst/>
            <a:gdLst>
              <a:gd name="T0" fmla="*/ 0 w 1549"/>
              <a:gd name="T1" fmla="*/ 2147483647 h 1356"/>
              <a:gd name="T2" fmla="*/ 2147483647 w 1549"/>
              <a:gd name="T3" fmla="*/ 2147483647 h 1356"/>
              <a:gd name="T4" fmla="*/ 2147483647 w 1549"/>
              <a:gd name="T5" fmla="*/ 2147483647 h 1356"/>
              <a:gd name="T6" fmla="*/ 2147483647 w 1549"/>
              <a:gd name="T7" fmla="*/ 0 h 1356"/>
              <a:gd name="T8" fmla="*/ 0 60000 65536"/>
              <a:gd name="T9" fmla="*/ 0 60000 65536"/>
              <a:gd name="T10" fmla="*/ 0 60000 65536"/>
              <a:gd name="T11" fmla="*/ 0 60000 65536"/>
              <a:gd name="T12" fmla="*/ 0 w 1549"/>
              <a:gd name="T13" fmla="*/ 0 h 1356"/>
              <a:gd name="T14" fmla="*/ 1549 w 1549"/>
              <a:gd name="T15" fmla="*/ 1356 h 13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9" h="1356">
                <a:moveTo>
                  <a:pt x="0" y="1356"/>
                </a:moveTo>
                <a:cubicBezTo>
                  <a:pt x="219" y="1298"/>
                  <a:pt x="1079" y="1198"/>
                  <a:pt x="1314" y="1008"/>
                </a:cubicBezTo>
                <a:cubicBezTo>
                  <a:pt x="1549" y="818"/>
                  <a:pt x="1466" y="384"/>
                  <a:pt x="1410" y="216"/>
                </a:cubicBezTo>
                <a:cubicBezTo>
                  <a:pt x="1354" y="48"/>
                  <a:pt x="1068" y="45"/>
                  <a:pt x="978" y="0"/>
                </a:cubicBezTo>
              </a:path>
            </a:pathLst>
          </a:custGeom>
          <a:noFill/>
          <a:ln w="28575" cmpd="sng">
            <a:solidFill>
              <a:schemeClr val="hlink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7" name="Rectangle 14">
            <a:extLst>
              <a:ext uri="{FF2B5EF4-FFF2-40B4-BE49-F238E27FC236}">
                <a16:creationId xmlns:a16="http://schemas.microsoft.com/office/drawing/2014/main" id="{B7B598B0-B32E-415C-ACD8-897B24AE5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3717925"/>
            <a:ext cx="1512887" cy="287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5958" name="Rectangle 2">
            <a:extLst>
              <a:ext uri="{FF2B5EF4-FFF2-40B4-BE49-F238E27FC236}">
                <a16:creationId xmlns:a16="http://schemas.microsoft.com/office/drawing/2014/main" id="{80D25479-E013-4561-8196-18E62828E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Dynamically Scheduled CPU</a:t>
            </a:r>
            <a:endParaRPr lang="en-AU" altLang="en-US"/>
          </a:p>
        </p:txBody>
      </p:sp>
      <p:pic>
        <p:nvPicPr>
          <p:cNvPr id="125959" name="Picture 4" descr="f04-72-P374493">
            <a:extLst>
              <a:ext uri="{FF2B5EF4-FFF2-40B4-BE49-F238E27FC236}">
                <a16:creationId xmlns:a16="http://schemas.microsoft.com/office/drawing/2014/main" id="{9D323A09-80D7-4FFA-97DD-9BB158EC9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412875"/>
            <a:ext cx="6550025" cy="426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60" name="AutoShape 11">
            <a:extLst>
              <a:ext uri="{FF2B5EF4-FFF2-40B4-BE49-F238E27FC236}">
                <a16:creationId xmlns:a16="http://schemas.microsoft.com/office/drawing/2014/main" id="{4BE8E1B7-4365-44B8-B369-0EE94F562B5F}"/>
              </a:ext>
            </a:extLst>
          </p:cNvPr>
          <p:cNvSpPr>
            <a:spLocks/>
          </p:cNvSpPr>
          <p:nvPr/>
        </p:nvSpPr>
        <p:spPr bwMode="auto">
          <a:xfrm>
            <a:off x="7235825" y="4292600"/>
            <a:ext cx="1727200" cy="936625"/>
          </a:xfrm>
          <a:prstGeom prst="borderCallout1">
            <a:avLst>
              <a:gd name="adj1" fmla="val 12204"/>
              <a:gd name="adj2" fmla="val -4412"/>
              <a:gd name="adj3" fmla="val 6273"/>
              <a:gd name="adj4" fmla="val -5514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Results also sent to any waiting reservation stations</a:t>
            </a:r>
          </a:p>
        </p:txBody>
      </p:sp>
      <p:sp>
        <p:nvSpPr>
          <p:cNvPr id="125961" name="AutoShape 12">
            <a:extLst>
              <a:ext uri="{FF2B5EF4-FFF2-40B4-BE49-F238E27FC236}">
                <a16:creationId xmlns:a16="http://schemas.microsoft.com/office/drawing/2014/main" id="{A46A9B81-5FA6-4824-85DD-B15BE971DC00}"/>
              </a:ext>
            </a:extLst>
          </p:cNvPr>
          <p:cNvSpPr>
            <a:spLocks/>
          </p:cNvSpPr>
          <p:nvPr/>
        </p:nvSpPr>
        <p:spPr bwMode="auto">
          <a:xfrm>
            <a:off x="323850" y="5229225"/>
            <a:ext cx="1692275" cy="649288"/>
          </a:xfrm>
          <a:prstGeom prst="borderCallout1">
            <a:avLst>
              <a:gd name="adj1" fmla="val 17602"/>
              <a:gd name="adj2" fmla="val 104505"/>
              <a:gd name="adj3" fmla="val 12958"/>
              <a:gd name="adj4" fmla="val 13189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Reorders buffer for register writes</a:t>
            </a:r>
          </a:p>
        </p:txBody>
      </p:sp>
      <p:sp>
        <p:nvSpPr>
          <p:cNvPr id="125962" name="AutoShape 15">
            <a:extLst>
              <a:ext uri="{FF2B5EF4-FFF2-40B4-BE49-F238E27FC236}">
                <a16:creationId xmlns:a16="http://schemas.microsoft.com/office/drawing/2014/main" id="{87907BCA-E7C0-48F9-A75D-119B6A36ECB3}"/>
              </a:ext>
            </a:extLst>
          </p:cNvPr>
          <p:cNvSpPr>
            <a:spLocks/>
          </p:cNvSpPr>
          <p:nvPr/>
        </p:nvSpPr>
        <p:spPr bwMode="auto">
          <a:xfrm>
            <a:off x="5003800" y="5589588"/>
            <a:ext cx="1692275" cy="792162"/>
          </a:xfrm>
          <a:prstGeom prst="borderCallout1">
            <a:avLst>
              <a:gd name="adj1" fmla="val 14431"/>
              <a:gd name="adj2" fmla="val -4505"/>
              <a:gd name="adj3" fmla="val -45292"/>
              <a:gd name="adj4" fmla="val -3620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Can supply operands for issued instructions</a:t>
            </a:r>
          </a:p>
        </p:txBody>
      </p:sp>
      <p:sp>
        <p:nvSpPr>
          <p:cNvPr id="125963" name="AutoShape 16">
            <a:extLst>
              <a:ext uri="{FF2B5EF4-FFF2-40B4-BE49-F238E27FC236}">
                <a16:creationId xmlns:a16="http://schemas.microsoft.com/office/drawing/2014/main" id="{48899EB9-BF7D-4A24-B7F6-2E8A6737157C}"/>
              </a:ext>
            </a:extLst>
          </p:cNvPr>
          <p:cNvSpPr>
            <a:spLocks/>
          </p:cNvSpPr>
          <p:nvPr/>
        </p:nvSpPr>
        <p:spPr bwMode="auto">
          <a:xfrm>
            <a:off x="7235825" y="1268413"/>
            <a:ext cx="1404938" cy="649287"/>
          </a:xfrm>
          <a:prstGeom prst="borderCallout1">
            <a:avLst>
              <a:gd name="adj1" fmla="val 17602"/>
              <a:gd name="adj2" fmla="val -5426"/>
              <a:gd name="adj3" fmla="val 65769"/>
              <a:gd name="adj4" fmla="val -458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Preserves dependencies</a:t>
            </a:r>
          </a:p>
        </p:txBody>
      </p:sp>
      <p:sp>
        <p:nvSpPr>
          <p:cNvPr id="125964" name="AutoShape 17">
            <a:extLst>
              <a:ext uri="{FF2B5EF4-FFF2-40B4-BE49-F238E27FC236}">
                <a16:creationId xmlns:a16="http://schemas.microsoft.com/office/drawing/2014/main" id="{2A4A97ED-696D-4B6C-A2B4-313DA62E8FBA}"/>
              </a:ext>
            </a:extLst>
          </p:cNvPr>
          <p:cNvSpPr>
            <a:spLocks/>
          </p:cNvSpPr>
          <p:nvPr/>
        </p:nvSpPr>
        <p:spPr bwMode="auto">
          <a:xfrm>
            <a:off x="7235825" y="2565400"/>
            <a:ext cx="1404938" cy="649288"/>
          </a:xfrm>
          <a:prstGeom prst="borderCallout1">
            <a:avLst>
              <a:gd name="adj1" fmla="val 17602"/>
              <a:gd name="adj2" fmla="val -5426"/>
              <a:gd name="adj3" fmla="val 22736"/>
              <a:gd name="adj4" fmla="val -10067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Hold pending operands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Footer Placeholder 3">
            <a:extLst>
              <a:ext uri="{FF2B5EF4-FFF2-40B4-BE49-F238E27FC236}">
                <a16:creationId xmlns:a16="http://schemas.microsoft.com/office/drawing/2014/main" id="{94E68B6F-4FA2-440E-8AB8-0130AD46F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F1054FC8-FB87-44A3-AE5B-830A115BC311}" type="slidenum">
              <a:rPr lang="en-AU" altLang="en-US" sz="1400"/>
              <a:pPr/>
              <a:t>109</a:t>
            </a:fld>
            <a:endParaRPr lang="en-AU" altLang="en-US" sz="1400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373B878-F05F-483B-9550-9FACC23C1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Do Dynamic Scheduling?</a:t>
            </a:r>
            <a:endParaRPr lang="en-AU" altLang="en-US"/>
          </a:p>
        </p:txBody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95B2084-6906-49F5-BE17-5D226A5D1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not just let the compiler schedule code?</a:t>
            </a:r>
          </a:p>
          <a:p>
            <a:pPr eaLnBrk="1" hangingPunct="1"/>
            <a:r>
              <a:rPr lang="en-US" altLang="en-US"/>
              <a:t>Not all stalls are predicable</a:t>
            </a:r>
          </a:p>
          <a:p>
            <a:pPr lvl="1" eaLnBrk="1" hangingPunct="1"/>
            <a:r>
              <a:rPr lang="en-US" altLang="en-US"/>
              <a:t>e.g., cache misses</a:t>
            </a:r>
          </a:p>
          <a:p>
            <a:pPr eaLnBrk="1" hangingPunct="1"/>
            <a:r>
              <a:rPr lang="en-US" altLang="en-US"/>
              <a:t>Can’t always schedule around branches</a:t>
            </a:r>
          </a:p>
          <a:p>
            <a:pPr lvl="1" eaLnBrk="1" hangingPunct="1"/>
            <a:r>
              <a:rPr lang="en-US" altLang="en-US"/>
              <a:t>Branch outcome is dynamically determined</a:t>
            </a:r>
          </a:p>
          <a:p>
            <a:pPr eaLnBrk="1" hangingPunct="1"/>
            <a:r>
              <a:rPr lang="en-US" altLang="en-US"/>
              <a:t>Different implementations of an ISA have different latencies and hazards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>
            <a:extLst>
              <a:ext uri="{FF2B5EF4-FFF2-40B4-BE49-F238E27FC236}">
                <a16:creationId xmlns:a16="http://schemas.microsoft.com/office/drawing/2014/main" id="{D000B485-7A53-425D-9F51-9A0F923400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64621405-1601-4B82-A90B-F8A95D2C0E38}" type="slidenum">
              <a:rPr lang="en-AU" altLang="en-US" sz="1400"/>
              <a:pPr/>
              <a:t>110</a:t>
            </a:fld>
            <a:endParaRPr lang="en-AU" altLang="en-US" sz="1400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65392A-729D-4FEE-9D20-C0823BB4D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Does Multiple Issue Work?</a:t>
            </a:r>
            <a:endParaRPr lang="en-AU" altLang="en-US"/>
          </a:p>
        </p:txBody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8512E089-AE0E-4DCC-BAF0-CD3B48F8C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270875" cy="4392613"/>
          </a:xfrm>
        </p:spPr>
        <p:txBody>
          <a:bodyPr/>
          <a:lstStyle/>
          <a:p>
            <a:pPr eaLnBrk="1" hangingPunct="1"/>
            <a:r>
              <a:rPr lang="en-US" altLang="en-US" sz="2800"/>
              <a:t>Yes, but not as much as we’d like</a:t>
            </a:r>
          </a:p>
          <a:p>
            <a:pPr eaLnBrk="1" hangingPunct="1"/>
            <a:r>
              <a:rPr lang="en-US" altLang="en-US" sz="2800"/>
              <a:t>Programs have real dependencies that limit ILP</a:t>
            </a:r>
          </a:p>
          <a:p>
            <a:pPr eaLnBrk="1" hangingPunct="1"/>
            <a:r>
              <a:rPr lang="en-US" altLang="en-US" sz="2800"/>
              <a:t>Some dependencies are hard to eliminate</a:t>
            </a:r>
          </a:p>
          <a:p>
            <a:pPr lvl="1" eaLnBrk="1" hangingPunct="1"/>
            <a:r>
              <a:rPr lang="en-US" altLang="en-US" sz="2400"/>
              <a:t>e.g., pointer aliasing</a:t>
            </a:r>
          </a:p>
          <a:p>
            <a:pPr eaLnBrk="1" hangingPunct="1"/>
            <a:r>
              <a:rPr lang="en-US" altLang="en-US" sz="2800"/>
              <a:t>Some parallelism is hard to expose</a:t>
            </a:r>
          </a:p>
          <a:p>
            <a:pPr lvl="1" eaLnBrk="1" hangingPunct="1"/>
            <a:r>
              <a:rPr lang="en-US" altLang="en-US" sz="2400"/>
              <a:t>Limited window size during instruction issue</a:t>
            </a:r>
          </a:p>
          <a:p>
            <a:pPr eaLnBrk="1" hangingPunct="1"/>
            <a:r>
              <a:rPr lang="en-US" altLang="en-US" sz="2800"/>
              <a:t>Memory delays and limited bandwidth</a:t>
            </a:r>
          </a:p>
          <a:p>
            <a:pPr lvl="1" eaLnBrk="1" hangingPunct="1"/>
            <a:r>
              <a:rPr lang="en-US" altLang="en-US" sz="2400"/>
              <a:t>Hard to keep pipelines full</a:t>
            </a:r>
          </a:p>
          <a:p>
            <a:pPr eaLnBrk="1" hangingPunct="1"/>
            <a:r>
              <a:rPr lang="en-AU" altLang="en-US" sz="2800"/>
              <a:t>Speculation can help if done well</a:t>
            </a:r>
          </a:p>
        </p:txBody>
      </p:sp>
      <p:sp>
        <p:nvSpPr>
          <p:cNvPr id="130053" name="Text Box 4">
            <a:extLst>
              <a:ext uri="{FF2B5EF4-FFF2-40B4-BE49-F238E27FC236}">
                <a16:creationId xmlns:a16="http://schemas.microsoft.com/office/drawing/2014/main" id="{E859F24B-FFB1-4E46-88B6-2E7BD9521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3">
            <a:extLst>
              <a:ext uri="{FF2B5EF4-FFF2-40B4-BE49-F238E27FC236}">
                <a16:creationId xmlns:a16="http://schemas.microsoft.com/office/drawing/2014/main" id="{5FF4BA09-9505-42D3-8675-FD591FD15B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7349C86A-D5C8-4D0C-9B41-55C1F4CBCDD4}" type="slidenum">
              <a:rPr lang="en-AU" altLang="en-US" sz="1400"/>
              <a:pPr/>
              <a:t>111</a:t>
            </a:fld>
            <a:endParaRPr lang="en-AU" altLang="en-US" sz="1400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4A8D7FB6-76D8-40C3-95D4-4B28238DE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Power Efficiency</a:t>
            </a:r>
          </a:p>
        </p:txBody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C1994807-EE6C-49D7-8D14-577CC9E19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727200"/>
          </a:xfrm>
        </p:spPr>
        <p:txBody>
          <a:bodyPr/>
          <a:lstStyle/>
          <a:p>
            <a:pPr eaLnBrk="1" hangingPunct="1"/>
            <a:r>
              <a:rPr lang="en-AU" altLang="en-US"/>
              <a:t>Complexity of dynamic scheduling and speculations requires power</a:t>
            </a:r>
          </a:p>
          <a:p>
            <a:pPr eaLnBrk="1" hangingPunct="1"/>
            <a:r>
              <a:rPr lang="en-AU" altLang="en-US"/>
              <a:t>Multiple simpler cores may be better</a:t>
            </a:r>
          </a:p>
        </p:txBody>
      </p:sp>
      <p:graphicFrame>
        <p:nvGraphicFramePr>
          <p:cNvPr id="522391" name="Group 151">
            <a:extLst>
              <a:ext uri="{FF2B5EF4-FFF2-40B4-BE49-F238E27FC236}">
                <a16:creationId xmlns:a16="http://schemas.microsoft.com/office/drawing/2014/main" id="{4399679C-B4AB-4EB7-8EBB-04691CA95218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2924175"/>
          <a:ext cx="8208962" cy="3109919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9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Microprocessor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Clock Rate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Pipeline Stages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Issue width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Out-of-order/ Speculation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Power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i486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1989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Pentium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66MHz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3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Pentium Pro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1997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1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P4 Willamette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P4 Prescott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Core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2006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2930MHz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Yes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UltraSparc III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2003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1950MHz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7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UltraSparc T1</a:t>
                      </a: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1200MHz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70W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">
            <a:extLst>
              <a:ext uri="{FF2B5EF4-FFF2-40B4-BE49-F238E27FC236}">
                <a16:creationId xmlns:a16="http://schemas.microsoft.com/office/drawing/2014/main" id="{F8A647D7-4FE5-4BA2-9383-8B05D14C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Cortex A8 and Intel i7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1E84EB0-A3CA-49D4-A0A7-DC5D54F590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3" y="1125538"/>
          <a:ext cx="7527926" cy="497363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Processor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ARM A8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Intel Core i7 920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Market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Personal</a:t>
                      </a:r>
                      <a:r>
                        <a:rPr lang="en-US" sz="1600" baseline="0" dirty="0"/>
                        <a:t> Mobile Device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Server, cloud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Thermal design</a:t>
                      </a:r>
                      <a:r>
                        <a:rPr lang="en-US" sz="1600" baseline="0" dirty="0"/>
                        <a:t> power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Watts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130 Watts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Clock rate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 GHz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2.66 GHz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Cores/Chip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Floating point?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Multiple issue?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Peak</a:t>
                      </a:r>
                      <a:r>
                        <a:rPr lang="en-US" sz="1600" baseline="0" dirty="0"/>
                        <a:t> instructions/clock cycle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Pipeline</a:t>
                      </a:r>
                      <a:r>
                        <a:rPr lang="en-US" sz="1600" baseline="0" dirty="0"/>
                        <a:t> stages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180">
                <a:tc>
                  <a:txBody>
                    <a:bodyPr/>
                    <a:lstStyle/>
                    <a:p>
                      <a:r>
                        <a:rPr lang="en-US" sz="1600" dirty="0"/>
                        <a:t>Pipeline schedule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Static in-order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</a:t>
                      </a:r>
                      <a:r>
                        <a:rPr lang="en-US" sz="1600" baseline="0" dirty="0"/>
                        <a:t> out-of-order with speculation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Branch</a:t>
                      </a:r>
                      <a:r>
                        <a:rPr lang="en-US" sz="1600" baseline="0" dirty="0"/>
                        <a:t> prediction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2-level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2-level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r>
                        <a:rPr lang="en-US" sz="1600" baseline="30000" dirty="0"/>
                        <a:t>st</a:t>
                      </a:r>
                      <a:r>
                        <a:rPr lang="en-US" sz="1600" dirty="0"/>
                        <a:t> level caches/core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 </a:t>
                      </a:r>
                      <a:r>
                        <a:rPr lang="en-US" sz="1600" dirty="0" err="1"/>
                        <a:t>KiB</a:t>
                      </a:r>
                      <a:r>
                        <a:rPr lang="en-US" sz="1600" dirty="0"/>
                        <a:t> I, 32 </a:t>
                      </a:r>
                      <a:r>
                        <a:rPr lang="en-US" sz="1600" dirty="0" err="1"/>
                        <a:t>KiB</a:t>
                      </a:r>
                      <a:r>
                        <a:rPr lang="en-US" sz="1600" dirty="0"/>
                        <a:t> D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KiB</a:t>
                      </a:r>
                      <a:r>
                        <a:rPr lang="en-US" sz="1600" baseline="0" dirty="0"/>
                        <a:t> I, 32 </a:t>
                      </a:r>
                      <a:r>
                        <a:rPr lang="en-US" sz="1600" baseline="0" dirty="0" err="1"/>
                        <a:t>KiB</a:t>
                      </a:r>
                      <a:r>
                        <a:rPr lang="en-US" sz="1600" baseline="0" dirty="0"/>
                        <a:t> D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r>
                        <a:rPr lang="en-US" sz="1600" baseline="30000" dirty="0"/>
                        <a:t>nd</a:t>
                      </a:r>
                      <a:r>
                        <a:rPr lang="en-US" sz="1600" dirty="0"/>
                        <a:t> level caches/core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128-1024 </a:t>
                      </a:r>
                      <a:r>
                        <a:rPr lang="en-US" sz="1600" dirty="0" err="1"/>
                        <a:t>KiB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256 </a:t>
                      </a:r>
                      <a:r>
                        <a:rPr lang="en-US" sz="1600" dirty="0" err="1"/>
                        <a:t>KiB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305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r>
                        <a:rPr lang="en-US" sz="1600" baseline="30000" dirty="0"/>
                        <a:t>rd</a:t>
                      </a:r>
                      <a:r>
                        <a:rPr lang="en-US" sz="1600" dirty="0"/>
                        <a:t> level caches</a:t>
                      </a:r>
                      <a:r>
                        <a:rPr lang="en-US" sz="1600" baseline="0" dirty="0"/>
                        <a:t> (shared)</a:t>
                      </a:r>
                      <a:endParaRPr lang="en-US" sz="1600" dirty="0"/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</a:t>
                      </a:r>
                    </a:p>
                  </a:txBody>
                  <a:tcPr marL="91427" marR="91427" marT="45715" marB="4571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2- 8 MB</a:t>
                      </a:r>
                    </a:p>
                  </a:txBody>
                  <a:tcPr marL="91427" marR="91427" marT="45715" marB="4571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2161" name="Footer Placeholder 3">
            <a:extLst>
              <a:ext uri="{FF2B5EF4-FFF2-40B4-BE49-F238E27FC236}">
                <a16:creationId xmlns:a16="http://schemas.microsoft.com/office/drawing/2014/main" id="{C2A947A2-9A8C-4362-8B3D-B729CD0E88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9419737A-CF36-4FA6-B8C4-EAC9F93EBAB6}" type="slidenum">
              <a:rPr lang="en-AU" altLang="en-US" sz="1400"/>
              <a:pPr/>
              <a:t>112</a:t>
            </a:fld>
            <a:endParaRPr lang="en-AU" altLang="en-US" sz="1400"/>
          </a:p>
        </p:txBody>
      </p:sp>
      <p:sp>
        <p:nvSpPr>
          <p:cNvPr id="132162" name="Text Box 3">
            <a:extLst>
              <a:ext uri="{FF2B5EF4-FFF2-40B4-BE49-F238E27FC236}">
                <a16:creationId xmlns:a16="http://schemas.microsoft.com/office/drawing/2014/main" id="{DF95D46B-3E0B-4C55-A740-6B756663C96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5579269" y="3193256"/>
            <a:ext cx="6762750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>
                <a:solidFill>
                  <a:schemeClr val="folHlink"/>
                </a:solidFill>
              </a:rPr>
              <a:t>§4.11 Real Stuff: The ARM Cortex-A8 and Intel Core i7 Pipelines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>
            <a:extLst>
              <a:ext uri="{FF2B5EF4-FFF2-40B4-BE49-F238E27FC236}">
                <a16:creationId xmlns:a16="http://schemas.microsoft.com/office/drawing/2014/main" id="{E47DDDC1-2702-4B99-B978-3D253C34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ARM Cortex-A8 Pipeline</a:t>
            </a:r>
          </a:p>
        </p:txBody>
      </p:sp>
      <p:sp>
        <p:nvSpPr>
          <p:cNvPr id="133123" name="Footer Placeholder 3">
            <a:extLst>
              <a:ext uri="{FF2B5EF4-FFF2-40B4-BE49-F238E27FC236}">
                <a16:creationId xmlns:a16="http://schemas.microsoft.com/office/drawing/2014/main" id="{A51B211D-B7E2-4C28-A0AD-91A2F5CC09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35BBB8D0-9B47-4F11-84A6-6FB320EBBB4C}" type="slidenum">
              <a:rPr lang="en-AU" altLang="en-US" sz="1400"/>
              <a:pPr/>
              <a:t>113</a:t>
            </a:fld>
            <a:endParaRPr lang="en-AU" altLang="en-US" sz="1400"/>
          </a:p>
        </p:txBody>
      </p:sp>
      <p:pic>
        <p:nvPicPr>
          <p:cNvPr id="133124" name="Picture 5">
            <a:extLst>
              <a:ext uri="{FF2B5EF4-FFF2-40B4-BE49-F238E27FC236}">
                <a16:creationId xmlns:a16="http://schemas.microsoft.com/office/drawing/2014/main" id="{AF931422-2323-4A3E-98FB-499A3ADFF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0475"/>
            <a:ext cx="8404225" cy="360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itle 1">
            <a:extLst>
              <a:ext uri="{FF2B5EF4-FFF2-40B4-BE49-F238E27FC236}">
                <a16:creationId xmlns:a16="http://schemas.microsoft.com/office/drawing/2014/main" id="{3BF07BA7-B75F-4D4D-B2E7-D800215D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ARM Cortex-A8 Performance</a:t>
            </a:r>
          </a:p>
        </p:txBody>
      </p:sp>
      <p:sp>
        <p:nvSpPr>
          <p:cNvPr id="134147" name="Footer Placeholder 3">
            <a:extLst>
              <a:ext uri="{FF2B5EF4-FFF2-40B4-BE49-F238E27FC236}">
                <a16:creationId xmlns:a16="http://schemas.microsoft.com/office/drawing/2014/main" id="{09B82578-85AC-4D41-A8FB-E932D137BB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4CD2C55C-9A7E-4FDD-980F-D5C4334A3CDD}" type="slidenum">
              <a:rPr lang="en-AU" altLang="en-US" sz="1400"/>
              <a:pPr/>
              <a:t>114</a:t>
            </a:fld>
            <a:endParaRPr lang="en-AU" altLang="en-US" sz="1400"/>
          </a:p>
        </p:txBody>
      </p:sp>
      <p:pic>
        <p:nvPicPr>
          <p:cNvPr id="134148" name="Picture 5">
            <a:extLst>
              <a:ext uri="{FF2B5EF4-FFF2-40B4-BE49-F238E27FC236}">
                <a16:creationId xmlns:a16="http://schemas.microsoft.com/office/drawing/2014/main" id="{5087B27C-5CE9-4BE5-97A5-A867BD432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16113"/>
            <a:ext cx="8434388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">
            <a:extLst>
              <a:ext uri="{FF2B5EF4-FFF2-40B4-BE49-F238E27FC236}">
                <a16:creationId xmlns:a16="http://schemas.microsoft.com/office/drawing/2014/main" id="{19D90D5E-51DF-423B-87B7-D03265D4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Core i7 Pipeline</a:t>
            </a:r>
          </a:p>
        </p:txBody>
      </p:sp>
      <p:sp>
        <p:nvSpPr>
          <p:cNvPr id="135171" name="Footer Placeholder 3">
            <a:extLst>
              <a:ext uri="{FF2B5EF4-FFF2-40B4-BE49-F238E27FC236}">
                <a16:creationId xmlns:a16="http://schemas.microsoft.com/office/drawing/2014/main" id="{4003B6CA-1AD2-48A3-AEBF-CFE144342D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4C941928-80FC-422A-8BBD-292C4D17C7A3}" type="slidenum">
              <a:rPr lang="en-AU" altLang="en-US" sz="1400"/>
              <a:pPr/>
              <a:t>115</a:t>
            </a:fld>
            <a:endParaRPr lang="en-AU" altLang="en-US" sz="1400"/>
          </a:p>
        </p:txBody>
      </p:sp>
      <p:pic>
        <p:nvPicPr>
          <p:cNvPr id="135172" name="Picture 5">
            <a:extLst>
              <a:ext uri="{FF2B5EF4-FFF2-40B4-BE49-F238E27FC236}">
                <a16:creationId xmlns:a16="http://schemas.microsoft.com/office/drawing/2014/main" id="{081875DA-F574-46F1-A253-1C235F2C6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1125538"/>
            <a:ext cx="4919662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">
            <a:extLst>
              <a:ext uri="{FF2B5EF4-FFF2-40B4-BE49-F238E27FC236}">
                <a16:creationId xmlns:a16="http://schemas.microsoft.com/office/drawing/2014/main" id="{EE99CDD8-20C1-446F-88D0-4AA1776A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Core i7 Performance</a:t>
            </a:r>
          </a:p>
        </p:txBody>
      </p:sp>
      <p:sp>
        <p:nvSpPr>
          <p:cNvPr id="136195" name="Footer Placeholder 3">
            <a:extLst>
              <a:ext uri="{FF2B5EF4-FFF2-40B4-BE49-F238E27FC236}">
                <a16:creationId xmlns:a16="http://schemas.microsoft.com/office/drawing/2014/main" id="{340A3371-2352-42B5-BC53-0E89897CA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3704CC38-316C-4DF6-B4CC-CA708DF2E73E}" type="slidenum">
              <a:rPr lang="en-AU" altLang="en-US" sz="1400"/>
              <a:pPr/>
              <a:t>116</a:t>
            </a:fld>
            <a:endParaRPr lang="en-AU" altLang="en-US" sz="1400"/>
          </a:p>
        </p:txBody>
      </p:sp>
      <p:pic>
        <p:nvPicPr>
          <p:cNvPr id="136196" name="Picture 6">
            <a:extLst>
              <a:ext uri="{FF2B5EF4-FFF2-40B4-BE49-F238E27FC236}">
                <a16:creationId xmlns:a16="http://schemas.microsoft.com/office/drawing/2014/main" id="{7DBA943B-FBC5-40AE-AB6D-CC2F5A2E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38313"/>
            <a:ext cx="3943350" cy="363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197" name="Picture 7">
            <a:extLst>
              <a:ext uri="{FF2B5EF4-FFF2-40B4-BE49-F238E27FC236}">
                <a16:creationId xmlns:a16="http://schemas.microsoft.com/office/drawing/2014/main" id="{DAC41695-51C0-4C8B-B852-F0D820C32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916113"/>
            <a:ext cx="4422775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Footer Placeholder 3">
            <a:extLst>
              <a:ext uri="{FF2B5EF4-FFF2-40B4-BE49-F238E27FC236}">
                <a16:creationId xmlns:a16="http://schemas.microsoft.com/office/drawing/2014/main" id="{4CEF3F35-F57B-47E9-8E9F-0C62BEFBED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D66AA776-70B1-43CE-9409-3C83B852E9F9}" type="slidenum">
              <a:rPr lang="en-AU" altLang="en-US" sz="1400"/>
              <a:pPr/>
              <a:t>117</a:t>
            </a:fld>
            <a:endParaRPr lang="en-AU" altLang="en-US" sz="1400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F732B2D5-CD26-48FD-B0D8-20BB36AA4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Fallacies</a:t>
            </a:r>
            <a:endParaRPr lang="en-AU" altLang="en-US" sz="4000"/>
          </a:p>
        </p:txBody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6EA23563-A599-4C4D-8AA5-D76F4D6F6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Pipelining is easy (!)</a:t>
            </a:r>
          </a:p>
          <a:p>
            <a:pPr lvl="1" eaLnBrk="1" hangingPunct="1"/>
            <a:r>
              <a:rPr lang="en-US" altLang="en-US" sz="2400"/>
              <a:t>The basic idea is easy</a:t>
            </a:r>
          </a:p>
          <a:p>
            <a:pPr lvl="1" eaLnBrk="1" hangingPunct="1"/>
            <a:r>
              <a:rPr lang="en-US" altLang="en-US" sz="2400"/>
              <a:t>The devil is in the details</a:t>
            </a:r>
          </a:p>
          <a:p>
            <a:pPr lvl="2" eaLnBrk="1" hangingPunct="1"/>
            <a:r>
              <a:rPr lang="en-US" altLang="en-US" sz="2000"/>
              <a:t>e.g., detecting data hazards</a:t>
            </a:r>
          </a:p>
          <a:p>
            <a:pPr eaLnBrk="1" hangingPunct="1"/>
            <a:r>
              <a:rPr lang="en-US" altLang="en-US" sz="2800"/>
              <a:t>Pipelining is independent of technology</a:t>
            </a:r>
          </a:p>
          <a:p>
            <a:pPr lvl="1" eaLnBrk="1" hangingPunct="1"/>
            <a:r>
              <a:rPr lang="en-US" altLang="en-US" sz="2400"/>
              <a:t>So why haven’t we always done pipelining?</a:t>
            </a:r>
          </a:p>
          <a:p>
            <a:pPr lvl="1" eaLnBrk="1" hangingPunct="1"/>
            <a:r>
              <a:rPr lang="en-US" altLang="en-US" sz="2400"/>
              <a:t>More transistors make more advanced techniques feasible</a:t>
            </a:r>
          </a:p>
          <a:p>
            <a:pPr lvl="1" eaLnBrk="1" hangingPunct="1"/>
            <a:r>
              <a:rPr lang="en-US" altLang="en-US" sz="2400"/>
              <a:t>Pipeline-related ISA design needs to take account of technology trends</a:t>
            </a:r>
          </a:p>
          <a:p>
            <a:pPr lvl="2" eaLnBrk="1" hangingPunct="1"/>
            <a:r>
              <a:rPr lang="en-US" altLang="en-US" sz="2000"/>
              <a:t>e.g., predicated instructions</a:t>
            </a:r>
            <a:endParaRPr lang="en-AU" altLang="en-US" sz="2000"/>
          </a:p>
        </p:txBody>
      </p:sp>
      <p:sp>
        <p:nvSpPr>
          <p:cNvPr id="140293" name="Text Box 4">
            <a:extLst>
              <a:ext uri="{FF2B5EF4-FFF2-40B4-BE49-F238E27FC236}">
                <a16:creationId xmlns:a16="http://schemas.microsoft.com/office/drawing/2014/main" id="{3D3A9309-23B6-47FE-AA88-7322FE41911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509669" y="1267619"/>
            <a:ext cx="2901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>
                <a:solidFill>
                  <a:schemeClr val="folHlink"/>
                </a:solidFill>
              </a:rPr>
              <a:t>§4.14 Fallacies and Pitfalls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Footer Placeholder 3">
            <a:extLst>
              <a:ext uri="{FF2B5EF4-FFF2-40B4-BE49-F238E27FC236}">
                <a16:creationId xmlns:a16="http://schemas.microsoft.com/office/drawing/2014/main" id="{359D02DA-0FF4-47A2-82D2-C2755E424E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F843C47E-5448-4E09-A04F-2682F0DAEA81}" type="slidenum">
              <a:rPr lang="en-AU" altLang="en-US" sz="1400"/>
              <a:pPr/>
              <a:t>118</a:t>
            </a:fld>
            <a:endParaRPr lang="en-AU" altLang="en-US" sz="1400"/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0CAFA83F-8A4C-4F9C-AA13-74C2252D1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Pitfalls</a:t>
            </a:r>
            <a:endParaRPr lang="en-AU" altLang="en-US"/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3E4414F4-DF4E-425D-8D89-2AD4C33E5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Poor ISA design can make pipelining harder</a:t>
            </a:r>
          </a:p>
          <a:p>
            <a:pPr lvl="1" eaLnBrk="1" hangingPunct="1"/>
            <a:r>
              <a:rPr lang="en-US" altLang="en-US"/>
              <a:t>e.g., complex instruction sets (VAX, IA-32)</a:t>
            </a:r>
          </a:p>
          <a:p>
            <a:pPr lvl="2" eaLnBrk="1" hangingPunct="1"/>
            <a:r>
              <a:rPr lang="en-US" altLang="en-US"/>
              <a:t>Significant overhead to make pipelining work</a:t>
            </a:r>
          </a:p>
          <a:p>
            <a:pPr lvl="2" eaLnBrk="1" hangingPunct="1"/>
            <a:r>
              <a:rPr lang="en-US" altLang="en-US"/>
              <a:t>IA-32 micro-op approach</a:t>
            </a:r>
          </a:p>
          <a:p>
            <a:pPr lvl="1" eaLnBrk="1" hangingPunct="1"/>
            <a:r>
              <a:rPr lang="en-US" altLang="en-US"/>
              <a:t>e.g., complex addressing modes</a:t>
            </a:r>
          </a:p>
          <a:p>
            <a:pPr lvl="2" eaLnBrk="1" hangingPunct="1"/>
            <a:r>
              <a:rPr lang="en-US" altLang="en-US"/>
              <a:t>Register update side effects, memory indirection</a:t>
            </a:r>
          </a:p>
          <a:p>
            <a:pPr lvl="1" eaLnBrk="1" hangingPunct="1"/>
            <a:r>
              <a:rPr lang="en-US" altLang="en-US"/>
              <a:t>e.g., delayed branches</a:t>
            </a:r>
          </a:p>
          <a:p>
            <a:pPr lvl="2" eaLnBrk="1" hangingPunct="1"/>
            <a:r>
              <a:rPr lang="en-US" altLang="en-US"/>
              <a:t>Advanced pipelines have long delay slots</a:t>
            </a:r>
            <a:endParaRPr lang="en-AU" alt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Footer Placeholder 3">
            <a:extLst>
              <a:ext uri="{FF2B5EF4-FFF2-40B4-BE49-F238E27FC236}">
                <a16:creationId xmlns:a16="http://schemas.microsoft.com/office/drawing/2014/main" id="{09680C29-5CA8-4FEF-8325-E3C1625E16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400"/>
              <a:t>Chapter 4 — The Processor — </a:t>
            </a:r>
            <a:fld id="{0AEF22F6-B9F3-435A-8833-8A6E0E4B14DB}" type="slidenum">
              <a:rPr lang="en-AU" altLang="en-US" sz="1400"/>
              <a:pPr/>
              <a:t>119</a:t>
            </a:fld>
            <a:endParaRPr lang="en-AU" altLang="en-US" sz="1400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0672BB16-9355-4B8B-A6A3-EA415F906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Concluding Remarks</a:t>
            </a:r>
            <a:endParaRPr lang="en-AU" altLang="en-US"/>
          </a:p>
        </p:txBody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1B7CD219-7C2F-4025-B060-951E23D27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ISA influences design of datapath and control</a:t>
            </a:r>
          </a:p>
          <a:p>
            <a:pPr eaLnBrk="1" hangingPunct="1"/>
            <a:r>
              <a:rPr lang="en-US" altLang="en-US" sz="2800"/>
              <a:t>Datapath and control influence design of ISA</a:t>
            </a:r>
          </a:p>
          <a:p>
            <a:pPr eaLnBrk="1" hangingPunct="1"/>
            <a:r>
              <a:rPr lang="en-US" altLang="en-US" sz="2800"/>
              <a:t>Pipelining improves instruction throughput</a:t>
            </a:r>
            <a:br>
              <a:rPr lang="en-US" altLang="en-US" sz="2800"/>
            </a:br>
            <a:r>
              <a:rPr lang="en-US" altLang="en-US" sz="2800"/>
              <a:t>using parallelism</a:t>
            </a:r>
          </a:p>
          <a:p>
            <a:pPr lvl="1" eaLnBrk="1" hangingPunct="1"/>
            <a:r>
              <a:rPr lang="en-US" altLang="en-US" sz="2400"/>
              <a:t>More instructions completed per second</a:t>
            </a:r>
          </a:p>
          <a:p>
            <a:pPr lvl="1" eaLnBrk="1" hangingPunct="1"/>
            <a:r>
              <a:rPr lang="en-US" altLang="en-US" sz="2400"/>
              <a:t>Latency for each instruction not reduced</a:t>
            </a:r>
          </a:p>
          <a:p>
            <a:pPr eaLnBrk="1" hangingPunct="1"/>
            <a:r>
              <a:rPr lang="en-US" altLang="en-US" sz="2800"/>
              <a:t>Hazards: structural, data, control</a:t>
            </a:r>
          </a:p>
          <a:p>
            <a:pPr eaLnBrk="1" hangingPunct="1"/>
            <a:r>
              <a:rPr lang="en-US" altLang="en-US" sz="2800"/>
              <a:t>Multiple issue and dynamic scheduling (ILP)</a:t>
            </a:r>
          </a:p>
          <a:p>
            <a:pPr lvl="1" eaLnBrk="1" hangingPunct="1"/>
            <a:r>
              <a:rPr lang="en-US" altLang="en-US" sz="2400"/>
              <a:t>Dependencies limit achievable parallelism</a:t>
            </a:r>
          </a:p>
          <a:p>
            <a:pPr lvl="1" eaLnBrk="1" hangingPunct="1"/>
            <a:r>
              <a:rPr lang="en-US" altLang="en-US" sz="2400"/>
              <a:t>Complexity leads to the power wall</a:t>
            </a:r>
          </a:p>
        </p:txBody>
      </p:sp>
      <p:sp>
        <p:nvSpPr>
          <p:cNvPr id="142341" name="Text Box 4">
            <a:extLst>
              <a:ext uri="{FF2B5EF4-FFF2-40B4-BE49-F238E27FC236}">
                <a16:creationId xmlns:a16="http://schemas.microsoft.com/office/drawing/2014/main" id="{904D749B-D6CF-46BC-AC67-E631D27F20A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490619" y="1286669"/>
            <a:ext cx="294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>
                <a:solidFill>
                  <a:schemeClr val="folHlink"/>
                </a:solidFill>
              </a:rPr>
              <a:t>§4.14 Concluding Remarks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8051</TotalTime>
  <Words>6677</Words>
  <Application>Microsoft Office PowerPoint</Application>
  <PresentationFormat>On-screen Show (4:3)</PresentationFormat>
  <Paragraphs>1598</Paragraphs>
  <Slides>119</Slides>
  <Notes>113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5" baseType="lpstr">
      <vt:lpstr>Arial</vt:lpstr>
      <vt:lpstr>Arial Black</vt:lpstr>
      <vt:lpstr>Lucida Console</vt:lpstr>
      <vt:lpstr>Times New Roman</vt:lpstr>
      <vt:lpstr>Wingdings</vt:lpstr>
      <vt:lpstr>cod4e</vt:lpstr>
      <vt:lpstr>Chapter 4</vt:lpstr>
      <vt:lpstr>Introduction</vt:lpstr>
      <vt:lpstr>Instruction Execution</vt:lpstr>
      <vt:lpstr>CPU Overview</vt:lpstr>
      <vt:lpstr>Multiplexers</vt:lpstr>
      <vt:lpstr>Control</vt:lpstr>
      <vt:lpstr>Logic Design Basics</vt:lpstr>
      <vt:lpstr>Combinational Elements</vt:lpstr>
      <vt:lpstr>Sequential Elements</vt:lpstr>
      <vt:lpstr>Sequential Elements</vt:lpstr>
      <vt:lpstr>Clocking Methodology</vt:lpstr>
      <vt:lpstr>Building a Datapath</vt:lpstr>
      <vt:lpstr>Instruction Fetch</vt:lpstr>
      <vt:lpstr>R-Format Instructions</vt:lpstr>
      <vt:lpstr>Load/Store Instructions</vt:lpstr>
      <vt:lpstr>Branch Instructions</vt:lpstr>
      <vt:lpstr>Branch Instructions</vt:lpstr>
      <vt:lpstr>Composing the Elements</vt:lpstr>
      <vt:lpstr>R-Type/Load/Store Datapath</vt:lpstr>
      <vt:lpstr>Full Datapath</vt:lpstr>
      <vt:lpstr>ALU Control</vt:lpstr>
      <vt:lpstr>ALU Control</vt:lpstr>
      <vt:lpstr>The Main Control Unit</vt:lpstr>
      <vt:lpstr>Datapath With Control</vt:lpstr>
      <vt:lpstr>R-Type Instruction</vt:lpstr>
      <vt:lpstr>Load Instruction</vt:lpstr>
      <vt:lpstr>Branch-on-Equal Instruction</vt:lpstr>
      <vt:lpstr>Implementing Jumps</vt:lpstr>
      <vt:lpstr>Datapath With Jumps Added</vt:lpstr>
      <vt:lpstr>Performance Issues</vt:lpstr>
      <vt:lpstr>Pipelining Analogy</vt:lpstr>
      <vt:lpstr>MIPS Pipeline</vt:lpstr>
      <vt:lpstr>Pipeline Performance</vt:lpstr>
      <vt:lpstr>Pipeline Performance</vt:lpstr>
      <vt:lpstr>Pipeline Speedup</vt:lpstr>
      <vt:lpstr>Pipeline Speedup</vt:lpstr>
      <vt:lpstr>Pipelining and ISA Design</vt:lpstr>
      <vt:lpstr>Hazards</vt:lpstr>
      <vt:lpstr>Structure Hazards</vt:lpstr>
      <vt:lpstr>Data Hazards</vt:lpstr>
      <vt:lpstr>Forwarding (aka Bypassing)</vt:lpstr>
      <vt:lpstr>Load-Use Data Hazard</vt:lpstr>
      <vt:lpstr>Code Scheduling to Avoid Stalls</vt:lpstr>
      <vt:lpstr>Control Hazards</vt:lpstr>
      <vt:lpstr>Stall on Branch</vt:lpstr>
      <vt:lpstr>Branch Prediction</vt:lpstr>
      <vt:lpstr>MIPS with Predict Not Taken</vt:lpstr>
      <vt:lpstr>More-Realistic Branch Prediction</vt:lpstr>
      <vt:lpstr>Pipeline Summary</vt:lpstr>
      <vt:lpstr>MIPS Pipelined Datapath</vt:lpstr>
      <vt:lpstr>Pipeline registers</vt:lpstr>
      <vt:lpstr>Pipeline Operation</vt:lpstr>
      <vt:lpstr>IF for Load, Store, …</vt:lpstr>
      <vt:lpstr>ID for Load, Store, …</vt:lpstr>
      <vt:lpstr>EX for Load</vt:lpstr>
      <vt:lpstr>MEM for Load</vt:lpstr>
      <vt:lpstr>WB for Load</vt:lpstr>
      <vt:lpstr>Corrected Datapath for Load</vt:lpstr>
      <vt:lpstr>EX for Store</vt:lpstr>
      <vt:lpstr>MEM for Store</vt:lpstr>
      <vt:lpstr>WB for Store</vt:lpstr>
      <vt:lpstr>Multi-Cycle Pipeline Diagram</vt:lpstr>
      <vt:lpstr>Multi-Cycle Pipeline Diagram</vt:lpstr>
      <vt:lpstr>Single-Cycle Pipeline Diagram</vt:lpstr>
      <vt:lpstr>Pipelined Control (Simplified)</vt:lpstr>
      <vt:lpstr>Pipelined Control</vt:lpstr>
      <vt:lpstr>Pipelined Control</vt:lpstr>
      <vt:lpstr>Data Hazards in ALU Instructions</vt:lpstr>
      <vt:lpstr>Dependencies &amp; Forwarding</vt:lpstr>
      <vt:lpstr>Detecting the Need to Forward</vt:lpstr>
      <vt:lpstr>Dependence Detection</vt:lpstr>
      <vt:lpstr>Detecting the Need to Forward</vt:lpstr>
      <vt:lpstr>Forwarding Paths</vt:lpstr>
      <vt:lpstr>Forwarding Conditions</vt:lpstr>
      <vt:lpstr>Double Data Hazard</vt:lpstr>
      <vt:lpstr>Revised Forwarding Condition</vt:lpstr>
      <vt:lpstr>Datapath with Forwarding</vt:lpstr>
      <vt:lpstr>Load-Use Data Hazard</vt:lpstr>
      <vt:lpstr>Load-Use Hazard Detection</vt:lpstr>
      <vt:lpstr>How to Stall the Pipeline</vt:lpstr>
      <vt:lpstr>Stall/Bubble in the Pipeline</vt:lpstr>
      <vt:lpstr>Stall/Bubble in the Pipeline</vt:lpstr>
      <vt:lpstr>Datapath with Hazard Detection</vt:lpstr>
      <vt:lpstr>Stalls and Performance</vt:lpstr>
      <vt:lpstr>Branch Hazards</vt:lpstr>
      <vt:lpstr>Reducing Branch Delay</vt:lpstr>
      <vt:lpstr>Data Hazards for Branches</vt:lpstr>
      <vt:lpstr>Data Hazards for Branches</vt:lpstr>
      <vt:lpstr>Data Hazards for Branches</vt:lpstr>
      <vt:lpstr>Dynamic Branch Prediction</vt:lpstr>
      <vt:lpstr>1-Bit Predictor: Shortcoming</vt:lpstr>
      <vt:lpstr>2-Bit Predictor</vt:lpstr>
      <vt:lpstr>Calculating the Branch Target</vt:lpstr>
      <vt:lpstr>Instruction-Level Parallelism (ILP)</vt:lpstr>
      <vt:lpstr>Multiple Issue</vt:lpstr>
      <vt:lpstr>Speculation</vt:lpstr>
      <vt:lpstr>Compiler/Hardware Speculation</vt:lpstr>
      <vt:lpstr>Static Multiple Issue</vt:lpstr>
      <vt:lpstr>Scheduling Static Multiple Issue</vt:lpstr>
      <vt:lpstr>MIPS with Static Dual Issue</vt:lpstr>
      <vt:lpstr>MIPS with Static Dual Issue</vt:lpstr>
      <vt:lpstr>Hazards in the Dual-Issue MIPS</vt:lpstr>
      <vt:lpstr>Scheduling Example</vt:lpstr>
      <vt:lpstr>Loop Unrolling</vt:lpstr>
      <vt:lpstr>Loop Unrolling Example</vt:lpstr>
      <vt:lpstr>Dynamic Multiple Issue</vt:lpstr>
      <vt:lpstr>Dynamic Pipeline Scheduling</vt:lpstr>
      <vt:lpstr>Dynamically Scheduled CPU</vt:lpstr>
      <vt:lpstr>Why Do Dynamic Scheduling?</vt:lpstr>
      <vt:lpstr>Does Multiple Issue Work?</vt:lpstr>
      <vt:lpstr>Power Efficiency</vt:lpstr>
      <vt:lpstr>Cortex A8 and Intel i7</vt:lpstr>
      <vt:lpstr>ARM Cortex-A8 Pipeline</vt:lpstr>
      <vt:lpstr>ARM Cortex-A8 Performance</vt:lpstr>
      <vt:lpstr>Core i7 Pipeline</vt:lpstr>
      <vt:lpstr>Core i7 Performance</vt:lpstr>
      <vt:lpstr>Fallacies</vt:lpstr>
      <vt:lpstr>Pitfalls</vt:lpstr>
      <vt:lpstr>Concluding Remarks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subject/>
  <dc:creator/>
  <cp:keywords/>
  <dc:description/>
  <cp:lastModifiedBy>Rifat</cp:lastModifiedBy>
  <cp:revision>103</cp:revision>
  <dcterms:created xsi:type="dcterms:W3CDTF">2008-08-18T10:44:28Z</dcterms:created>
  <dcterms:modified xsi:type="dcterms:W3CDTF">2023-01-25T17:29:03Z</dcterms:modified>
  <cp:category/>
</cp:coreProperties>
</file>